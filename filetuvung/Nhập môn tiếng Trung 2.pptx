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mp3" ContentType="audio/m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64" r:id="rId3"/>
    <p:sldId id="280" r:id="rId4"/>
    <p:sldId id="281" r:id="rId5"/>
    <p:sldId id="265" r:id="rId6"/>
    <p:sldId id="257" r:id="rId7"/>
    <p:sldId id="276" r:id="rId8"/>
    <p:sldId id="277" r:id="rId9"/>
    <p:sldId id="258" r:id="rId10"/>
    <p:sldId id="278" r:id="rId11"/>
    <p:sldId id="279" r:id="rId12"/>
    <p:sldId id="259" r:id="rId13"/>
    <p:sldId id="282" r:id="rId14"/>
    <p:sldId id="283" r:id="rId15"/>
    <p:sldId id="260" r:id="rId16"/>
    <p:sldId id="284" r:id="rId17"/>
    <p:sldId id="285" r:id="rId18"/>
    <p:sldId id="261" r:id="rId19"/>
    <p:sldId id="286" r:id="rId20"/>
    <p:sldId id="287" r:id="rId21"/>
    <p:sldId id="262" r:id="rId22"/>
    <p:sldId id="288" r:id="rId23"/>
    <p:sldId id="289" r:id="rId24"/>
    <p:sldId id="263" r:id="rId25"/>
    <p:sldId id="290" r:id="rId26"/>
    <p:sldId id="266" r:id="rId27"/>
    <p:sldId id="273" r:id="rId28"/>
    <p:sldId id="297" r:id="rId29"/>
    <p:sldId id="298" r:id="rId30"/>
    <p:sldId id="267" r:id="rId31"/>
    <p:sldId id="268" r:id="rId32"/>
    <p:sldId id="269" r:id="rId33"/>
    <p:sldId id="270" r:id="rId34"/>
    <p:sldId id="271" r:id="rId35"/>
    <p:sldId id="274" r:id="rId36"/>
    <p:sldId id="275" r:id="rId37"/>
    <p:sldId id="291" r:id="rId38"/>
    <p:sldId id="292" r:id="rId39"/>
    <p:sldId id="293" r:id="rId40"/>
    <p:sldId id="294" r:id="rId41"/>
    <p:sldId id="295" r:id="rId42"/>
    <p:sldId id="296" r:id="rId43"/>
  </p:sldIdLst>
  <p:sldSz cx="18288000" cy="10287000"/>
  <p:notesSz cx="6858000" cy="9144000"/>
  <p:embeddedFontLst>
    <p:embeddedFont>
      <p:font typeface="Cabin" panose="020B0604020202020204" charset="0"/>
      <p:regular r:id="rId44"/>
    </p:embeddedFont>
    <p:embeddedFont>
      <p:font typeface="Canva Sans" panose="020B0604020202020204" charset="0"/>
      <p:regular r:id="rId45"/>
    </p:embeddedFont>
    <p:embeddedFont>
      <p:font typeface="DejaVu Serif" panose="020B0604020202020204" charset="0"/>
      <p:regular r:id="rId46"/>
    </p:embeddedFont>
    <p:embeddedFont>
      <p:font typeface="DejaVu Serif Bold" panose="020B0604020202020204" charset="0"/>
      <p:regular r:id="rId47"/>
    </p:embeddedFont>
    <p:embeddedFont>
      <p:font typeface="Noto Sans" panose="020B0502040504020204" pitchFamily="34" charset="0"/>
      <p:regular r:id="rId48"/>
      <p:bold r:id="rId49"/>
      <p:italic r:id="rId50"/>
      <p:boldItalic r:id="rId51"/>
    </p:embeddedFont>
    <p:embeddedFont>
      <p:font typeface="Noto Sans Bold" panose="020B0802040504020204" charset="0"/>
      <p:regular r:id="rId52"/>
    </p:embeddedFont>
    <p:embeddedFont>
      <p:font typeface="Paytone One" panose="020B0604020202020204" charset="-93"/>
      <p:regular r:id="rId5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22" autoAdjust="0"/>
  </p:normalViewPr>
  <p:slideViewPr>
    <p:cSldViewPr>
      <p:cViewPr varScale="1">
        <p:scale>
          <a:sx n="39" d="100"/>
          <a:sy n="39" d="100"/>
        </p:scale>
        <p:origin x="964" y="5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font" Target="fonts/font4.fntdata"/><Relationship Id="rId50" Type="http://schemas.openxmlformats.org/officeDocument/2006/relationships/font" Target="fonts/font7.fntdata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font" Target="fonts/font2.fntdata"/><Relationship Id="rId53" Type="http://schemas.openxmlformats.org/officeDocument/2006/relationships/font" Target="fonts/font10.fntdata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font" Target="fonts/font5.fntdata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font" Target="fonts/font8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3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6.fntdata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font" Target="fonts/font1.fntdata"/><Relationship Id="rId52" Type="http://schemas.openxmlformats.org/officeDocument/2006/relationships/font" Target="fonts/font9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4AA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microsoft.com/office/2007/relationships/media" Target="../media/media1.mp3"/><Relationship Id="rId1" Type="http://schemas.openxmlformats.org/officeDocument/2006/relationships/audio" Target="NULL" TargetMode="External"/><Relationship Id="rId5" Type="http://schemas.openxmlformats.org/officeDocument/2006/relationships/image" Target="../media/image4.png"/><Relationship Id="rId4" Type="http://schemas.openxmlformats.org/officeDocument/2006/relationships/image" Target="../media/image3.gi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gi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microsoft.com/office/2007/relationships/media" Target="../media/media2.mp4"/><Relationship Id="rId1" Type="http://schemas.openxmlformats.org/officeDocument/2006/relationships/video" Target="NULL" TargetMode="External"/><Relationship Id="rId6" Type="http://schemas.openxmlformats.org/officeDocument/2006/relationships/image" Target="../media/image8.pn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svg"/><Relationship Id="rId7" Type="http://schemas.openxmlformats.org/officeDocument/2006/relationships/image" Target="../media/image14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3.mp4"/><Relationship Id="rId1" Type="http://schemas.microsoft.com/office/2007/relationships/media" Target="../media/media3.mp4"/><Relationship Id="rId5" Type="http://schemas.openxmlformats.org/officeDocument/2006/relationships/image" Target="../media/image22.png"/><Relationship Id="rId4" Type="http://schemas.openxmlformats.org/officeDocument/2006/relationships/image" Target="../media/image21.jpe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3.mp4"/><Relationship Id="rId1" Type="http://schemas.microsoft.com/office/2007/relationships/media" Target="../media/media3.mp4"/><Relationship Id="rId5" Type="http://schemas.openxmlformats.org/officeDocument/2006/relationships/image" Target="../media/image22.png"/><Relationship Id="rId4" Type="http://schemas.openxmlformats.org/officeDocument/2006/relationships/image" Target="../media/image21.jpe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7" Type="http://schemas.openxmlformats.org/officeDocument/2006/relationships/image" Target="../media/image28.sv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5" Type="http://schemas.openxmlformats.org/officeDocument/2006/relationships/image" Target="../media/image26.svg"/><Relationship Id="rId4" Type="http://schemas.openxmlformats.org/officeDocument/2006/relationships/image" Target="../media/image25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3.mp4"/><Relationship Id="rId1" Type="http://schemas.microsoft.com/office/2007/relationships/media" Target="../media/media3.mp4"/><Relationship Id="rId5" Type="http://schemas.openxmlformats.org/officeDocument/2006/relationships/image" Target="../media/image29.png"/><Relationship Id="rId4" Type="http://schemas.openxmlformats.org/officeDocument/2006/relationships/image" Target="../media/image21.jpe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56512" y="266700"/>
            <a:ext cx="17802887" cy="9758231"/>
            <a:chOff x="0" y="0"/>
            <a:chExt cx="4687987" cy="257128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687987" cy="2571288"/>
            </a:xfrm>
            <a:custGeom>
              <a:avLst/>
              <a:gdLst/>
              <a:ahLst/>
              <a:cxnLst/>
              <a:rect l="l" t="t" r="r" b="b"/>
              <a:pathLst>
                <a:path w="4687987" h="2571288">
                  <a:moveTo>
                    <a:pt x="22182" y="0"/>
                  </a:moveTo>
                  <a:lnTo>
                    <a:pt x="4665805" y="0"/>
                  </a:lnTo>
                  <a:cubicBezTo>
                    <a:pt x="4671688" y="0"/>
                    <a:pt x="4677330" y="2337"/>
                    <a:pt x="4681491" y="6497"/>
                  </a:cubicBezTo>
                  <a:cubicBezTo>
                    <a:pt x="4685650" y="10657"/>
                    <a:pt x="4687987" y="16299"/>
                    <a:pt x="4687987" y="22182"/>
                  </a:cubicBezTo>
                  <a:lnTo>
                    <a:pt x="4687987" y="2549106"/>
                  </a:lnTo>
                  <a:cubicBezTo>
                    <a:pt x="4687987" y="2554989"/>
                    <a:pt x="4685650" y="2560631"/>
                    <a:pt x="4681491" y="2564791"/>
                  </a:cubicBezTo>
                  <a:cubicBezTo>
                    <a:pt x="4677330" y="2568951"/>
                    <a:pt x="4671688" y="2571288"/>
                    <a:pt x="4665805" y="2571288"/>
                  </a:cubicBezTo>
                  <a:lnTo>
                    <a:pt x="22182" y="2571288"/>
                  </a:lnTo>
                  <a:cubicBezTo>
                    <a:pt x="16299" y="2571288"/>
                    <a:pt x="10657" y="2568951"/>
                    <a:pt x="6497" y="2564791"/>
                  </a:cubicBezTo>
                  <a:cubicBezTo>
                    <a:pt x="2337" y="2560631"/>
                    <a:pt x="0" y="2554989"/>
                    <a:pt x="0" y="2549106"/>
                  </a:cubicBezTo>
                  <a:lnTo>
                    <a:pt x="0" y="22182"/>
                  </a:lnTo>
                  <a:cubicBezTo>
                    <a:pt x="0" y="16299"/>
                    <a:pt x="2337" y="10657"/>
                    <a:pt x="6497" y="6497"/>
                  </a:cubicBezTo>
                  <a:cubicBezTo>
                    <a:pt x="10657" y="2337"/>
                    <a:pt x="16299" y="0"/>
                    <a:pt x="22182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vi-V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687987" cy="26093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9607076" y="8942421"/>
            <a:ext cx="631758" cy="631758"/>
          </a:xfrm>
          <a:custGeom>
            <a:avLst/>
            <a:gdLst/>
            <a:ahLst/>
            <a:cxnLst/>
            <a:rect l="l" t="t" r="r" b="b"/>
            <a:pathLst>
              <a:path w="631758" h="631758">
                <a:moveTo>
                  <a:pt x="0" y="0"/>
                </a:moveTo>
                <a:lnTo>
                  <a:pt x="631758" y="0"/>
                </a:lnTo>
                <a:lnTo>
                  <a:pt x="631758" y="631758"/>
                </a:lnTo>
                <a:lnTo>
                  <a:pt x="0" y="6317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vi-VN"/>
          </a:p>
        </p:txBody>
      </p:sp>
      <p:sp>
        <p:nvSpPr>
          <p:cNvPr id="7" name="TextBox 7"/>
          <p:cNvSpPr txBox="1"/>
          <p:nvPr/>
        </p:nvSpPr>
        <p:spPr>
          <a:xfrm>
            <a:off x="862256" y="452893"/>
            <a:ext cx="16861439" cy="33415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801"/>
              </a:lnSpc>
            </a:pPr>
            <a:r>
              <a:rPr lang="en-US" sz="10572">
                <a:solidFill>
                  <a:srgbClr val="004AAD"/>
                </a:solidFill>
                <a:latin typeface="Paytone One"/>
                <a:ea typeface="Paytone One"/>
                <a:cs typeface="Paytone One"/>
                <a:sym typeface="Paytone One"/>
              </a:rPr>
              <a:t>Nhập môn tiếng Trung 2</a:t>
            </a:r>
          </a:p>
          <a:p>
            <a:pPr algn="ctr">
              <a:lnSpc>
                <a:spcPts val="14801"/>
              </a:lnSpc>
            </a:pPr>
            <a:endParaRPr lang="en-US" sz="10572">
              <a:solidFill>
                <a:srgbClr val="004AAD"/>
              </a:solidFill>
              <a:latin typeface="Paytone One"/>
              <a:ea typeface="Paytone One"/>
              <a:cs typeface="Paytone One"/>
              <a:sym typeface="Paytone One"/>
            </a:endParaRPr>
          </a:p>
        </p:txBody>
      </p:sp>
      <p:sp>
        <p:nvSpPr>
          <p:cNvPr id="8" name="Freeform 8"/>
          <p:cNvSpPr/>
          <p:nvPr/>
        </p:nvSpPr>
        <p:spPr>
          <a:xfrm>
            <a:off x="9607076" y="8942421"/>
            <a:ext cx="631758" cy="631758"/>
          </a:xfrm>
          <a:custGeom>
            <a:avLst/>
            <a:gdLst/>
            <a:ahLst/>
            <a:cxnLst/>
            <a:rect l="l" t="t" r="r" b="b"/>
            <a:pathLst>
              <a:path w="631758" h="631758">
                <a:moveTo>
                  <a:pt x="0" y="0"/>
                </a:moveTo>
                <a:lnTo>
                  <a:pt x="631758" y="0"/>
                </a:lnTo>
                <a:lnTo>
                  <a:pt x="631758" y="631758"/>
                </a:lnTo>
                <a:lnTo>
                  <a:pt x="0" y="6317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vi-VN"/>
          </a:p>
        </p:txBody>
      </p:sp>
      <p:grpSp>
        <p:nvGrpSpPr>
          <p:cNvPr id="9" name="Group 9"/>
          <p:cNvGrpSpPr/>
          <p:nvPr/>
        </p:nvGrpSpPr>
        <p:grpSpPr>
          <a:xfrm>
            <a:off x="558595" y="4405182"/>
            <a:ext cx="5703939" cy="1360711"/>
            <a:chOff x="0" y="0"/>
            <a:chExt cx="1502272" cy="60887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502272" cy="608872"/>
            </a:xfrm>
            <a:custGeom>
              <a:avLst/>
              <a:gdLst/>
              <a:ahLst/>
              <a:cxnLst/>
              <a:rect l="l" t="t" r="r" b="b"/>
              <a:pathLst>
                <a:path w="1502272" h="608872">
                  <a:moveTo>
                    <a:pt x="69222" y="0"/>
                  </a:moveTo>
                  <a:lnTo>
                    <a:pt x="1433050" y="0"/>
                  </a:lnTo>
                  <a:cubicBezTo>
                    <a:pt x="1471280" y="0"/>
                    <a:pt x="1502272" y="30992"/>
                    <a:pt x="1502272" y="69222"/>
                  </a:cubicBezTo>
                  <a:lnTo>
                    <a:pt x="1502272" y="539650"/>
                  </a:lnTo>
                  <a:cubicBezTo>
                    <a:pt x="1502272" y="558009"/>
                    <a:pt x="1494979" y="575615"/>
                    <a:pt x="1481997" y="588597"/>
                  </a:cubicBezTo>
                  <a:cubicBezTo>
                    <a:pt x="1469016" y="601579"/>
                    <a:pt x="1451409" y="608872"/>
                    <a:pt x="1433050" y="608872"/>
                  </a:cubicBezTo>
                  <a:lnTo>
                    <a:pt x="69222" y="608872"/>
                  </a:lnTo>
                  <a:cubicBezTo>
                    <a:pt x="30992" y="608872"/>
                    <a:pt x="0" y="577880"/>
                    <a:pt x="0" y="539650"/>
                  </a:cubicBezTo>
                  <a:lnTo>
                    <a:pt x="0" y="69222"/>
                  </a:lnTo>
                  <a:cubicBezTo>
                    <a:pt x="0" y="50863"/>
                    <a:pt x="7293" y="33256"/>
                    <a:pt x="20275" y="20275"/>
                  </a:cubicBezTo>
                  <a:cubicBezTo>
                    <a:pt x="33256" y="7293"/>
                    <a:pt x="50863" y="0"/>
                    <a:pt x="69222" y="0"/>
                  </a:cubicBezTo>
                  <a:close/>
                </a:path>
              </a:pathLst>
            </a:custGeom>
            <a:solidFill>
              <a:srgbClr val="6FB0E3"/>
            </a:solidFill>
            <a:ln w="38100" cap="rnd">
              <a:solidFill>
                <a:srgbClr val="002C5C"/>
              </a:solidFill>
              <a:prstDash val="lgDash"/>
              <a:round/>
            </a:ln>
          </p:spPr>
          <p:txBody>
            <a:bodyPr/>
            <a:lstStyle/>
            <a:p>
              <a:endParaRPr lang="vi-VN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1502272" cy="6469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813135" y="4737044"/>
            <a:ext cx="5194859" cy="7577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10"/>
              </a:lnSpc>
            </a:pPr>
            <a:r>
              <a:rPr lang="en-US" sz="4507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Thanh </a:t>
            </a:r>
            <a:r>
              <a:rPr lang="en-US" sz="4507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mẫu</a:t>
            </a:r>
            <a:r>
              <a:rPr lang="en-US" sz="4507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: j, q, x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558595" y="5996770"/>
            <a:ext cx="5703939" cy="3577409"/>
            <a:chOff x="0" y="0"/>
            <a:chExt cx="1502272" cy="608872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502272" cy="608872"/>
            </a:xfrm>
            <a:custGeom>
              <a:avLst/>
              <a:gdLst/>
              <a:ahLst/>
              <a:cxnLst/>
              <a:rect l="l" t="t" r="r" b="b"/>
              <a:pathLst>
                <a:path w="1502272" h="608872">
                  <a:moveTo>
                    <a:pt x="69222" y="0"/>
                  </a:moveTo>
                  <a:lnTo>
                    <a:pt x="1433050" y="0"/>
                  </a:lnTo>
                  <a:cubicBezTo>
                    <a:pt x="1471280" y="0"/>
                    <a:pt x="1502272" y="30992"/>
                    <a:pt x="1502272" y="69222"/>
                  </a:cubicBezTo>
                  <a:lnTo>
                    <a:pt x="1502272" y="539650"/>
                  </a:lnTo>
                  <a:cubicBezTo>
                    <a:pt x="1502272" y="558009"/>
                    <a:pt x="1494979" y="575615"/>
                    <a:pt x="1481997" y="588597"/>
                  </a:cubicBezTo>
                  <a:cubicBezTo>
                    <a:pt x="1469016" y="601579"/>
                    <a:pt x="1451409" y="608872"/>
                    <a:pt x="1433050" y="608872"/>
                  </a:cubicBezTo>
                  <a:lnTo>
                    <a:pt x="69222" y="608872"/>
                  </a:lnTo>
                  <a:cubicBezTo>
                    <a:pt x="30992" y="608872"/>
                    <a:pt x="0" y="577880"/>
                    <a:pt x="0" y="539650"/>
                  </a:cubicBezTo>
                  <a:lnTo>
                    <a:pt x="0" y="69222"/>
                  </a:lnTo>
                  <a:cubicBezTo>
                    <a:pt x="0" y="50863"/>
                    <a:pt x="7293" y="33256"/>
                    <a:pt x="20275" y="20275"/>
                  </a:cubicBezTo>
                  <a:cubicBezTo>
                    <a:pt x="33256" y="7293"/>
                    <a:pt x="50863" y="0"/>
                    <a:pt x="69222" y="0"/>
                  </a:cubicBezTo>
                  <a:close/>
                </a:path>
              </a:pathLst>
            </a:custGeom>
            <a:solidFill>
              <a:srgbClr val="6FB0E3"/>
            </a:solidFill>
            <a:ln w="38100" cap="rnd">
              <a:solidFill>
                <a:srgbClr val="002C5C"/>
              </a:solidFill>
              <a:prstDash val="lgDash"/>
              <a:round/>
            </a:ln>
          </p:spPr>
          <p:txBody>
            <a:bodyPr/>
            <a:lstStyle/>
            <a:p>
              <a:endParaRPr lang="vi-VN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1502272" cy="6469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529049" y="6090054"/>
            <a:ext cx="5733485" cy="39867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310"/>
              </a:lnSpc>
            </a:pPr>
            <a:r>
              <a:rPr lang="en-US" sz="4507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Vận</a:t>
            </a:r>
            <a:r>
              <a:rPr lang="en-US" sz="4507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4507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mẫu</a:t>
            </a:r>
            <a:r>
              <a:rPr lang="en-US" sz="4507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: </a:t>
            </a:r>
            <a:r>
              <a:rPr lang="en-US" sz="4507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nhóm</a:t>
            </a:r>
            <a:r>
              <a:rPr lang="en-US" sz="4507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4507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vận</a:t>
            </a:r>
            <a:r>
              <a:rPr lang="en-US" sz="4507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4507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mẫu</a:t>
            </a:r>
            <a:r>
              <a:rPr lang="en-US" sz="4507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4507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ghép</a:t>
            </a:r>
            <a:r>
              <a:rPr lang="en-US" sz="4507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4507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của</a:t>
            </a:r>
            <a:r>
              <a:rPr lang="en-US" sz="4507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4507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a,e,o</a:t>
            </a:r>
            <a:r>
              <a:rPr lang="en-US" sz="4507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(2); </a:t>
            </a:r>
            <a:r>
              <a:rPr lang="en-US" sz="4507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nhóm</a:t>
            </a:r>
            <a:r>
              <a:rPr lang="en-US" sz="4507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4507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vận</a:t>
            </a:r>
            <a:r>
              <a:rPr lang="en-US" sz="4507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4507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mẫu</a:t>
            </a:r>
            <a:r>
              <a:rPr lang="en-US" sz="4507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4507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ghép</a:t>
            </a:r>
            <a:r>
              <a:rPr lang="en-US" sz="4507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4507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của</a:t>
            </a:r>
            <a:r>
              <a:rPr lang="en-US" sz="4507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4507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</a:t>
            </a:r>
            <a:r>
              <a:rPr lang="en-US" sz="4507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, </a:t>
            </a:r>
            <a:r>
              <a:rPr lang="en-US" sz="4800" dirty="0">
                <a:latin typeface="Noto Sans"/>
                <a:ea typeface="Noto Sans"/>
                <a:cs typeface="Noto Sans"/>
                <a:sym typeface="Noto Sans"/>
              </a:rPr>
              <a:t>ü</a:t>
            </a:r>
          </a:p>
          <a:p>
            <a:pPr algn="ctr">
              <a:lnSpc>
                <a:spcPts val="6310"/>
              </a:lnSpc>
            </a:pPr>
            <a:endParaRPr lang="en-US" sz="4507" dirty="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grpSp>
        <p:nvGrpSpPr>
          <p:cNvPr id="17" name="Group 17"/>
          <p:cNvGrpSpPr/>
          <p:nvPr/>
        </p:nvGrpSpPr>
        <p:grpSpPr>
          <a:xfrm>
            <a:off x="11853313" y="4102548"/>
            <a:ext cx="5703939" cy="2311810"/>
            <a:chOff x="0" y="0"/>
            <a:chExt cx="1502272" cy="608872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502272" cy="608872"/>
            </a:xfrm>
            <a:custGeom>
              <a:avLst/>
              <a:gdLst/>
              <a:ahLst/>
              <a:cxnLst/>
              <a:rect l="l" t="t" r="r" b="b"/>
              <a:pathLst>
                <a:path w="1502272" h="608872">
                  <a:moveTo>
                    <a:pt x="69222" y="0"/>
                  </a:moveTo>
                  <a:lnTo>
                    <a:pt x="1433050" y="0"/>
                  </a:lnTo>
                  <a:cubicBezTo>
                    <a:pt x="1471280" y="0"/>
                    <a:pt x="1502272" y="30992"/>
                    <a:pt x="1502272" y="69222"/>
                  </a:cubicBezTo>
                  <a:lnTo>
                    <a:pt x="1502272" y="539650"/>
                  </a:lnTo>
                  <a:cubicBezTo>
                    <a:pt x="1502272" y="558009"/>
                    <a:pt x="1494979" y="575615"/>
                    <a:pt x="1481997" y="588597"/>
                  </a:cubicBezTo>
                  <a:cubicBezTo>
                    <a:pt x="1469016" y="601579"/>
                    <a:pt x="1451409" y="608872"/>
                    <a:pt x="1433050" y="608872"/>
                  </a:cubicBezTo>
                  <a:lnTo>
                    <a:pt x="69222" y="608872"/>
                  </a:lnTo>
                  <a:cubicBezTo>
                    <a:pt x="30992" y="608872"/>
                    <a:pt x="0" y="577880"/>
                    <a:pt x="0" y="539650"/>
                  </a:cubicBezTo>
                  <a:lnTo>
                    <a:pt x="0" y="69222"/>
                  </a:lnTo>
                  <a:cubicBezTo>
                    <a:pt x="0" y="50863"/>
                    <a:pt x="7293" y="33256"/>
                    <a:pt x="20275" y="20275"/>
                  </a:cubicBezTo>
                  <a:cubicBezTo>
                    <a:pt x="33256" y="7293"/>
                    <a:pt x="50863" y="0"/>
                    <a:pt x="69222" y="0"/>
                  </a:cubicBezTo>
                  <a:close/>
                </a:path>
              </a:pathLst>
            </a:custGeom>
            <a:solidFill>
              <a:srgbClr val="6FB0E3"/>
            </a:solidFill>
            <a:ln w="38100" cap="rnd">
              <a:solidFill>
                <a:srgbClr val="002C5C"/>
              </a:solidFill>
              <a:prstDash val="lgDash"/>
              <a:round/>
            </a:ln>
          </p:spPr>
          <p:txBody>
            <a:bodyPr/>
            <a:lstStyle/>
            <a:p>
              <a:endParaRPr lang="vi-VN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38100"/>
              <a:ext cx="1502272" cy="6469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12177833" y="4808550"/>
            <a:ext cx="5194859" cy="7551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10"/>
              </a:lnSpc>
            </a:pPr>
            <a:r>
              <a:rPr lang="vi-VN" sz="450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Bộ Thủ</a:t>
            </a:r>
            <a:endParaRPr lang="en-US" sz="4507" dirty="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grpSp>
        <p:nvGrpSpPr>
          <p:cNvPr id="21" name="Group 21"/>
          <p:cNvGrpSpPr/>
          <p:nvPr/>
        </p:nvGrpSpPr>
        <p:grpSpPr>
          <a:xfrm>
            <a:off x="12107853" y="7195407"/>
            <a:ext cx="5703939" cy="2311810"/>
            <a:chOff x="0" y="0"/>
            <a:chExt cx="1502272" cy="608872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502272" cy="608872"/>
            </a:xfrm>
            <a:custGeom>
              <a:avLst/>
              <a:gdLst/>
              <a:ahLst/>
              <a:cxnLst/>
              <a:rect l="l" t="t" r="r" b="b"/>
              <a:pathLst>
                <a:path w="1502272" h="608872">
                  <a:moveTo>
                    <a:pt x="69222" y="0"/>
                  </a:moveTo>
                  <a:lnTo>
                    <a:pt x="1433050" y="0"/>
                  </a:lnTo>
                  <a:cubicBezTo>
                    <a:pt x="1471280" y="0"/>
                    <a:pt x="1502272" y="30992"/>
                    <a:pt x="1502272" y="69222"/>
                  </a:cubicBezTo>
                  <a:lnTo>
                    <a:pt x="1502272" y="539650"/>
                  </a:lnTo>
                  <a:cubicBezTo>
                    <a:pt x="1502272" y="558009"/>
                    <a:pt x="1494979" y="575615"/>
                    <a:pt x="1481997" y="588597"/>
                  </a:cubicBezTo>
                  <a:cubicBezTo>
                    <a:pt x="1469016" y="601579"/>
                    <a:pt x="1451409" y="608872"/>
                    <a:pt x="1433050" y="608872"/>
                  </a:cubicBezTo>
                  <a:lnTo>
                    <a:pt x="69222" y="608872"/>
                  </a:lnTo>
                  <a:cubicBezTo>
                    <a:pt x="30992" y="608872"/>
                    <a:pt x="0" y="577880"/>
                    <a:pt x="0" y="539650"/>
                  </a:cubicBezTo>
                  <a:lnTo>
                    <a:pt x="0" y="69222"/>
                  </a:lnTo>
                  <a:cubicBezTo>
                    <a:pt x="0" y="50863"/>
                    <a:pt x="7293" y="33256"/>
                    <a:pt x="20275" y="20275"/>
                  </a:cubicBezTo>
                  <a:cubicBezTo>
                    <a:pt x="33256" y="7293"/>
                    <a:pt x="50863" y="0"/>
                    <a:pt x="69222" y="0"/>
                  </a:cubicBezTo>
                  <a:close/>
                </a:path>
              </a:pathLst>
            </a:custGeom>
            <a:solidFill>
              <a:srgbClr val="6FB0E3"/>
            </a:solidFill>
            <a:ln w="38100" cap="rnd">
              <a:solidFill>
                <a:srgbClr val="002C5C"/>
              </a:solidFill>
              <a:prstDash val="lgDash"/>
              <a:round/>
            </a:ln>
          </p:spPr>
          <p:txBody>
            <a:bodyPr/>
            <a:lstStyle/>
            <a:p>
              <a:endParaRPr lang="vi-VN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38100"/>
              <a:ext cx="1502272" cy="6469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12315028" y="7802198"/>
            <a:ext cx="5194859" cy="7551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10"/>
              </a:lnSpc>
            </a:pPr>
            <a:r>
              <a:rPr lang="en-US" sz="4507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Lục </a:t>
            </a:r>
            <a:r>
              <a:rPr lang="en-US" sz="4507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thư</a:t>
            </a:r>
            <a:endParaRPr lang="en-US" sz="4507" dirty="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25" name="Hộp Văn bản 24">
            <a:extLst>
              <a:ext uri="{FF2B5EF4-FFF2-40B4-BE49-F238E27FC236}">
                <a16:creationId xmlns:a16="http://schemas.microsoft.com/office/drawing/2014/main" id="{A4E2275F-64B8-4D75-78AB-A88A6504B5BA}"/>
              </a:ext>
            </a:extLst>
          </p:cNvPr>
          <p:cNvSpPr txBox="1"/>
          <p:nvPr/>
        </p:nvSpPr>
        <p:spPr>
          <a:xfrm>
            <a:off x="6339442" y="1935488"/>
            <a:ext cx="73914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4000" i="1" dirty="0"/>
              <a:t>Tiếng Trung </a:t>
            </a:r>
            <a:r>
              <a:rPr lang="vi-VN" sz="4000" i="1" dirty="0" err="1"/>
              <a:t>HongTai</a:t>
            </a:r>
            <a:endParaRPr lang="vi-VN" sz="4000" i="1" dirty="0"/>
          </a:p>
        </p:txBody>
      </p:sp>
      <p:sp>
        <p:nvSpPr>
          <p:cNvPr id="5" name="Freeform 5"/>
          <p:cNvSpPr/>
          <p:nvPr/>
        </p:nvSpPr>
        <p:spPr>
          <a:xfrm>
            <a:off x="5317994" y="2584997"/>
            <a:ext cx="7745285" cy="7745285"/>
          </a:xfrm>
          <a:custGeom>
            <a:avLst/>
            <a:gdLst/>
            <a:ahLst/>
            <a:cxnLst/>
            <a:rect l="l" t="t" r="r" b="b"/>
            <a:pathLst>
              <a:path w="7745285" h="7745285">
                <a:moveTo>
                  <a:pt x="0" y="0"/>
                </a:moveTo>
                <a:lnTo>
                  <a:pt x="7745285" y="0"/>
                </a:lnTo>
                <a:lnTo>
                  <a:pt x="7745285" y="7745285"/>
                </a:lnTo>
                <a:lnTo>
                  <a:pt x="0" y="77452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vi-V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56513" y="262070"/>
            <a:ext cx="17799702" cy="9762861"/>
            <a:chOff x="0" y="0"/>
            <a:chExt cx="4687987" cy="257128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687987" cy="2571288"/>
            </a:xfrm>
            <a:custGeom>
              <a:avLst/>
              <a:gdLst/>
              <a:ahLst/>
              <a:cxnLst/>
              <a:rect l="l" t="t" r="r" b="b"/>
              <a:pathLst>
                <a:path w="4687987" h="2571288">
                  <a:moveTo>
                    <a:pt x="22182" y="0"/>
                  </a:moveTo>
                  <a:lnTo>
                    <a:pt x="4665805" y="0"/>
                  </a:lnTo>
                  <a:cubicBezTo>
                    <a:pt x="4671688" y="0"/>
                    <a:pt x="4677330" y="2337"/>
                    <a:pt x="4681491" y="6497"/>
                  </a:cubicBezTo>
                  <a:cubicBezTo>
                    <a:pt x="4685650" y="10657"/>
                    <a:pt x="4687987" y="16299"/>
                    <a:pt x="4687987" y="22182"/>
                  </a:cubicBezTo>
                  <a:lnTo>
                    <a:pt x="4687987" y="2549106"/>
                  </a:lnTo>
                  <a:cubicBezTo>
                    <a:pt x="4687987" y="2554989"/>
                    <a:pt x="4685650" y="2560631"/>
                    <a:pt x="4681491" y="2564791"/>
                  </a:cubicBezTo>
                  <a:cubicBezTo>
                    <a:pt x="4677330" y="2568951"/>
                    <a:pt x="4671688" y="2571288"/>
                    <a:pt x="4665805" y="2571288"/>
                  </a:cubicBezTo>
                  <a:lnTo>
                    <a:pt x="22182" y="2571288"/>
                  </a:lnTo>
                  <a:cubicBezTo>
                    <a:pt x="16299" y="2571288"/>
                    <a:pt x="10657" y="2568951"/>
                    <a:pt x="6497" y="2564791"/>
                  </a:cubicBezTo>
                  <a:cubicBezTo>
                    <a:pt x="2337" y="2560631"/>
                    <a:pt x="0" y="2554989"/>
                    <a:pt x="0" y="2549106"/>
                  </a:cubicBezTo>
                  <a:lnTo>
                    <a:pt x="0" y="22182"/>
                  </a:lnTo>
                  <a:cubicBezTo>
                    <a:pt x="0" y="16299"/>
                    <a:pt x="2337" y="10657"/>
                    <a:pt x="6497" y="6497"/>
                  </a:cubicBezTo>
                  <a:cubicBezTo>
                    <a:pt x="10657" y="2337"/>
                    <a:pt x="16299" y="0"/>
                    <a:pt x="22182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vi-V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687987" cy="26093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2406423" y="4102846"/>
            <a:ext cx="1477191" cy="1477191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3131">
                <a:alpha val="45882"/>
              </a:srgbClr>
            </a:solidFill>
          </p:spPr>
          <p:txBody>
            <a:bodyPr/>
            <a:lstStyle/>
            <a:p>
              <a:endParaRPr lang="vi-VN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028700" y="365125"/>
            <a:ext cx="6205637" cy="1193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 b="1" dirty="0">
                <a:solidFill>
                  <a:srgbClr val="D86666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I. Thanh </a:t>
            </a:r>
            <a:r>
              <a:rPr lang="en-US" sz="6999" b="1" dirty="0" err="1">
                <a:solidFill>
                  <a:srgbClr val="D86666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mẫu</a:t>
            </a:r>
            <a:endParaRPr lang="en-US" sz="6999" b="1" dirty="0">
              <a:solidFill>
                <a:srgbClr val="D86666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028700" y="1704715"/>
            <a:ext cx="10776078" cy="8135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606"/>
              </a:lnSpc>
            </a:pPr>
            <a:r>
              <a:rPr lang="en-US" sz="4719">
                <a:solidFill>
                  <a:srgbClr val="004AAD"/>
                </a:solidFill>
                <a:latin typeface="Noto Sans"/>
                <a:ea typeface="Noto Sans"/>
                <a:cs typeface="Noto Sans"/>
                <a:sym typeface="Noto Sans"/>
              </a:rPr>
              <a:t>Nhóm 4: âm mặt lưỡi trước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966723" y="3952674"/>
            <a:ext cx="356592" cy="15665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1">
                <a:solidFill>
                  <a:srgbClr val="004AAD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j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639361" y="3952674"/>
            <a:ext cx="739378" cy="15665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1">
                <a:solidFill>
                  <a:srgbClr val="004AAD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q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750955" y="3952674"/>
            <a:ext cx="617934" cy="15665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1" dirty="0">
                <a:solidFill>
                  <a:srgbClr val="004AAD"/>
                </a:solidFill>
                <a:latin typeface="Noto Sans"/>
                <a:ea typeface="Noto Sans"/>
                <a:cs typeface="Noto Sans"/>
                <a:sym typeface="Noto Sans"/>
              </a:rPr>
              <a:t>x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1261778" y="4320961"/>
            <a:ext cx="1699617" cy="8966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>
                <a:solidFill>
                  <a:srgbClr val="004AAD"/>
                </a:solidFill>
                <a:latin typeface="DejaVu Serif"/>
                <a:ea typeface="DejaVu Serif"/>
                <a:cs typeface="DejaVu Serif"/>
                <a:sym typeface="DejaVu Serif"/>
              </a:rPr>
              <a:t>( +i )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173848" y="5961631"/>
            <a:ext cx="9060716" cy="13858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vi-VN" sz="4000" dirty="0"/>
              <a:t>Mặt lưỡi sát vòm cứng, bật ra nhẹ, dây thanh rung, </a:t>
            </a:r>
            <a:r>
              <a:rPr lang="vi-VN" sz="4000" b="1" dirty="0"/>
              <a:t>không hơi</a:t>
            </a:r>
            <a:r>
              <a:rPr lang="vi-VN" sz="4000" dirty="0"/>
              <a:t>.</a:t>
            </a:r>
            <a:endParaRPr lang="en-US" sz="3999" dirty="0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2856192" y="8239124"/>
            <a:ext cx="1411007" cy="9949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399"/>
              </a:lnSpc>
            </a:pPr>
            <a:r>
              <a:rPr lang="en-US" altLang="zh-CN" sz="5999" dirty="0" err="1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jiā</a:t>
            </a:r>
            <a:r>
              <a:rPr lang="en-US" altLang="zh-CN" sz="5999" dirty="0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 </a:t>
            </a:r>
            <a:endParaRPr lang="en-US" sz="5999" dirty="0">
              <a:solidFill>
                <a:srgbClr val="000000"/>
              </a:solidFill>
              <a:latin typeface="DejaVu Serif"/>
              <a:ea typeface="DejaVu Serif"/>
              <a:cs typeface="DejaVu Serif"/>
              <a:sym typeface="DejaVu Serif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8087578" y="8239124"/>
            <a:ext cx="934244" cy="9949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99"/>
              </a:lnSpc>
            </a:pPr>
            <a:r>
              <a:rPr lang="en-US" altLang="zh-CN" sz="5999" dirty="0" err="1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jù</a:t>
            </a:r>
            <a:r>
              <a:rPr lang="en-US" altLang="zh-CN" sz="5999" dirty="0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 </a:t>
            </a:r>
            <a:endParaRPr lang="en-US" sz="5999" dirty="0">
              <a:solidFill>
                <a:srgbClr val="000000"/>
              </a:solidFill>
              <a:latin typeface="DejaVu Serif"/>
              <a:ea typeface="DejaVu Serif"/>
              <a:cs typeface="DejaVu Serif"/>
              <a:sym typeface="DejaVu Serif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5444495" y="8239124"/>
            <a:ext cx="934244" cy="10191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99"/>
              </a:lnSpc>
            </a:pPr>
            <a:r>
              <a:rPr lang="en-US" altLang="zh-CN" sz="5999" dirty="0" err="1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jǐ</a:t>
            </a:r>
            <a:r>
              <a:rPr lang="en-US" altLang="zh-CN" sz="5999" dirty="0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 </a:t>
            </a:r>
            <a:endParaRPr lang="en-US" sz="5999" dirty="0">
              <a:solidFill>
                <a:srgbClr val="000000"/>
              </a:solidFill>
              <a:latin typeface="DejaVu Serif"/>
              <a:ea typeface="DejaVu Serif"/>
              <a:cs typeface="DejaVu Serif"/>
              <a:sym typeface="DejaVu Serif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10383696" y="8239124"/>
            <a:ext cx="1183025" cy="9949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399"/>
              </a:lnSpc>
            </a:pPr>
            <a:r>
              <a:rPr lang="en-US" altLang="zh-CN" sz="5999" dirty="0" err="1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jìn</a:t>
            </a:r>
            <a:r>
              <a:rPr lang="en-US" altLang="zh-CN" sz="5999" dirty="0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 </a:t>
            </a:r>
            <a:endParaRPr lang="en-US" sz="5999" dirty="0">
              <a:solidFill>
                <a:srgbClr val="000000"/>
              </a:solidFill>
              <a:latin typeface="DejaVu Serif"/>
              <a:ea typeface="DejaVu Serif"/>
              <a:cs typeface="DejaVu Serif"/>
              <a:sym typeface="DejaVu Serif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1645670" y="2718546"/>
            <a:ext cx="14210571" cy="1384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Tổ phụ âm mặt lưỡi “j,q,x” chỉ kết hợp được với “i,ü” và các vận mẫu có “i,ü” đứng đầu.</a:t>
            </a:r>
          </a:p>
        </p:txBody>
      </p:sp>
      <p:pic>
        <p:nvPicPr>
          <p:cNvPr id="1026" name="Picture 2" descr="j">
            <a:extLst>
              <a:ext uri="{FF2B5EF4-FFF2-40B4-BE49-F238E27FC236}">
                <a16:creationId xmlns:a16="http://schemas.microsoft.com/office/drawing/2014/main" id="{4E2C68C1-94A0-885F-CD54-5E551BE64C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06231" y="5784260"/>
            <a:ext cx="5410473" cy="40353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v14044g50000d1ptvsvog65ihab5gtl0">
            <a:hlinkClick r:id="" action="ppaction://media"/>
            <a:extLst>
              <a:ext uri="{FF2B5EF4-FFF2-40B4-BE49-F238E27FC236}">
                <a16:creationId xmlns:a16="http://schemas.microsoft.com/office/drawing/2014/main" id="{B95CE9FD-5B55-9BA3-D821-DA382BF92794}"/>
              </a:ext>
            </a:extLst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2">
                  <p14:trim st="12422" end="14643.2857"/>
                </p14:media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3362760" y="4103506"/>
            <a:ext cx="1546133" cy="154613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289" fill="hold"/>
                                        <p:tgtEl>
                                          <p:spTgt spid="2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1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E0E90E-3E29-0E43-EA0C-A91939F2F5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299E5584-CF4B-DA82-985D-F65580792987}"/>
              </a:ext>
            </a:extLst>
          </p:cNvPr>
          <p:cNvGrpSpPr/>
          <p:nvPr/>
        </p:nvGrpSpPr>
        <p:grpSpPr>
          <a:xfrm>
            <a:off x="256513" y="262070"/>
            <a:ext cx="17799702" cy="9762861"/>
            <a:chOff x="0" y="0"/>
            <a:chExt cx="4687987" cy="2571288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55393EFD-DBAB-EC7F-2910-71FA9F58F9AC}"/>
                </a:ext>
              </a:extLst>
            </p:cNvPr>
            <p:cNvSpPr/>
            <p:nvPr/>
          </p:nvSpPr>
          <p:spPr>
            <a:xfrm>
              <a:off x="0" y="0"/>
              <a:ext cx="4687987" cy="2571288"/>
            </a:xfrm>
            <a:custGeom>
              <a:avLst/>
              <a:gdLst/>
              <a:ahLst/>
              <a:cxnLst/>
              <a:rect l="l" t="t" r="r" b="b"/>
              <a:pathLst>
                <a:path w="4687987" h="2571288">
                  <a:moveTo>
                    <a:pt x="22182" y="0"/>
                  </a:moveTo>
                  <a:lnTo>
                    <a:pt x="4665805" y="0"/>
                  </a:lnTo>
                  <a:cubicBezTo>
                    <a:pt x="4671688" y="0"/>
                    <a:pt x="4677330" y="2337"/>
                    <a:pt x="4681491" y="6497"/>
                  </a:cubicBezTo>
                  <a:cubicBezTo>
                    <a:pt x="4685650" y="10657"/>
                    <a:pt x="4687987" y="16299"/>
                    <a:pt x="4687987" y="22182"/>
                  </a:cubicBezTo>
                  <a:lnTo>
                    <a:pt x="4687987" y="2549106"/>
                  </a:lnTo>
                  <a:cubicBezTo>
                    <a:pt x="4687987" y="2554989"/>
                    <a:pt x="4685650" y="2560631"/>
                    <a:pt x="4681491" y="2564791"/>
                  </a:cubicBezTo>
                  <a:cubicBezTo>
                    <a:pt x="4677330" y="2568951"/>
                    <a:pt x="4671688" y="2571288"/>
                    <a:pt x="4665805" y="2571288"/>
                  </a:cubicBezTo>
                  <a:lnTo>
                    <a:pt x="22182" y="2571288"/>
                  </a:lnTo>
                  <a:cubicBezTo>
                    <a:pt x="16299" y="2571288"/>
                    <a:pt x="10657" y="2568951"/>
                    <a:pt x="6497" y="2564791"/>
                  </a:cubicBezTo>
                  <a:cubicBezTo>
                    <a:pt x="2337" y="2560631"/>
                    <a:pt x="0" y="2554989"/>
                    <a:pt x="0" y="2549106"/>
                  </a:cubicBezTo>
                  <a:lnTo>
                    <a:pt x="0" y="22182"/>
                  </a:lnTo>
                  <a:cubicBezTo>
                    <a:pt x="0" y="16299"/>
                    <a:pt x="2337" y="10657"/>
                    <a:pt x="6497" y="6497"/>
                  </a:cubicBezTo>
                  <a:cubicBezTo>
                    <a:pt x="10657" y="2337"/>
                    <a:pt x="16299" y="0"/>
                    <a:pt x="22182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vi-VN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244855FB-6607-8167-03B0-35EAE169319A}"/>
                </a:ext>
              </a:extLst>
            </p:cNvPr>
            <p:cNvSpPr txBox="1"/>
            <p:nvPr/>
          </p:nvSpPr>
          <p:spPr>
            <a:xfrm>
              <a:off x="0" y="-38100"/>
              <a:ext cx="4687987" cy="26093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>
            <a:extLst>
              <a:ext uri="{FF2B5EF4-FFF2-40B4-BE49-F238E27FC236}">
                <a16:creationId xmlns:a16="http://schemas.microsoft.com/office/drawing/2014/main" id="{7DCF997F-DAB2-6793-EC2B-C5702B437FB6}"/>
              </a:ext>
            </a:extLst>
          </p:cNvPr>
          <p:cNvSpPr/>
          <p:nvPr/>
        </p:nvSpPr>
        <p:spPr>
          <a:xfrm>
            <a:off x="13942397" y="4387515"/>
            <a:ext cx="1290184" cy="1290184"/>
          </a:xfrm>
          <a:custGeom>
            <a:avLst/>
            <a:gdLst/>
            <a:ahLst/>
            <a:cxnLst/>
            <a:rect l="l" t="t" r="r" b="b"/>
            <a:pathLst>
              <a:path w="1290184" h="1290184">
                <a:moveTo>
                  <a:pt x="0" y="0"/>
                </a:moveTo>
                <a:lnTo>
                  <a:pt x="1290184" y="0"/>
                </a:lnTo>
                <a:lnTo>
                  <a:pt x="1290184" y="1290184"/>
                </a:lnTo>
                <a:lnTo>
                  <a:pt x="0" y="12901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vi-VN"/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570E2541-5D4E-03C7-5856-6F6B2154A9C0}"/>
              </a:ext>
            </a:extLst>
          </p:cNvPr>
          <p:cNvGrpSpPr/>
          <p:nvPr/>
        </p:nvGrpSpPr>
        <p:grpSpPr>
          <a:xfrm>
            <a:off x="5302263" y="4200508"/>
            <a:ext cx="1477191" cy="1477191"/>
            <a:chOff x="0" y="0"/>
            <a:chExt cx="812800" cy="812800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823E0B95-E9BD-DCA8-41B7-C63C36726350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3131">
                <a:alpha val="45882"/>
              </a:srgbClr>
            </a:solidFill>
          </p:spPr>
          <p:txBody>
            <a:bodyPr/>
            <a:lstStyle/>
            <a:p>
              <a:endParaRPr lang="vi-VN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5026B903-764B-FFB7-046F-811899B0BCA2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TextBox 9">
            <a:extLst>
              <a:ext uri="{FF2B5EF4-FFF2-40B4-BE49-F238E27FC236}">
                <a16:creationId xmlns:a16="http://schemas.microsoft.com/office/drawing/2014/main" id="{E998F42E-D5CF-9659-66D4-CCBC299BFC63}"/>
              </a:ext>
            </a:extLst>
          </p:cNvPr>
          <p:cNvSpPr txBox="1"/>
          <p:nvPr/>
        </p:nvSpPr>
        <p:spPr>
          <a:xfrm>
            <a:off x="1028700" y="365125"/>
            <a:ext cx="6205637" cy="1193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 b="1" dirty="0">
                <a:solidFill>
                  <a:srgbClr val="D86666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I. Thanh </a:t>
            </a:r>
            <a:r>
              <a:rPr lang="en-US" sz="6999" b="1" dirty="0" err="1">
                <a:solidFill>
                  <a:srgbClr val="D86666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mẫu</a:t>
            </a:r>
            <a:endParaRPr lang="en-US" sz="6999" b="1" dirty="0">
              <a:solidFill>
                <a:srgbClr val="D86666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F92D0131-847C-F35C-ABF1-870983373777}"/>
              </a:ext>
            </a:extLst>
          </p:cNvPr>
          <p:cNvSpPr txBox="1"/>
          <p:nvPr/>
        </p:nvSpPr>
        <p:spPr>
          <a:xfrm>
            <a:off x="1028700" y="1704715"/>
            <a:ext cx="10776078" cy="8135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606"/>
              </a:lnSpc>
            </a:pPr>
            <a:r>
              <a:rPr lang="en-US" sz="4719">
                <a:solidFill>
                  <a:srgbClr val="004AAD"/>
                </a:solidFill>
                <a:latin typeface="Noto Sans"/>
                <a:ea typeface="Noto Sans"/>
                <a:cs typeface="Noto Sans"/>
                <a:sym typeface="Noto Sans"/>
              </a:rPr>
              <a:t>Nhóm 4: âm mặt lưỡi trước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482A70F6-9491-DEAD-87DF-5DB464F95B56}"/>
              </a:ext>
            </a:extLst>
          </p:cNvPr>
          <p:cNvSpPr txBox="1"/>
          <p:nvPr/>
        </p:nvSpPr>
        <p:spPr>
          <a:xfrm>
            <a:off x="2966723" y="3952674"/>
            <a:ext cx="356592" cy="15665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1">
                <a:solidFill>
                  <a:srgbClr val="004AAD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j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3AFC8772-ADE5-0792-BB11-103210E3BB20}"/>
              </a:ext>
            </a:extLst>
          </p:cNvPr>
          <p:cNvSpPr txBox="1"/>
          <p:nvPr/>
        </p:nvSpPr>
        <p:spPr>
          <a:xfrm>
            <a:off x="5639361" y="3952674"/>
            <a:ext cx="739378" cy="15665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1">
                <a:solidFill>
                  <a:srgbClr val="004AAD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q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A17930AE-0ACB-4524-B636-82A048E31CF5}"/>
              </a:ext>
            </a:extLst>
          </p:cNvPr>
          <p:cNvSpPr txBox="1"/>
          <p:nvPr/>
        </p:nvSpPr>
        <p:spPr>
          <a:xfrm>
            <a:off x="8750955" y="3952674"/>
            <a:ext cx="617934" cy="15665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1" dirty="0">
                <a:solidFill>
                  <a:srgbClr val="004AAD"/>
                </a:solidFill>
                <a:latin typeface="Noto Sans"/>
                <a:ea typeface="Noto Sans"/>
                <a:cs typeface="Noto Sans"/>
                <a:sym typeface="Noto Sans"/>
              </a:rPr>
              <a:t>x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C0AD7AF7-900C-92BC-224E-CE831C4C4092}"/>
              </a:ext>
            </a:extLst>
          </p:cNvPr>
          <p:cNvSpPr txBox="1"/>
          <p:nvPr/>
        </p:nvSpPr>
        <p:spPr>
          <a:xfrm>
            <a:off x="11261778" y="4320961"/>
            <a:ext cx="1699617" cy="8966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>
                <a:solidFill>
                  <a:srgbClr val="004AAD"/>
                </a:solidFill>
                <a:latin typeface="DejaVu Serif"/>
                <a:ea typeface="DejaVu Serif"/>
                <a:cs typeface="DejaVu Serif"/>
                <a:sym typeface="DejaVu Serif"/>
              </a:rPr>
              <a:t>( +i )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4DB06432-22C3-45A2-7148-D9648A55D41B}"/>
              </a:ext>
            </a:extLst>
          </p:cNvPr>
          <p:cNvSpPr txBox="1"/>
          <p:nvPr/>
        </p:nvSpPr>
        <p:spPr>
          <a:xfrm>
            <a:off x="2173848" y="5961631"/>
            <a:ext cx="9179952" cy="138589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vi-VN" sz="4000" dirty="0"/>
              <a:t>Giống j nhưng bật mạnh, dây thanh không rung, </a:t>
            </a:r>
            <a:r>
              <a:rPr lang="vi-VN" sz="4000" b="1" dirty="0"/>
              <a:t>có hơi</a:t>
            </a:r>
            <a:r>
              <a:rPr lang="vi-VN" sz="4000" dirty="0"/>
              <a:t>.</a:t>
            </a:r>
            <a:endParaRPr lang="en-US" sz="3999" dirty="0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1A4851B9-5F49-5959-ACCC-137C652B2605}"/>
              </a:ext>
            </a:extLst>
          </p:cNvPr>
          <p:cNvSpPr txBox="1"/>
          <p:nvPr/>
        </p:nvSpPr>
        <p:spPr>
          <a:xfrm>
            <a:off x="2856192" y="8239124"/>
            <a:ext cx="1411007" cy="9949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399"/>
              </a:lnSpc>
            </a:pPr>
            <a:r>
              <a:rPr lang="en-US" altLang="zh-CN" sz="5999" dirty="0" err="1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qiā</a:t>
            </a:r>
            <a:r>
              <a:rPr lang="en-US" altLang="zh-CN" sz="5999" dirty="0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 </a:t>
            </a:r>
            <a:endParaRPr lang="en-US" sz="5999" dirty="0">
              <a:solidFill>
                <a:srgbClr val="000000"/>
              </a:solidFill>
              <a:latin typeface="DejaVu Serif"/>
              <a:ea typeface="DejaVu Serif"/>
              <a:cs typeface="DejaVu Serif"/>
              <a:sym typeface="DejaVu Serif"/>
            </a:endParaRP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95CF9D8A-809E-4105-4F66-ADCEFB5E92FC}"/>
              </a:ext>
            </a:extLst>
          </p:cNvPr>
          <p:cNvSpPr txBox="1"/>
          <p:nvPr/>
        </p:nvSpPr>
        <p:spPr>
          <a:xfrm>
            <a:off x="8087577" y="8239124"/>
            <a:ext cx="1281311" cy="9949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399"/>
              </a:lnSpc>
            </a:pPr>
            <a:r>
              <a:rPr lang="en-US" altLang="zh-CN" sz="5999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qù</a:t>
            </a:r>
            <a:r>
              <a:rPr lang="en-US" altLang="zh-CN" sz="5999" dirty="0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 </a:t>
            </a:r>
            <a:endParaRPr lang="en-US" sz="5999" dirty="0">
              <a:solidFill>
                <a:srgbClr val="000000"/>
              </a:solidFill>
              <a:latin typeface="DejaVu Serif"/>
              <a:ea typeface="DejaVu Serif"/>
              <a:cs typeface="DejaVu Serif"/>
              <a:sym typeface="DejaVu Serif"/>
            </a:endParaRP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496E3C38-840C-D41F-EED4-BBDBF3505B17}"/>
              </a:ext>
            </a:extLst>
          </p:cNvPr>
          <p:cNvSpPr txBox="1"/>
          <p:nvPr/>
        </p:nvSpPr>
        <p:spPr>
          <a:xfrm>
            <a:off x="5444495" y="8239124"/>
            <a:ext cx="934244" cy="10191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99"/>
              </a:lnSpc>
            </a:pPr>
            <a:r>
              <a:rPr lang="en-US" altLang="zh-CN" sz="5999" dirty="0" err="1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qǐ</a:t>
            </a:r>
            <a:r>
              <a:rPr lang="en-US" altLang="zh-CN" sz="5999" dirty="0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 </a:t>
            </a:r>
            <a:endParaRPr lang="en-US" sz="5999" dirty="0">
              <a:solidFill>
                <a:srgbClr val="000000"/>
              </a:solidFill>
              <a:latin typeface="DejaVu Serif"/>
              <a:ea typeface="DejaVu Serif"/>
              <a:cs typeface="DejaVu Serif"/>
              <a:sym typeface="DejaVu Serif"/>
            </a:endParaRP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78DF3974-F157-9A7D-0013-45294F697EA4}"/>
              </a:ext>
            </a:extLst>
          </p:cNvPr>
          <p:cNvSpPr txBox="1"/>
          <p:nvPr/>
        </p:nvSpPr>
        <p:spPr>
          <a:xfrm>
            <a:off x="10383696" y="8239124"/>
            <a:ext cx="1421082" cy="9949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399"/>
              </a:lnSpc>
            </a:pPr>
            <a:r>
              <a:rPr lang="en-US" altLang="zh-CN" sz="5999" dirty="0" err="1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qín</a:t>
            </a:r>
            <a:r>
              <a:rPr lang="en-US" altLang="zh-CN" sz="5999" dirty="0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 </a:t>
            </a:r>
            <a:endParaRPr lang="en-US" sz="5999" dirty="0">
              <a:solidFill>
                <a:srgbClr val="000000"/>
              </a:solidFill>
              <a:latin typeface="DejaVu Serif"/>
              <a:ea typeface="DejaVu Serif"/>
              <a:cs typeface="DejaVu Serif"/>
              <a:sym typeface="DejaVu Serif"/>
            </a:endParaRP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1E98ACE1-5ADF-5FC8-608B-CC3AB90BE5D9}"/>
              </a:ext>
            </a:extLst>
          </p:cNvPr>
          <p:cNvSpPr txBox="1"/>
          <p:nvPr/>
        </p:nvSpPr>
        <p:spPr>
          <a:xfrm>
            <a:off x="1645670" y="2718546"/>
            <a:ext cx="14210571" cy="1384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Tổ phụ âm mặt lưỡi “j,q,x” chỉ kết hợp được với “i,ü” và các vận mẫu có “i,ü” đứng đầu.</a:t>
            </a:r>
          </a:p>
        </p:txBody>
      </p:sp>
      <p:pic>
        <p:nvPicPr>
          <p:cNvPr id="2050" name="Picture 2" descr="q">
            <a:extLst>
              <a:ext uri="{FF2B5EF4-FFF2-40B4-BE49-F238E27FC236}">
                <a16:creationId xmlns:a16="http://schemas.microsoft.com/office/drawing/2014/main" id="{581964EA-17CA-F67B-1F49-4E78A353D0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11586" y="5871101"/>
            <a:ext cx="5490614" cy="41179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471648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56C4BC-6A1D-3DB3-3D42-4D96404811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E2700612-A09E-C394-7CA3-894C63D1942D}"/>
              </a:ext>
            </a:extLst>
          </p:cNvPr>
          <p:cNvGrpSpPr/>
          <p:nvPr/>
        </p:nvGrpSpPr>
        <p:grpSpPr>
          <a:xfrm>
            <a:off x="256513" y="262070"/>
            <a:ext cx="17799702" cy="9762861"/>
            <a:chOff x="0" y="0"/>
            <a:chExt cx="4687987" cy="2571288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3FD7FDB9-31B1-2C78-0E38-E1B7DBFDFFC9}"/>
                </a:ext>
              </a:extLst>
            </p:cNvPr>
            <p:cNvSpPr/>
            <p:nvPr/>
          </p:nvSpPr>
          <p:spPr>
            <a:xfrm>
              <a:off x="0" y="0"/>
              <a:ext cx="4687987" cy="2571288"/>
            </a:xfrm>
            <a:custGeom>
              <a:avLst/>
              <a:gdLst/>
              <a:ahLst/>
              <a:cxnLst/>
              <a:rect l="l" t="t" r="r" b="b"/>
              <a:pathLst>
                <a:path w="4687987" h="2571288">
                  <a:moveTo>
                    <a:pt x="22182" y="0"/>
                  </a:moveTo>
                  <a:lnTo>
                    <a:pt x="4665805" y="0"/>
                  </a:lnTo>
                  <a:cubicBezTo>
                    <a:pt x="4671688" y="0"/>
                    <a:pt x="4677330" y="2337"/>
                    <a:pt x="4681491" y="6497"/>
                  </a:cubicBezTo>
                  <a:cubicBezTo>
                    <a:pt x="4685650" y="10657"/>
                    <a:pt x="4687987" y="16299"/>
                    <a:pt x="4687987" y="22182"/>
                  </a:cubicBezTo>
                  <a:lnTo>
                    <a:pt x="4687987" y="2549106"/>
                  </a:lnTo>
                  <a:cubicBezTo>
                    <a:pt x="4687987" y="2554989"/>
                    <a:pt x="4685650" y="2560631"/>
                    <a:pt x="4681491" y="2564791"/>
                  </a:cubicBezTo>
                  <a:cubicBezTo>
                    <a:pt x="4677330" y="2568951"/>
                    <a:pt x="4671688" y="2571288"/>
                    <a:pt x="4665805" y="2571288"/>
                  </a:cubicBezTo>
                  <a:lnTo>
                    <a:pt x="22182" y="2571288"/>
                  </a:lnTo>
                  <a:cubicBezTo>
                    <a:pt x="16299" y="2571288"/>
                    <a:pt x="10657" y="2568951"/>
                    <a:pt x="6497" y="2564791"/>
                  </a:cubicBezTo>
                  <a:cubicBezTo>
                    <a:pt x="2337" y="2560631"/>
                    <a:pt x="0" y="2554989"/>
                    <a:pt x="0" y="2549106"/>
                  </a:cubicBezTo>
                  <a:lnTo>
                    <a:pt x="0" y="22182"/>
                  </a:lnTo>
                  <a:cubicBezTo>
                    <a:pt x="0" y="16299"/>
                    <a:pt x="2337" y="10657"/>
                    <a:pt x="6497" y="6497"/>
                  </a:cubicBezTo>
                  <a:cubicBezTo>
                    <a:pt x="10657" y="2337"/>
                    <a:pt x="16299" y="0"/>
                    <a:pt x="22182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vi-VN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7C2EC46D-F0E2-8EBD-2745-1E6F9E1B94BB}"/>
                </a:ext>
              </a:extLst>
            </p:cNvPr>
            <p:cNvSpPr txBox="1"/>
            <p:nvPr/>
          </p:nvSpPr>
          <p:spPr>
            <a:xfrm>
              <a:off x="0" y="-38100"/>
              <a:ext cx="4687987" cy="26093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>
            <a:extLst>
              <a:ext uri="{FF2B5EF4-FFF2-40B4-BE49-F238E27FC236}">
                <a16:creationId xmlns:a16="http://schemas.microsoft.com/office/drawing/2014/main" id="{AE71F8EA-89B6-9834-CB1E-9803D19E0141}"/>
              </a:ext>
            </a:extLst>
          </p:cNvPr>
          <p:cNvSpPr/>
          <p:nvPr/>
        </p:nvSpPr>
        <p:spPr>
          <a:xfrm>
            <a:off x="13942397" y="4387515"/>
            <a:ext cx="1290184" cy="1290184"/>
          </a:xfrm>
          <a:custGeom>
            <a:avLst/>
            <a:gdLst/>
            <a:ahLst/>
            <a:cxnLst/>
            <a:rect l="l" t="t" r="r" b="b"/>
            <a:pathLst>
              <a:path w="1290184" h="1290184">
                <a:moveTo>
                  <a:pt x="0" y="0"/>
                </a:moveTo>
                <a:lnTo>
                  <a:pt x="1290184" y="0"/>
                </a:lnTo>
                <a:lnTo>
                  <a:pt x="1290184" y="1290184"/>
                </a:lnTo>
                <a:lnTo>
                  <a:pt x="0" y="129018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vi-VN"/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5443A725-352A-4663-2FA0-7C51BFB6E457}"/>
              </a:ext>
            </a:extLst>
          </p:cNvPr>
          <p:cNvGrpSpPr/>
          <p:nvPr/>
        </p:nvGrpSpPr>
        <p:grpSpPr>
          <a:xfrm>
            <a:off x="8321326" y="4102846"/>
            <a:ext cx="1477191" cy="1477191"/>
            <a:chOff x="0" y="0"/>
            <a:chExt cx="812800" cy="812800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F8CDD0F7-0768-4935-5EB1-CCDD274CC946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3131">
                <a:alpha val="45882"/>
              </a:srgbClr>
            </a:solidFill>
          </p:spPr>
          <p:txBody>
            <a:bodyPr/>
            <a:lstStyle/>
            <a:p>
              <a:endParaRPr lang="vi-VN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D9870DD5-7F01-63A7-B6B7-491296C12A23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TextBox 9">
            <a:extLst>
              <a:ext uri="{FF2B5EF4-FFF2-40B4-BE49-F238E27FC236}">
                <a16:creationId xmlns:a16="http://schemas.microsoft.com/office/drawing/2014/main" id="{62326F30-61B2-BE79-3E0B-558DBF018064}"/>
              </a:ext>
            </a:extLst>
          </p:cNvPr>
          <p:cNvSpPr txBox="1"/>
          <p:nvPr/>
        </p:nvSpPr>
        <p:spPr>
          <a:xfrm>
            <a:off x="1028700" y="365125"/>
            <a:ext cx="6205637" cy="1193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 b="1" dirty="0">
                <a:solidFill>
                  <a:srgbClr val="D86666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I. Thanh </a:t>
            </a:r>
            <a:r>
              <a:rPr lang="en-US" sz="6999" b="1" dirty="0" err="1">
                <a:solidFill>
                  <a:srgbClr val="D86666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mẫu</a:t>
            </a:r>
            <a:endParaRPr lang="en-US" sz="6999" b="1" dirty="0">
              <a:solidFill>
                <a:srgbClr val="D86666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C43B4833-A70E-B389-D407-CE6FC1193EC5}"/>
              </a:ext>
            </a:extLst>
          </p:cNvPr>
          <p:cNvSpPr txBox="1"/>
          <p:nvPr/>
        </p:nvSpPr>
        <p:spPr>
          <a:xfrm>
            <a:off x="1028700" y="1704715"/>
            <a:ext cx="10776078" cy="8135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606"/>
              </a:lnSpc>
            </a:pPr>
            <a:r>
              <a:rPr lang="en-US" sz="4719">
                <a:solidFill>
                  <a:srgbClr val="004AAD"/>
                </a:solidFill>
                <a:latin typeface="Noto Sans"/>
                <a:ea typeface="Noto Sans"/>
                <a:cs typeface="Noto Sans"/>
                <a:sym typeface="Noto Sans"/>
              </a:rPr>
              <a:t>Nhóm 4: âm mặt lưỡi trước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9B43123E-9597-1D1A-57A7-E6617868BE44}"/>
              </a:ext>
            </a:extLst>
          </p:cNvPr>
          <p:cNvSpPr txBox="1"/>
          <p:nvPr/>
        </p:nvSpPr>
        <p:spPr>
          <a:xfrm>
            <a:off x="2966723" y="3952674"/>
            <a:ext cx="356592" cy="15665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1">
                <a:solidFill>
                  <a:srgbClr val="004AAD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j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252AF5B0-7B39-CCB0-1D30-C7CF1D3D3DE6}"/>
              </a:ext>
            </a:extLst>
          </p:cNvPr>
          <p:cNvSpPr txBox="1"/>
          <p:nvPr/>
        </p:nvSpPr>
        <p:spPr>
          <a:xfrm>
            <a:off x="5639361" y="3952674"/>
            <a:ext cx="739378" cy="15665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1">
                <a:solidFill>
                  <a:srgbClr val="004AAD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q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702AC470-449D-E9F6-0FDB-286EA52B827A}"/>
              </a:ext>
            </a:extLst>
          </p:cNvPr>
          <p:cNvSpPr txBox="1"/>
          <p:nvPr/>
        </p:nvSpPr>
        <p:spPr>
          <a:xfrm>
            <a:off x="8750955" y="3952674"/>
            <a:ext cx="617934" cy="15665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1" dirty="0">
                <a:solidFill>
                  <a:srgbClr val="004AAD"/>
                </a:solidFill>
                <a:latin typeface="Noto Sans"/>
                <a:ea typeface="Noto Sans"/>
                <a:cs typeface="Noto Sans"/>
                <a:sym typeface="Noto Sans"/>
              </a:rPr>
              <a:t>x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287D4808-193F-B237-EDAE-3365A07859E5}"/>
              </a:ext>
            </a:extLst>
          </p:cNvPr>
          <p:cNvSpPr txBox="1"/>
          <p:nvPr/>
        </p:nvSpPr>
        <p:spPr>
          <a:xfrm>
            <a:off x="11261778" y="4320961"/>
            <a:ext cx="1699617" cy="8966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>
                <a:solidFill>
                  <a:srgbClr val="004AAD"/>
                </a:solidFill>
                <a:latin typeface="DejaVu Serif"/>
                <a:ea typeface="DejaVu Serif"/>
                <a:cs typeface="DejaVu Serif"/>
                <a:sym typeface="DejaVu Serif"/>
              </a:rPr>
              <a:t>( +i )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629C7939-BE8D-43C8-4580-90EE8D31512C}"/>
              </a:ext>
            </a:extLst>
          </p:cNvPr>
          <p:cNvSpPr txBox="1"/>
          <p:nvPr/>
        </p:nvSpPr>
        <p:spPr>
          <a:xfrm>
            <a:off x="2173848" y="5961631"/>
            <a:ext cx="9179952" cy="138589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vi-VN" sz="4000" dirty="0"/>
              <a:t>Mặt lưỡi sát vòm cứng, khe hẹp, hơi ma sát, dây thanh không rung.</a:t>
            </a:r>
            <a:endParaRPr lang="en-US" sz="3999" dirty="0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8F2BE53D-91E5-588B-0876-CA805ED8F42E}"/>
              </a:ext>
            </a:extLst>
          </p:cNvPr>
          <p:cNvSpPr txBox="1"/>
          <p:nvPr/>
        </p:nvSpPr>
        <p:spPr>
          <a:xfrm>
            <a:off x="2856192" y="8239124"/>
            <a:ext cx="1411007" cy="9949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399"/>
              </a:lnSpc>
            </a:pPr>
            <a:r>
              <a:rPr lang="en-US" altLang="zh-CN" sz="5999" dirty="0" err="1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xià</a:t>
            </a:r>
            <a:endParaRPr lang="en-US" sz="5999" dirty="0">
              <a:solidFill>
                <a:srgbClr val="000000"/>
              </a:solidFill>
              <a:latin typeface="DejaVu Serif"/>
              <a:ea typeface="DejaVu Serif"/>
              <a:cs typeface="DejaVu Serif"/>
              <a:sym typeface="DejaVu Serif"/>
            </a:endParaRP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1A30E937-003E-77AE-DEE2-0D148460EACD}"/>
              </a:ext>
            </a:extLst>
          </p:cNvPr>
          <p:cNvSpPr txBox="1"/>
          <p:nvPr/>
        </p:nvSpPr>
        <p:spPr>
          <a:xfrm>
            <a:off x="7851154" y="8263348"/>
            <a:ext cx="934244" cy="9949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99"/>
              </a:lnSpc>
            </a:pPr>
            <a:r>
              <a:rPr lang="en-US" altLang="zh-CN" sz="5999" dirty="0" err="1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xù</a:t>
            </a:r>
            <a:r>
              <a:rPr lang="en-US" altLang="zh-CN" sz="5999" dirty="0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 </a:t>
            </a:r>
            <a:endParaRPr lang="en-US" sz="5999" dirty="0">
              <a:solidFill>
                <a:srgbClr val="000000"/>
              </a:solidFill>
              <a:latin typeface="DejaVu Serif"/>
              <a:ea typeface="DejaVu Serif"/>
              <a:cs typeface="DejaVu Serif"/>
              <a:sym typeface="DejaVu Serif"/>
            </a:endParaRP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871A33E6-881E-A1FD-720C-BBB990593C73}"/>
              </a:ext>
            </a:extLst>
          </p:cNvPr>
          <p:cNvSpPr txBox="1"/>
          <p:nvPr/>
        </p:nvSpPr>
        <p:spPr>
          <a:xfrm>
            <a:off x="5444495" y="8239124"/>
            <a:ext cx="934244" cy="10191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99"/>
              </a:lnSpc>
            </a:pPr>
            <a:r>
              <a:rPr lang="en-US" altLang="zh-CN" sz="5999" dirty="0" err="1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xǐ</a:t>
            </a:r>
            <a:r>
              <a:rPr lang="en-US" altLang="zh-CN" sz="5999" dirty="0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 </a:t>
            </a:r>
            <a:endParaRPr lang="en-US" sz="5999" dirty="0">
              <a:solidFill>
                <a:srgbClr val="000000"/>
              </a:solidFill>
              <a:latin typeface="DejaVu Serif"/>
              <a:ea typeface="DejaVu Serif"/>
              <a:cs typeface="DejaVu Serif"/>
              <a:sym typeface="DejaVu Serif"/>
            </a:endParaRP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D0ADD986-DB03-2955-3996-BDD57F53EB1F}"/>
              </a:ext>
            </a:extLst>
          </p:cNvPr>
          <p:cNvSpPr txBox="1"/>
          <p:nvPr/>
        </p:nvSpPr>
        <p:spPr>
          <a:xfrm>
            <a:off x="10383696" y="8239124"/>
            <a:ext cx="1525567" cy="9949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399"/>
              </a:lnSpc>
            </a:pPr>
            <a:r>
              <a:rPr lang="en-US" altLang="zh-CN" sz="5999" dirty="0" err="1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xīn</a:t>
            </a:r>
            <a:r>
              <a:rPr lang="en-US" altLang="zh-CN" sz="5999" dirty="0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  </a:t>
            </a:r>
            <a:endParaRPr lang="en-US" sz="5999" dirty="0">
              <a:solidFill>
                <a:srgbClr val="000000"/>
              </a:solidFill>
              <a:latin typeface="DejaVu Serif"/>
              <a:ea typeface="DejaVu Serif"/>
              <a:cs typeface="DejaVu Serif"/>
              <a:sym typeface="DejaVu Serif"/>
            </a:endParaRP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263F18EE-28E0-A089-E261-8D527B475161}"/>
              </a:ext>
            </a:extLst>
          </p:cNvPr>
          <p:cNvSpPr txBox="1"/>
          <p:nvPr/>
        </p:nvSpPr>
        <p:spPr>
          <a:xfrm>
            <a:off x="1645670" y="2718546"/>
            <a:ext cx="14210571" cy="1384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Tổ phụ âm mặt lưỡi “j,q,x” chỉ kết hợp được với “i,ü” và các vận mẫu có “i,ü” đứng đầu.</a:t>
            </a:r>
          </a:p>
        </p:txBody>
      </p:sp>
      <p:pic>
        <p:nvPicPr>
          <p:cNvPr id="21" name="6228696158200 (1)">
            <a:hlinkClick r:id="" action="ppaction://media"/>
            <a:extLst>
              <a:ext uri="{FF2B5EF4-FFF2-40B4-BE49-F238E27FC236}">
                <a16:creationId xmlns:a16="http://schemas.microsoft.com/office/drawing/2014/main" id="{113A44B1-13DE-0AF9-00ED-52F311021CF4}"/>
              </a:ext>
            </a:extLst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>
                  <p14:trim end="747.678"/>
                </p14:media>
              </p:ext>
            </p:extLst>
          </p:nvPr>
        </p:nvPicPr>
        <p:blipFill>
          <a:blip r:embed="rId6"/>
          <a:srcRect t="32977" b="34784"/>
          <a:stretch/>
        </p:blipFill>
        <p:spPr>
          <a:xfrm>
            <a:off x="12173410" y="5961631"/>
            <a:ext cx="5367190" cy="3381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69932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284" fill="hold"/>
                                        <p:tgtEl>
                                          <p:spTgt spid="2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2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"/>
                  </p:tgtEl>
                </p:cond>
              </p:nextCondLst>
            </p:seq>
            <p:video>
              <p:cMediaNode vol="80000" mute="1">
                <p:cTn id="12" repeatCount="indefinite" fill="remove" display="0">
                  <p:stCondLst>
                    <p:cond delay="indefinite"/>
                  </p:stCondLst>
                </p:cTn>
                <p:tgtEl>
                  <p:spTgt spid="21"/>
                </p:tgtEl>
              </p:cMediaNode>
            </p:vide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56513" y="262070"/>
            <a:ext cx="17799702" cy="9762861"/>
            <a:chOff x="0" y="0"/>
            <a:chExt cx="4687987" cy="257128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687987" cy="2571288"/>
            </a:xfrm>
            <a:custGeom>
              <a:avLst/>
              <a:gdLst/>
              <a:ahLst/>
              <a:cxnLst/>
              <a:rect l="l" t="t" r="r" b="b"/>
              <a:pathLst>
                <a:path w="4687987" h="2571288">
                  <a:moveTo>
                    <a:pt x="22182" y="0"/>
                  </a:moveTo>
                  <a:lnTo>
                    <a:pt x="4665805" y="0"/>
                  </a:lnTo>
                  <a:cubicBezTo>
                    <a:pt x="4671688" y="0"/>
                    <a:pt x="4677330" y="2337"/>
                    <a:pt x="4681491" y="6497"/>
                  </a:cubicBezTo>
                  <a:cubicBezTo>
                    <a:pt x="4685650" y="10657"/>
                    <a:pt x="4687987" y="16299"/>
                    <a:pt x="4687987" y="22182"/>
                  </a:cubicBezTo>
                  <a:lnTo>
                    <a:pt x="4687987" y="2549106"/>
                  </a:lnTo>
                  <a:cubicBezTo>
                    <a:pt x="4687987" y="2554989"/>
                    <a:pt x="4685650" y="2560631"/>
                    <a:pt x="4681491" y="2564791"/>
                  </a:cubicBezTo>
                  <a:cubicBezTo>
                    <a:pt x="4677330" y="2568951"/>
                    <a:pt x="4671688" y="2571288"/>
                    <a:pt x="4665805" y="2571288"/>
                  </a:cubicBezTo>
                  <a:lnTo>
                    <a:pt x="22182" y="2571288"/>
                  </a:lnTo>
                  <a:cubicBezTo>
                    <a:pt x="16299" y="2571288"/>
                    <a:pt x="10657" y="2568951"/>
                    <a:pt x="6497" y="2564791"/>
                  </a:cubicBezTo>
                  <a:cubicBezTo>
                    <a:pt x="2337" y="2560631"/>
                    <a:pt x="0" y="2554989"/>
                    <a:pt x="0" y="2549106"/>
                  </a:cubicBezTo>
                  <a:lnTo>
                    <a:pt x="0" y="22182"/>
                  </a:lnTo>
                  <a:cubicBezTo>
                    <a:pt x="0" y="16299"/>
                    <a:pt x="2337" y="10657"/>
                    <a:pt x="6497" y="6497"/>
                  </a:cubicBezTo>
                  <a:cubicBezTo>
                    <a:pt x="10657" y="2337"/>
                    <a:pt x="16299" y="0"/>
                    <a:pt x="22182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vi-V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687987" cy="26093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639566" y="560609"/>
            <a:ext cx="3350972" cy="1232927"/>
          </a:xfrm>
          <a:custGeom>
            <a:avLst/>
            <a:gdLst/>
            <a:ahLst/>
            <a:cxnLst/>
            <a:rect l="l" t="t" r="r" b="b"/>
            <a:pathLst>
              <a:path w="3350972" h="1232927">
                <a:moveTo>
                  <a:pt x="0" y="0"/>
                </a:moveTo>
                <a:lnTo>
                  <a:pt x="3350972" y="0"/>
                </a:lnTo>
                <a:lnTo>
                  <a:pt x="3350972" y="1232927"/>
                </a:lnTo>
                <a:lnTo>
                  <a:pt x="0" y="123292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vi-VN"/>
          </a:p>
        </p:txBody>
      </p:sp>
      <p:sp>
        <p:nvSpPr>
          <p:cNvPr id="6" name="Freeform 6"/>
          <p:cNvSpPr/>
          <p:nvPr/>
        </p:nvSpPr>
        <p:spPr>
          <a:xfrm>
            <a:off x="4932745" y="4587645"/>
            <a:ext cx="2305982" cy="697560"/>
          </a:xfrm>
          <a:custGeom>
            <a:avLst/>
            <a:gdLst/>
            <a:ahLst/>
            <a:cxnLst/>
            <a:rect l="l" t="t" r="r" b="b"/>
            <a:pathLst>
              <a:path w="2305982" h="697560">
                <a:moveTo>
                  <a:pt x="0" y="0"/>
                </a:moveTo>
                <a:lnTo>
                  <a:pt x="2305982" y="0"/>
                </a:lnTo>
                <a:lnTo>
                  <a:pt x="2305982" y="697559"/>
                </a:lnTo>
                <a:lnTo>
                  <a:pt x="0" y="69755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vi-VN"/>
          </a:p>
        </p:txBody>
      </p:sp>
      <p:sp>
        <p:nvSpPr>
          <p:cNvPr id="7" name="Freeform 7"/>
          <p:cNvSpPr/>
          <p:nvPr/>
        </p:nvSpPr>
        <p:spPr>
          <a:xfrm>
            <a:off x="4932745" y="6528851"/>
            <a:ext cx="2305982" cy="697560"/>
          </a:xfrm>
          <a:custGeom>
            <a:avLst/>
            <a:gdLst/>
            <a:ahLst/>
            <a:cxnLst/>
            <a:rect l="l" t="t" r="r" b="b"/>
            <a:pathLst>
              <a:path w="2305982" h="697560">
                <a:moveTo>
                  <a:pt x="0" y="0"/>
                </a:moveTo>
                <a:lnTo>
                  <a:pt x="2305982" y="0"/>
                </a:lnTo>
                <a:lnTo>
                  <a:pt x="2305982" y="697560"/>
                </a:lnTo>
                <a:lnTo>
                  <a:pt x="0" y="69756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vi-VN"/>
          </a:p>
        </p:txBody>
      </p:sp>
      <p:sp>
        <p:nvSpPr>
          <p:cNvPr id="8" name="Freeform 8"/>
          <p:cNvSpPr/>
          <p:nvPr/>
        </p:nvSpPr>
        <p:spPr>
          <a:xfrm>
            <a:off x="4932745" y="8474186"/>
            <a:ext cx="2305982" cy="697560"/>
          </a:xfrm>
          <a:custGeom>
            <a:avLst/>
            <a:gdLst/>
            <a:ahLst/>
            <a:cxnLst/>
            <a:rect l="l" t="t" r="r" b="b"/>
            <a:pathLst>
              <a:path w="2305982" h="697560">
                <a:moveTo>
                  <a:pt x="0" y="0"/>
                </a:moveTo>
                <a:lnTo>
                  <a:pt x="2305982" y="0"/>
                </a:lnTo>
                <a:lnTo>
                  <a:pt x="2305982" y="697559"/>
                </a:lnTo>
                <a:lnTo>
                  <a:pt x="0" y="69755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vi-VN"/>
          </a:p>
        </p:txBody>
      </p:sp>
      <p:sp>
        <p:nvSpPr>
          <p:cNvPr id="9" name="Freeform 9"/>
          <p:cNvSpPr/>
          <p:nvPr/>
        </p:nvSpPr>
        <p:spPr>
          <a:xfrm>
            <a:off x="2215979" y="4587645"/>
            <a:ext cx="990834" cy="930146"/>
          </a:xfrm>
          <a:custGeom>
            <a:avLst/>
            <a:gdLst/>
            <a:ahLst/>
            <a:cxnLst/>
            <a:rect l="l" t="t" r="r" b="b"/>
            <a:pathLst>
              <a:path w="990834" h="930146">
                <a:moveTo>
                  <a:pt x="0" y="0"/>
                </a:moveTo>
                <a:lnTo>
                  <a:pt x="990835" y="0"/>
                </a:lnTo>
                <a:lnTo>
                  <a:pt x="990835" y="930145"/>
                </a:lnTo>
                <a:lnTo>
                  <a:pt x="0" y="93014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vi-VN"/>
          </a:p>
        </p:txBody>
      </p:sp>
      <p:sp>
        <p:nvSpPr>
          <p:cNvPr id="10" name="TextBox 10"/>
          <p:cNvSpPr txBox="1"/>
          <p:nvPr/>
        </p:nvSpPr>
        <p:spPr>
          <a:xfrm>
            <a:off x="1028700" y="1919928"/>
            <a:ext cx="16230600" cy="16517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606"/>
              </a:lnSpc>
            </a:pPr>
            <a:r>
              <a:rPr lang="en-US" sz="4719">
                <a:solidFill>
                  <a:srgbClr val="004AAD"/>
                </a:solidFill>
                <a:latin typeface="Noto Sans"/>
                <a:ea typeface="Noto Sans"/>
                <a:cs typeface="Noto Sans"/>
                <a:sym typeface="Noto Sans"/>
              </a:rPr>
              <a:t>Khi ü hay các vận mẫu bắt đầu bằng ü ghép với j, q, x thì 2 dấu chấm phía trên ü được lược bỏ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483313" y="4028274"/>
            <a:ext cx="356592" cy="15665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1">
                <a:solidFill>
                  <a:srgbClr val="004AAD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j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582888" y="4028274"/>
            <a:ext cx="767953" cy="15665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1">
                <a:solidFill>
                  <a:srgbClr val="004AAD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ü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026313" y="4028274"/>
            <a:ext cx="1489682" cy="15665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1" dirty="0" err="1">
                <a:solidFill>
                  <a:srgbClr val="FF3131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ju</a:t>
            </a:r>
            <a:endParaRPr lang="en-US" sz="9200" b="1" dirty="0">
              <a:solidFill>
                <a:srgbClr val="FF3131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8072561" y="7949828"/>
            <a:ext cx="1712986" cy="15665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1" dirty="0">
                <a:solidFill>
                  <a:srgbClr val="FF3131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xu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040613" y="6008621"/>
            <a:ext cx="1712987" cy="15665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1" dirty="0" err="1">
                <a:solidFill>
                  <a:srgbClr val="FF3131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qu</a:t>
            </a:r>
            <a:endParaRPr lang="en-US" sz="9200" b="1" dirty="0">
              <a:solidFill>
                <a:srgbClr val="FF3131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</p:txBody>
      </p:sp>
      <p:sp>
        <p:nvSpPr>
          <p:cNvPr id="16" name="Freeform 16"/>
          <p:cNvSpPr/>
          <p:nvPr/>
        </p:nvSpPr>
        <p:spPr>
          <a:xfrm>
            <a:off x="2215979" y="6567992"/>
            <a:ext cx="990834" cy="930146"/>
          </a:xfrm>
          <a:custGeom>
            <a:avLst/>
            <a:gdLst/>
            <a:ahLst/>
            <a:cxnLst/>
            <a:rect l="l" t="t" r="r" b="b"/>
            <a:pathLst>
              <a:path w="990834" h="930146">
                <a:moveTo>
                  <a:pt x="0" y="0"/>
                </a:moveTo>
                <a:lnTo>
                  <a:pt x="990835" y="0"/>
                </a:lnTo>
                <a:lnTo>
                  <a:pt x="990835" y="930145"/>
                </a:lnTo>
                <a:lnTo>
                  <a:pt x="0" y="93014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vi-VN"/>
          </a:p>
        </p:txBody>
      </p:sp>
      <p:sp>
        <p:nvSpPr>
          <p:cNvPr id="17" name="TextBox 17"/>
          <p:cNvSpPr txBox="1"/>
          <p:nvPr/>
        </p:nvSpPr>
        <p:spPr>
          <a:xfrm>
            <a:off x="1291920" y="6008621"/>
            <a:ext cx="739378" cy="15665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1">
                <a:solidFill>
                  <a:srgbClr val="004AAD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q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3582888" y="6008621"/>
            <a:ext cx="767953" cy="15665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1">
                <a:solidFill>
                  <a:srgbClr val="004AAD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ü</a:t>
            </a:r>
          </a:p>
        </p:txBody>
      </p:sp>
      <p:sp>
        <p:nvSpPr>
          <p:cNvPr id="19" name="Freeform 19"/>
          <p:cNvSpPr/>
          <p:nvPr/>
        </p:nvSpPr>
        <p:spPr>
          <a:xfrm>
            <a:off x="2215979" y="8334586"/>
            <a:ext cx="990834" cy="930146"/>
          </a:xfrm>
          <a:custGeom>
            <a:avLst/>
            <a:gdLst/>
            <a:ahLst/>
            <a:cxnLst/>
            <a:rect l="l" t="t" r="r" b="b"/>
            <a:pathLst>
              <a:path w="990834" h="930146">
                <a:moveTo>
                  <a:pt x="0" y="0"/>
                </a:moveTo>
                <a:lnTo>
                  <a:pt x="990835" y="0"/>
                </a:lnTo>
                <a:lnTo>
                  <a:pt x="990835" y="930145"/>
                </a:lnTo>
                <a:lnTo>
                  <a:pt x="0" y="93014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vi-VN"/>
          </a:p>
        </p:txBody>
      </p:sp>
      <p:sp>
        <p:nvSpPr>
          <p:cNvPr id="20" name="TextBox 20"/>
          <p:cNvSpPr txBox="1"/>
          <p:nvPr/>
        </p:nvSpPr>
        <p:spPr>
          <a:xfrm>
            <a:off x="1323868" y="7775215"/>
            <a:ext cx="675481" cy="15665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1">
                <a:solidFill>
                  <a:srgbClr val="004AAD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x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582888" y="7775215"/>
            <a:ext cx="767953" cy="15665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1">
                <a:solidFill>
                  <a:srgbClr val="004AAD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ü</a:t>
            </a:r>
          </a:p>
        </p:txBody>
      </p:sp>
      <p:pic>
        <p:nvPicPr>
          <p:cNvPr id="23" name="Hình ảnh 22" descr="Ảnh có chứa văn bản, ảnh chụp màn hình, Phông chữ, số&#10;&#10;Nội dung do AI tạo ra có thể không chính xác.">
            <a:extLst>
              <a:ext uri="{FF2B5EF4-FFF2-40B4-BE49-F238E27FC236}">
                <a16:creationId xmlns:a16="http://schemas.microsoft.com/office/drawing/2014/main" id="{21A0A140-A267-5E32-F86D-BD6C3253FCC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50966" y="4999629"/>
            <a:ext cx="7340541" cy="336744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Grp="1" noUngrp="1" noRot="1" noMove="1" noResize="1"/>
          </p:cNvGrpSpPr>
          <p:nvPr/>
        </p:nvGrpSpPr>
        <p:grpSpPr>
          <a:xfrm>
            <a:off x="256513" y="262070"/>
            <a:ext cx="17799702" cy="9762861"/>
            <a:chOff x="0" y="0"/>
            <a:chExt cx="4687987" cy="2571288"/>
          </a:xfrm>
        </p:grpSpPr>
        <p:sp>
          <p:nvSpPr>
            <p:cNvPr id="3" name="Freeform 3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0"/>
              <a:ext cx="4687987" cy="2571288"/>
            </a:xfrm>
            <a:custGeom>
              <a:avLst/>
              <a:gdLst/>
              <a:ahLst/>
              <a:cxnLst/>
              <a:rect l="l" t="t" r="r" b="b"/>
              <a:pathLst>
                <a:path w="4687987" h="2571288">
                  <a:moveTo>
                    <a:pt x="22182" y="0"/>
                  </a:moveTo>
                  <a:lnTo>
                    <a:pt x="4665805" y="0"/>
                  </a:lnTo>
                  <a:cubicBezTo>
                    <a:pt x="4671688" y="0"/>
                    <a:pt x="4677330" y="2337"/>
                    <a:pt x="4681491" y="6497"/>
                  </a:cubicBezTo>
                  <a:cubicBezTo>
                    <a:pt x="4685650" y="10657"/>
                    <a:pt x="4687987" y="16299"/>
                    <a:pt x="4687987" y="22182"/>
                  </a:cubicBezTo>
                  <a:lnTo>
                    <a:pt x="4687987" y="2549106"/>
                  </a:lnTo>
                  <a:cubicBezTo>
                    <a:pt x="4687987" y="2554989"/>
                    <a:pt x="4685650" y="2560631"/>
                    <a:pt x="4681491" y="2564791"/>
                  </a:cubicBezTo>
                  <a:cubicBezTo>
                    <a:pt x="4677330" y="2568951"/>
                    <a:pt x="4671688" y="2571288"/>
                    <a:pt x="4665805" y="2571288"/>
                  </a:cubicBezTo>
                  <a:lnTo>
                    <a:pt x="22182" y="2571288"/>
                  </a:lnTo>
                  <a:cubicBezTo>
                    <a:pt x="16299" y="2571288"/>
                    <a:pt x="10657" y="2568951"/>
                    <a:pt x="6497" y="2564791"/>
                  </a:cubicBezTo>
                  <a:cubicBezTo>
                    <a:pt x="2337" y="2560631"/>
                    <a:pt x="0" y="2554989"/>
                    <a:pt x="0" y="2549106"/>
                  </a:cubicBezTo>
                  <a:lnTo>
                    <a:pt x="0" y="22182"/>
                  </a:lnTo>
                  <a:cubicBezTo>
                    <a:pt x="0" y="16299"/>
                    <a:pt x="2337" y="10657"/>
                    <a:pt x="6497" y="6497"/>
                  </a:cubicBezTo>
                  <a:cubicBezTo>
                    <a:pt x="10657" y="2337"/>
                    <a:pt x="16299" y="0"/>
                    <a:pt x="22182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vi-VN"/>
            </a:p>
          </p:txBody>
        </p:sp>
        <p:sp>
          <p:nvSpPr>
            <p:cNvPr id="4" name="TextBox 4"/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-38100"/>
              <a:ext cx="4687987" cy="26093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028700" y="1704715"/>
            <a:ext cx="10776078" cy="8135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606"/>
              </a:lnSpc>
            </a:pPr>
            <a:r>
              <a:rPr lang="en-US" sz="4719">
                <a:solidFill>
                  <a:srgbClr val="004AAD"/>
                </a:solidFill>
                <a:latin typeface="Noto Sans"/>
                <a:ea typeface="Noto Sans"/>
                <a:cs typeface="Noto Sans"/>
                <a:sym typeface="Noto Sans"/>
              </a:rPr>
              <a:t>Nhóm vận mẫu ghép của a,e,o (2)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138511" y="3166234"/>
            <a:ext cx="1477191" cy="1477191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3131">
                <a:alpha val="45882"/>
              </a:srgbClr>
            </a:solidFill>
          </p:spPr>
          <p:txBody>
            <a:bodyPr/>
            <a:lstStyle/>
            <a:p>
              <a:endParaRPr lang="vi-VN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023396" y="3016623"/>
            <a:ext cx="1928935" cy="15665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1" dirty="0">
                <a:solidFill>
                  <a:srgbClr val="004AAD"/>
                </a:solidFill>
                <a:latin typeface="Noto Sans"/>
                <a:ea typeface="Noto Sans"/>
                <a:cs typeface="Noto Sans"/>
                <a:sym typeface="Noto Sans"/>
              </a:rPr>
              <a:t>an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667153" y="3009593"/>
            <a:ext cx="2798186" cy="15665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1" dirty="0">
                <a:solidFill>
                  <a:srgbClr val="004AAD"/>
                </a:solidFill>
                <a:latin typeface="Noto Sans"/>
                <a:ea typeface="Noto Sans"/>
                <a:cs typeface="Noto Sans"/>
                <a:sym typeface="Noto Sans"/>
              </a:rPr>
              <a:t>ang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925980" y="3009593"/>
            <a:ext cx="1560420" cy="15452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1" dirty="0" err="1">
                <a:solidFill>
                  <a:srgbClr val="004AAD"/>
                </a:solidFill>
                <a:latin typeface="Noto Sans"/>
                <a:ea typeface="Noto Sans"/>
                <a:cs typeface="Noto Sans"/>
                <a:sym typeface="Noto Sans"/>
              </a:rPr>
              <a:t>en</a:t>
            </a:r>
            <a:endParaRPr lang="en-US" sz="9200" b="1" dirty="0">
              <a:solidFill>
                <a:srgbClr val="004AAD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102489" y="340665"/>
            <a:ext cx="4754166" cy="1193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 b="1">
                <a:solidFill>
                  <a:srgbClr val="D86666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I. Vận mẫu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3583804" y="3009593"/>
            <a:ext cx="2904098" cy="15665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1" dirty="0" err="1">
                <a:solidFill>
                  <a:srgbClr val="004AAD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ong</a:t>
            </a:r>
            <a:endParaRPr lang="en-US" sz="9200" b="1" dirty="0">
              <a:solidFill>
                <a:srgbClr val="004AAD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10123791" y="3009593"/>
            <a:ext cx="2680875" cy="15665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1" dirty="0" err="1">
                <a:solidFill>
                  <a:srgbClr val="004AAD"/>
                </a:solidFill>
                <a:latin typeface="Noto Sans"/>
                <a:ea typeface="Noto Sans"/>
                <a:cs typeface="Noto Sans"/>
                <a:sym typeface="Noto Sans"/>
              </a:rPr>
              <a:t>eng</a:t>
            </a:r>
            <a:endParaRPr lang="en-US" sz="9200" b="1" dirty="0">
              <a:solidFill>
                <a:srgbClr val="004AAD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1850073" y="5521376"/>
            <a:ext cx="2569527" cy="13977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1801"/>
              </a:lnSpc>
            </a:pPr>
            <a:r>
              <a:rPr lang="en-US" altLang="zh-CN" sz="8429" dirty="0" err="1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lǎn</a:t>
            </a:r>
            <a:endParaRPr lang="en-US" sz="8429" dirty="0">
              <a:solidFill>
                <a:srgbClr val="000000"/>
              </a:solidFill>
              <a:latin typeface="DejaVu Serif"/>
              <a:ea typeface="DejaVu Serif"/>
              <a:cs typeface="DejaVu Serif"/>
              <a:sym typeface="DejaVu Serif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1850073" y="7515258"/>
            <a:ext cx="2569527" cy="13977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1801"/>
              </a:lnSpc>
            </a:pPr>
            <a:r>
              <a:rPr lang="en-US" altLang="zh-CN" sz="8429" dirty="0" err="1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gǎn</a:t>
            </a:r>
            <a:r>
              <a:rPr lang="en-US" altLang="zh-CN" sz="8429" dirty="0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 </a:t>
            </a:r>
            <a:endParaRPr lang="en-US" sz="8429" dirty="0">
              <a:solidFill>
                <a:srgbClr val="000000"/>
              </a:solidFill>
              <a:latin typeface="DejaVu Serif"/>
              <a:ea typeface="DejaVu Serif"/>
              <a:cs typeface="DejaVu Serif"/>
              <a:sym typeface="DejaVu Serif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5486400" y="5521376"/>
            <a:ext cx="2362200" cy="13977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1801"/>
              </a:lnSpc>
            </a:pPr>
            <a:r>
              <a:rPr lang="en-US" altLang="zh-CN" sz="8429" dirty="0" err="1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nán</a:t>
            </a:r>
            <a:r>
              <a:rPr lang="en-US" altLang="zh-CN" sz="8429" dirty="0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 </a:t>
            </a:r>
            <a:endParaRPr lang="en-US" sz="8429" dirty="0">
              <a:solidFill>
                <a:srgbClr val="000000"/>
              </a:solidFill>
              <a:latin typeface="DejaVu Serif"/>
              <a:ea typeface="DejaVu Serif"/>
              <a:cs typeface="DejaVu Serif"/>
              <a:sym typeface="DejaVu Serif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5486400" y="7515258"/>
            <a:ext cx="2362200" cy="13977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1801"/>
              </a:lnSpc>
            </a:pPr>
            <a:r>
              <a:rPr lang="en-US" altLang="zh-CN" sz="8429" dirty="0" err="1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kàn</a:t>
            </a:r>
            <a:r>
              <a:rPr lang="en-US" altLang="zh-CN" sz="8429" dirty="0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 </a:t>
            </a:r>
            <a:endParaRPr lang="en-US" sz="8429" dirty="0">
              <a:solidFill>
                <a:srgbClr val="000000"/>
              </a:solidFill>
              <a:latin typeface="DejaVu Serif"/>
              <a:ea typeface="DejaVu Serif"/>
              <a:cs typeface="DejaVu Serif"/>
              <a:sym typeface="DejaVu Serif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7EDC1E-474F-0A34-47C8-ED218CA8EC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5C88EF7D-DAC0-E938-1F0C-2EE30E5437B2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256513" y="262070"/>
            <a:ext cx="17799702" cy="9762861"/>
            <a:chOff x="0" y="0"/>
            <a:chExt cx="4687987" cy="2571288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5DDC1AC7-907C-2D10-518B-995C706FDF9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0"/>
              <a:ext cx="4687987" cy="2571288"/>
            </a:xfrm>
            <a:custGeom>
              <a:avLst/>
              <a:gdLst/>
              <a:ahLst/>
              <a:cxnLst/>
              <a:rect l="l" t="t" r="r" b="b"/>
              <a:pathLst>
                <a:path w="4687987" h="2571288">
                  <a:moveTo>
                    <a:pt x="22182" y="0"/>
                  </a:moveTo>
                  <a:lnTo>
                    <a:pt x="4665805" y="0"/>
                  </a:lnTo>
                  <a:cubicBezTo>
                    <a:pt x="4671688" y="0"/>
                    <a:pt x="4677330" y="2337"/>
                    <a:pt x="4681491" y="6497"/>
                  </a:cubicBezTo>
                  <a:cubicBezTo>
                    <a:pt x="4685650" y="10657"/>
                    <a:pt x="4687987" y="16299"/>
                    <a:pt x="4687987" y="22182"/>
                  </a:cubicBezTo>
                  <a:lnTo>
                    <a:pt x="4687987" y="2549106"/>
                  </a:lnTo>
                  <a:cubicBezTo>
                    <a:pt x="4687987" y="2554989"/>
                    <a:pt x="4685650" y="2560631"/>
                    <a:pt x="4681491" y="2564791"/>
                  </a:cubicBezTo>
                  <a:cubicBezTo>
                    <a:pt x="4677330" y="2568951"/>
                    <a:pt x="4671688" y="2571288"/>
                    <a:pt x="4665805" y="2571288"/>
                  </a:cubicBezTo>
                  <a:lnTo>
                    <a:pt x="22182" y="2571288"/>
                  </a:lnTo>
                  <a:cubicBezTo>
                    <a:pt x="16299" y="2571288"/>
                    <a:pt x="10657" y="2568951"/>
                    <a:pt x="6497" y="2564791"/>
                  </a:cubicBezTo>
                  <a:cubicBezTo>
                    <a:pt x="2337" y="2560631"/>
                    <a:pt x="0" y="2554989"/>
                    <a:pt x="0" y="2549106"/>
                  </a:cubicBezTo>
                  <a:lnTo>
                    <a:pt x="0" y="22182"/>
                  </a:lnTo>
                  <a:cubicBezTo>
                    <a:pt x="0" y="16299"/>
                    <a:pt x="2337" y="10657"/>
                    <a:pt x="6497" y="6497"/>
                  </a:cubicBezTo>
                  <a:cubicBezTo>
                    <a:pt x="10657" y="2337"/>
                    <a:pt x="16299" y="0"/>
                    <a:pt x="22182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vi-VN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2D2961D7-786A-7BCC-4108-64917E4AECE4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-38100"/>
              <a:ext cx="4687987" cy="26093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TextBox 6">
            <a:extLst>
              <a:ext uri="{FF2B5EF4-FFF2-40B4-BE49-F238E27FC236}">
                <a16:creationId xmlns:a16="http://schemas.microsoft.com/office/drawing/2014/main" id="{74B264D0-18C0-E34E-2E30-7F893157BE3A}"/>
              </a:ext>
            </a:extLst>
          </p:cNvPr>
          <p:cNvSpPr txBox="1"/>
          <p:nvPr/>
        </p:nvSpPr>
        <p:spPr>
          <a:xfrm>
            <a:off x="1028700" y="1704715"/>
            <a:ext cx="10776078" cy="8135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606"/>
              </a:lnSpc>
            </a:pPr>
            <a:r>
              <a:rPr lang="en-US" sz="4719">
                <a:solidFill>
                  <a:srgbClr val="004AAD"/>
                </a:solidFill>
                <a:latin typeface="Noto Sans"/>
                <a:ea typeface="Noto Sans"/>
                <a:cs typeface="Noto Sans"/>
                <a:sym typeface="Noto Sans"/>
              </a:rPr>
              <a:t>Nhóm vận mẫu ghép của a,e,o (2)</a:t>
            </a:r>
          </a:p>
        </p:txBody>
      </p:sp>
      <p:grpSp>
        <p:nvGrpSpPr>
          <p:cNvPr id="7" name="Group 7">
            <a:extLst>
              <a:ext uri="{FF2B5EF4-FFF2-40B4-BE49-F238E27FC236}">
                <a16:creationId xmlns:a16="http://schemas.microsoft.com/office/drawing/2014/main" id="{78CA0E73-4B48-A0A4-DA9B-2E34A6060ABC}"/>
              </a:ext>
            </a:extLst>
          </p:cNvPr>
          <p:cNvGrpSpPr/>
          <p:nvPr/>
        </p:nvGrpSpPr>
        <p:grpSpPr>
          <a:xfrm>
            <a:off x="3965601" y="3118563"/>
            <a:ext cx="1477191" cy="1477191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FB62B9BF-8A1F-CFE6-AD79-D7BA916C7C16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3131">
                <a:alpha val="45882"/>
              </a:srgbClr>
            </a:solidFill>
          </p:spPr>
          <p:txBody>
            <a:bodyPr/>
            <a:lstStyle/>
            <a:p>
              <a:endParaRPr lang="vi-VN"/>
            </a:p>
          </p:txBody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E5388AC7-9B95-A513-F5B3-63EA342AD2CC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0" name="TextBox 10">
            <a:extLst>
              <a:ext uri="{FF2B5EF4-FFF2-40B4-BE49-F238E27FC236}">
                <a16:creationId xmlns:a16="http://schemas.microsoft.com/office/drawing/2014/main" id="{8DE40E32-268A-8FF2-23BE-EAA7D4102886}"/>
              </a:ext>
            </a:extLst>
          </p:cNvPr>
          <p:cNvSpPr txBox="1"/>
          <p:nvPr/>
        </p:nvSpPr>
        <p:spPr>
          <a:xfrm>
            <a:off x="1023396" y="3016623"/>
            <a:ext cx="1928935" cy="15665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1" dirty="0">
                <a:solidFill>
                  <a:srgbClr val="004AAD"/>
                </a:solidFill>
                <a:latin typeface="Noto Sans"/>
                <a:ea typeface="Noto Sans"/>
                <a:cs typeface="Noto Sans"/>
                <a:sym typeface="Noto Sans"/>
              </a:rPr>
              <a:t>an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6CD03D3E-2F95-E242-0EFB-8EBA6E38427C}"/>
              </a:ext>
            </a:extLst>
          </p:cNvPr>
          <p:cNvSpPr txBox="1"/>
          <p:nvPr/>
        </p:nvSpPr>
        <p:spPr>
          <a:xfrm>
            <a:off x="6667153" y="3009593"/>
            <a:ext cx="2798186" cy="15665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1" dirty="0">
                <a:solidFill>
                  <a:srgbClr val="004AAD"/>
                </a:solidFill>
                <a:latin typeface="Noto Sans"/>
                <a:ea typeface="Noto Sans"/>
                <a:cs typeface="Noto Sans"/>
                <a:sym typeface="Noto Sans"/>
              </a:rPr>
              <a:t>ang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D3014CE4-8E7E-1694-113A-95E7364176CF}"/>
              </a:ext>
            </a:extLst>
          </p:cNvPr>
          <p:cNvSpPr txBox="1"/>
          <p:nvPr/>
        </p:nvSpPr>
        <p:spPr>
          <a:xfrm>
            <a:off x="3925980" y="3009593"/>
            <a:ext cx="1560420" cy="15452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1" dirty="0" err="1">
                <a:solidFill>
                  <a:srgbClr val="004AAD"/>
                </a:solidFill>
                <a:latin typeface="Noto Sans"/>
                <a:ea typeface="Noto Sans"/>
                <a:cs typeface="Noto Sans"/>
                <a:sym typeface="Noto Sans"/>
              </a:rPr>
              <a:t>en</a:t>
            </a:r>
            <a:endParaRPr lang="en-US" sz="9200" b="1" dirty="0">
              <a:solidFill>
                <a:srgbClr val="004AAD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F42AD951-78E5-3CEE-1247-FEE32EBF7249}"/>
              </a:ext>
            </a:extLst>
          </p:cNvPr>
          <p:cNvSpPr txBox="1"/>
          <p:nvPr/>
        </p:nvSpPr>
        <p:spPr>
          <a:xfrm>
            <a:off x="1102489" y="340665"/>
            <a:ext cx="4754166" cy="1193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 b="1">
                <a:solidFill>
                  <a:srgbClr val="D86666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I. Vận mẫu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0A033210-4FDD-385C-B9AD-1FFF0CEAB93B}"/>
              </a:ext>
            </a:extLst>
          </p:cNvPr>
          <p:cNvSpPr txBox="1"/>
          <p:nvPr/>
        </p:nvSpPr>
        <p:spPr>
          <a:xfrm>
            <a:off x="13583804" y="3009593"/>
            <a:ext cx="2904098" cy="15665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1" dirty="0" err="1">
                <a:solidFill>
                  <a:srgbClr val="004AAD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ong</a:t>
            </a:r>
            <a:endParaRPr lang="en-US" sz="9200" b="1" dirty="0">
              <a:solidFill>
                <a:srgbClr val="004AAD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C49502B7-2BFE-2BE2-A91D-CE09ABCCF6EA}"/>
              </a:ext>
            </a:extLst>
          </p:cNvPr>
          <p:cNvSpPr txBox="1"/>
          <p:nvPr/>
        </p:nvSpPr>
        <p:spPr>
          <a:xfrm>
            <a:off x="10123791" y="3009593"/>
            <a:ext cx="2680875" cy="15665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1" dirty="0" err="1">
                <a:solidFill>
                  <a:srgbClr val="004AAD"/>
                </a:solidFill>
                <a:latin typeface="Noto Sans"/>
                <a:ea typeface="Noto Sans"/>
                <a:cs typeface="Noto Sans"/>
                <a:sym typeface="Noto Sans"/>
              </a:rPr>
              <a:t>eng</a:t>
            </a:r>
            <a:endParaRPr lang="en-US" sz="9200" b="1" dirty="0">
              <a:solidFill>
                <a:srgbClr val="004AAD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86DB207A-66B2-9295-B572-020FBDE54E85}"/>
              </a:ext>
            </a:extLst>
          </p:cNvPr>
          <p:cNvSpPr txBox="1"/>
          <p:nvPr/>
        </p:nvSpPr>
        <p:spPr>
          <a:xfrm>
            <a:off x="1850073" y="5521376"/>
            <a:ext cx="2569527" cy="13977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1801"/>
              </a:lnSpc>
            </a:pPr>
            <a:r>
              <a:rPr lang="en-US" altLang="zh-CN" sz="8429" dirty="0" err="1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běn</a:t>
            </a:r>
            <a:r>
              <a:rPr lang="en-US" altLang="zh-CN" sz="8429" dirty="0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 </a:t>
            </a:r>
            <a:endParaRPr lang="en-US" sz="8429" dirty="0">
              <a:solidFill>
                <a:srgbClr val="000000"/>
              </a:solidFill>
              <a:latin typeface="DejaVu Serif"/>
              <a:ea typeface="DejaVu Serif"/>
              <a:cs typeface="DejaVu Serif"/>
              <a:sym typeface="DejaVu Serif"/>
            </a:endParaRP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CB201D3A-9916-2A86-88B9-DE46CE754431}"/>
              </a:ext>
            </a:extLst>
          </p:cNvPr>
          <p:cNvSpPr txBox="1"/>
          <p:nvPr/>
        </p:nvSpPr>
        <p:spPr>
          <a:xfrm>
            <a:off x="1850073" y="7515258"/>
            <a:ext cx="2569527" cy="13977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1801"/>
              </a:lnSpc>
            </a:pPr>
            <a:r>
              <a:rPr lang="en-US" altLang="zh-CN" sz="8429" dirty="0" err="1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kěn</a:t>
            </a:r>
            <a:r>
              <a:rPr lang="en-US" altLang="zh-CN" sz="8429" dirty="0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 </a:t>
            </a:r>
            <a:endParaRPr lang="en-US" sz="8429" dirty="0">
              <a:solidFill>
                <a:srgbClr val="000000"/>
              </a:solidFill>
              <a:latin typeface="DejaVu Serif"/>
              <a:ea typeface="DejaVu Serif"/>
              <a:cs typeface="DejaVu Serif"/>
              <a:sym typeface="DejaVu Serif"/>
            </a:endParaRP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E3D1245F-C17C-77CD-D77B-25408DC9F6E1}"/>
              </a:ext>
            </a:extLst>
          </p:cNvPr>
          <p:cNvSpPr txBox="1"/>
          <p:nvPr/>
        </p:nvSpPr>
        <p:spPr>
          <a:xfrm>
            <a:off x="5486400" y="5521376"/>
            <a:ext cx="2362200" cy="13977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1801"/>
              </a:lnSpc>
            </a:pPr>
            <a:r>
              <a:rPr lang="en-US" altLang="zh-CN" sz="8429" dirty="0" err="1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gèn</a:t>
            </a:r>
            <a:r>
              <a:rPr lang="en-US" altLang="zh-CN" sz="8429" dirty="0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 </a:t>
            </a:r>
            <a:endParaRPr lang="en-US" sz="8429" dirty="0">
              <a:solidFill>
                <a:srgbClr val="000000"/>
              </a:solidFill>
              <a:latin typeface="DejaVu Serif"/>
              <a:ea typeface="DejaVu Serif"/>
              <a:cs typeface="DejaVu Serif"/>
              <a:sym typeface="DejaVu Serif"/>
            </a:endParaRP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6EC8340E-0959-946F-B473-EE3EC2273BC2}"/>
              </a:ext>
            </a:extLst>
          </p:cNvPr>
          <p:cNvSpPr txBox="1"/>
          <p:nvPr/>
        </p:nvSpPr>
        <p:spPr>
          <a:xfrm>
            <a:off x="5486400" y="7515258"/>
            <a:ext cx="2362200" cy="13977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1801"/>
              </a:lnSpc>
            </a:pPr>
            <a:r>
              <a:rPr lang="en-US" sz="8429" dirty="0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 </a:t>
            </a:r>
            <a:r>
              <a:rPr lang="en-US" altLang="zh-CN" sz="8429" dirty="0" err="1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hén</a:t>
            </a:r>
            <a:r>
              <a:rPr lang="en-US" altLang="zh-CN" sz="8429" dirty="0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 </a:t>
            </a:r>
            <a:endParaRPr lang="en-US" sz="8429" dirty="0">
              <a:solidFill>
                <a:srgbClr val="000000"/>
              </a:solidFill>
              <a:latin typeface="DejaVu Serif"/>
              <a:ea typeface="DejaVu Serif"/>
              <a:cs typeface="DejaVu Serif"/>
              <a:sym typeface="DejaVu Serif"/>
            </a:endParaRPr>
          </a:p>
        </p:txBody>
      </p:sp>
    </p:spTree>
    <p:extLst>
      <p:ext uri="{BB962C8B-B14F-4D97-AF65-F5344CB8AC3E}">
        <p14:creationId xmlns:p14="http://schemas.microsoft.com/office/powerpoint/2010/main" val="23385450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EF6BAA-9283-9709-E135-2C0ED0F352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DDE112F8-B730-0C96-A9FD-0929C694B858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256513" y="262070"/>
            <a:ext cx="17799702" cy="9762861"/>
            <a:chOff x="0" y="0"/>
            <a:chExt cx="4687987" cy="2571288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4680B470-9FE3-9C2A-98E7-1B483984452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0"/>
              <a:ext cx="4687987" cy="2571288"/>
            </a:xfrm>
            <a:custGeom>
              <a:avLst/>
              <a:gdLst/>
              <a:ahLst/>
              <a:cxnLst/>
              <a:rect l="l" t="t" r="r" b="b"/>
              <a:pathLst>
                <a:path w="4687987" h="2571288">
                  <a:moveTo>
                    <a:pt x="22182" y="0"/>
                  </a:moveTo>
                  <a:lnTo>
                    <a:pt x="4665805" y="0"/>
                  </a:lnTo>
                  <a:cubicBezTo>
                    <a:pt x="4671688" y="0"/>
                    <a:pt x="4677330" y="2337"/>
                    <a:pt x="4681491" y="6497"/>
                  </a:cubicBezTo>
                  <a:cubicBezTo>
                    <a:pt x="4685650" y="10657"/>
                    <a:pt x="4687987" y="16299"/>
                    <a:pt x="4687987" y="22182"/>
                  </a:cubicBezTo>
                  <a:lnTo>
                    <a:pt x="4687987" y="2549106"/>
                  </a:lnTo>
                  <a:cubicBezTo>
                    <a:pt x="4687987" y="2554989"/>
                    <a:pt x="4685650" y="2560631"/>
                    <a:pt x="4681491" y="2564791"/>
                  </a:cubicBezTo>
                  <a:cubicBezTo>
                    <a:pt x="4677330" y="2568951"/>
                    <a:pt x="4671688" y="2571288"/>
                    <a:pt x="4665805" y="2571288"/>
                  </a:cubicBezTo>
                  <a:lnTo>
                    <a:pt x="22182" y="2571288"/>
                  </a:lnTo>
                  <a:cubicBezTo>
                    <a:pt x="16299" y="2571288"/>
                    <a:pt x="10657" y="2568951"/>
                    <a:pt x="6497" y="2564791"/>
                  </a:cubicBezTo>
                  <a:cubicBezTo>
                    <a:pt x="2337" y="2560631"/>
                    <a:pt x="0" y="2554989"/>
                    <a:pt x="0" y="2549106"/>
                  </a:cubicBezTo>
                  <a:lnTo>
                    <a:pt x="0" y="22182"/>
                  </a:lnTo>
                  <a:cubicBezTo>
                    <a:pt x="0" y="16299"/>
                    <a:pt x="2337" y="10657"/>
                    <a:pt x="6497" y="6497"/>
                  </a:cubicBezTo>
                  <a:cubicBezTo>
                    <a:pt x="10657" y="2337"/>
                    <a:pt x="16299" y="0"/>
                    <a:pt x="22182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vi-VN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30123B4E-AEDB-A44E-7E4C-BADA3C139B4C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-38100"/>
              <a:ext cx="4687987" cy="26093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TextBox 6">
            <a:extLst>
              <a:ext uri="{FF2B5EF4-FFF2-40B4-BE49-F238E27FC236}">
                <a16:creationId xmlns:a16="http://schemas.microsoft.com/office/drawing/2014/main" id="{126D2DAE-E2D6-85DD-B3A1-6425286ECE2C}"/>
              </a:ext>
            </a:extLst>
          </p:cNvPr>
          <p:cNvSpPr txBox="1"/>
          <p:nvPr/>
        </p:nvSpPr>
        <p:spPr>
          <a:xfrm>
            <a:off x="1028700" y="1704715"/>
            <a:ext cx="10776078" cy="8135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606"/>
              </a:lnSpc>
            </a:pPr>
            <a:r>
              <a:rPr lang="en-US" sz="4719">
                <a:solidFill>
                  <a:srgbClr val="004AAD"/>
                </a:solidFill>
                <a:latin typeface="Noto Sans"/>
                <a:ea typeface="Noto Sans"/>
                <a:cs typeface="Noto Sans"/>
                <a:sym typeface="Noto Sans"/>
              </a:rPr>
              <a:t>Nhóm vận mẫu ghép của a,e,o (2)</a:t>
            </a:r>
          </a:p>
        </p:txBody>
      </p:sp>
      <p:grpSp>
        <p:nvGrpSpPr>
          <p:cNvPr id="7" name="Group 7">
            <a:extLst>
              <a:ext uri="{FF2B5EF4-FFF2-40B4-BE49-F238E27FC236}">
                <a16:creationId xmlns:a16="http://schemas.microsoft.com/office/drawing/2014/main" id="{E3FE4B06-0A5A-7225-A674-A6836E0F5B9D}"/>
              </a:ext>
            </a:extLst>
          </p:cNvPr>
          <p:cNvGrpSpPr/>
          <p:nvPr/>
        </p:nvGrpSpPr>
        <p:grpSpPr>
          <a:xfrm>
            <a:off x="6960973" y="2993264"/>
            <a:ext cx="2362200" cy="1749001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F5257A15-E992-5505-8CAD-3EC60465140C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3131">
                <a:alpha val="45882"/>
              </a:srgbClr>
            </a:solidFill>
          </p:spPr>
          <p:txBody>
            <a:bodyPr/>
            <a:lstStyle/>
            <a:p>
              <a:endParaRPr lang="vi-VN"/>
            </a:p>
          </p:txBody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EFA9D8BE-AB61-4664-BAF0-942A3A99CCB7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0" name="TextBox 10">
            <a:extLst>
              <a:ext uri="{FF2B5EF4-FFF2-40B4-BE49-F238E27FC236}">
                <a16:creationId xmlns:a16="http://schemas.microsoft.com/office/drawing/2014/main" id="{D8AC78B9-9342-A90C-5A0E-754FF360BB7F}"/>
              </a:ext>
            </a:extLst>
          </p:cNvPr>
          <p:cNvSpPr txBox="1"/>
          <p:nvPr/>
        </p:nvSpPr>
        <p:spPr>
          <a:xfrm>
            <a:off x="1023396" y="3016623"/>
            <a:ext cx="1928935" cy="15665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1" dirty="0">
                <a:solidFill>
                  <a:srgbClr val="004AAD"/>
                </a:solidFill>
                <a:latin typeface="Noto Sans"/>
                <a:ea typeface="Noto Sans"/>
                <a:cs typeface="Noto Sans"/>
                <a:sym typeface="Noto Sans"/>
              </a:rPr>
              <a:t>an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226732AD-85D1-66E1-41EB-680BB08CB00F}"/>
              </a:ext>
            </a:extLst>
          </p:cNvPr>
          <p:cNvSpPr txBox="1"/>
          <p:nvPr/>
        </p:nvSpPr>
        <p:spPr>
          <a:xfrm>
            <a:off x="6667153" y="3009593"/>
            <a:ext cx="2798186" cy="15665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1" dirty="0">
                <a:solidFill>
                  <a:srgbClr val="004AAD"/>
                </a:solidFill>
                <a:latin typeface="Noto Sans"/>
                <a:ea typeface="Noto Sans"/>
                <a:cs typeface="Noto Sans"/>
                <a:sym typeface="Noto Sans"/>
              </a:rPr>
              <a:t>ang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C149993A-1237-914D-97D5-9263B4AFDC89}"/>
              </a:ext>
            </a:extLst>
          </p:cNvPr>
          <p:cNvSpPr txBox="1"/>
          <p:nvPr/>
        </p:nvSpPr>
        <p:spPr>
          <a:xfrm>
            <a:off x="3925980" y="3009593"/>
            <a:ext cx="1560420" cy="15452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1" dirty="0" err="1">
                <a:solidFill>
                  <a:srgbClr val="004AAD"/>
                </a:solidFill>
                <a:latin typeface="Noto Sans"/>
                <a:ea typeface="Noto Sans"/>
                <a:cs typeface="Noto Sans"/>
                <a:sym typeface="Noto Sans"/>
              </a:rPr>
              <a:t>en</a:t>
            </a:r>
            <a:endParaRPr lang="en-US" sz="9200" b="1" dirty="0">
              <a:solidFill>
                <a:srgbClr val="004AAD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8297E267-D8E1-DC9B-7BDD-29AABA7A3EC7}"/>
              </a:ext>
            </a:extLst>
          </p:cNvPr>
          <p:cNvSpPr txBox="1"/>
          <p:nvPr/>
        </p:nvSpPr>
        <p:spPr>
          <a:xfrm>
            <a:off x="1102489" y="340665"/>
            <a:ext cx="4754166" cy="1193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 b="1">
                <a:solidFill>
                  <a:srgbClr val="D86666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I. Vận mẫu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230131E0-9393-1FE5-8D11-7079BC6C746C}"/>
              </a:ext>
            </a:extLst>
          </p:cNvPr>
          <p:cNvSpPr txBox="1"/>
          <p:nvPr/>
        </p:nvSpPr>
        <p:spPr>
          <a:xfrm>
            <a:off x="13583804" y="3009593"/>
            <a:ext cx="2904098" cy="15665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1" dirty="0" err="1">
                <a:solidFill>
                  <a:srgbClr val="004AAD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ong</a:t>
            </a:r>
            <a:endParaRPr lang="en-US" sz="9200" b="1" dirty="0">
              <a:solidFill>
                <a:srgbClr val="004AAD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DCB0BE24-3FCE-3943-13B5-8D6139222205}"/>
              </a:ext>
            </a:extLst>
          </p:cNvPr>
          <p:cNvSpPr txBox="1"/>
          <p:nvPr/>
        </p:nvSpPr>
        <p:spPr>
          <a:xfrm>
            <a:off x="10123791" y="3009593"/>
            <a:ext cx="2680875" cy="15665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1" dirty="0" err="1">
                <a:solidFill>
                  <a:srgbClr val="004AAD"/>
                </a:solidFill>
                <a:latin typeface="Noto Sans"/>
                <a:ea typeface="Noto Sans"/>
                <a:cs typeface="Noto Sans"/>
                <a:sym typeface="Noto Sans"/>
              </a:rPr>
              <a:t>eng</a:t>
            </a:r>
            <a:endParaRPr lang="en-US" sz="9200" b="1" dirty="0">
              <a:solidFill>
                <a:srgbClr val="004AAD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5EDADF5D-B336-5F1C-0015-E5C691C15CAE}"/>
              </a:ext>
            </a:extLst>
          </p:cNvPr>
          <p:cNvSpPr txBox="1"/>
          <p:nvPr/>
        </p:nvSpPr>
        <p:spPr>
          <a:xfrm>
            <a:off x="1600201" y="5521376"/>
            <a:ext cx="2819400" cy="13977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1801"/>
              </a:lnSpc>
            </a:pPr>
            <a:r>
              <a:rPr lang="en-US" altLang="zh-CN" sz="8429" dirty="0" err="1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gāng</a:t>
            </a:r>
            <a:r>
              <a:rPr lang="en-US" altLang="zh-CN" sz="8429" dirty="0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  </a:t>
            </a:r>
            <a:endParaRPr lang="en-US" sz="8429" dirty="0">
              <a:solidFill>
                <a:srgbClr val="000000"/>
              </a:solidFill>
              <a:latin typeface="DejaVu Serif"/>
              <a:ea typeface="DejaVu Serif"/>
              <a:cs typeface="DejaVu Serif"/>
              <a:sym typeface="DejaVu Serif"/>
            </a:endParaRP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5BEFE748-0C15-0A96-6A41-30F440058D6A}"/>
              </a:ext>
            </a:extLst>
          </p:cNvPr>
          <p:cNvSpPr txBox="1"/>
          <p:nvPr/>
        </p:nvSpPr>
        <p:spPr>
          <a:xfrm>
            <a:off x="1850073" y="7515258"/>
            <a:ext cx="3026727" cy="13977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1801"/>
              </a:lnSpc>
            </a:pPr>
            <a:r>
              <a:rPr lang="en-US" sz="8429" dirty="0" err="1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p</a:t>
            </a:r>
            <a:r>
              <a:rPr lang="en-US" altLang="zh-CN" sz="8429" dirty="0" err="1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àng</a:t>
            </a:r>
            <a:r>
              <a:rPr lang="en-US" altLang="zh-CN" sz="8429" dirty="0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 </a:t>
            </a:r>
            <a:endParaRPr lang="en-US" sz="8429" dirty="0">
              <a:solidFill>
                <a:srgbClr val="000000"/>
              </a:solidFill>
              <a:latin typeface="DejaVu Serif"/>
              <a:ea typeface="DejaVu Serif"/>
              <a:cs typeface="DejaVu Serif"/>
              <a:sym typeface="DejaVu Serif"/>
            </a:endParaRP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33B2B435-021E-E6FE-753C-F1407ABA5D90}"/>
              </a:ext>
            </a:extLst>
          </p:cNvPr>
          <p:cNvSpPr txBox="1"/>
          <p:nvPr/>
        </p:nvSpPr>
        <p:spPr>
          <a:xfrm>
            <a:off x="5486400" y="5521376"/>
            <a:ext cx="3352800" cy="13977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1801"/>
              </a:lnSpc>
            </a:pPr>
            <a:r>
              <a:rPr lang="en-US" altLang="zh-CN" sz="8429" dirty="0" err="1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kāng</a:t>
            </a:r>
            <a:r>
              <a:rPr lang="en-US" altLang="zh-CN" sz="8429" dirty="0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 </a:t>
            </a:r>
            <a:endParaRPr lang="en-US" sz="8429" dirty="0">
              <a:solidFill>
                <a:srgbClr val="000000"/>
              </a:solidFill>
              <a:latin typeface="DejaVu Serif"/>
              <a:ea typeface="DejaVu Serif"/>
              <a:cs typeface="DejaVu Serif"/>
              <a:sym typeface="DejaVu Serif"/>
            </a:endParaRP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F0D09EB3-BA31-DE81-1922-7E1CBCB2DBF4}"/>
              </a:ext>
            </a:extLst>
          </p:cNvPr>
          <p:cNvSpPr txBox="1"/>
          <p:nvPr/>
        </p:nvSpPr>
        <p:spPr>
          <a:xfrm>
            <a:off x="5486400" y="7515258"/>
            <a:ext cx="2895600" cy="13977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1801"/>
              </a:lnSpc>
            </a:pPr>
            <a:r>
              <a:rPr lang="en-US" altLang="zh-CN" sz="8429" dirty="0" err="1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táng</a:t>
            </a:r>
            <a:r>
              <a:rPr lang="en-US" altLang="zh-CN" sz="8429" dirty="0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 </a:t>
            </a:r>
            <a:endParaRPr lang="en-US" sz="8429" dirty="0">
              <a:solidFill>
                <a:srgbClr val="000000"/>
              </a:solidFill>
              <a:latin typeface="DejaVu Serif"/>
              <a:ea typeface="DejaVu Serif"/>
              <a:cs typeface="DejaVu Serif"/>
              <a:sym typeface="DejaVu Serif"/>
            </a:endParaRPr>
          </a:p>
        </p:txBody>
      </p:sp>
    </p:spTree>
    <p:extLst>
      <p:ext uri="{BB962C8B-B14F-4D97-AF65-F5344CB8AC3E}">
        <p14:creationId xmlns:p14="http://schemas.microsoft.com/office/powerpoint/2010/main" val="26009199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56513" y="262070"/>
            <a:ext cx="17799702" cy="9762861"/>
            <a:chOff x="0" y="0"/>
            <a:chExt cx="4687987" cy="257128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687987" cy="2571288"/>
            </a:xfrm>
            <a:custGeom>
              <a:avLst/>
              <a:gdLst/>
              <a:ahLst/>
              <a:cxnLst/>
              <a:rect l="l" t="t" r="r" b="b"/>
              <a:pathLst>
                <a:path w="4687987" h="2571288">
                  <a:moveTo>
                    <a:pt x="22182" y="0"/>
                  </a:moveTo>
                  <a:lnTo>
                    <a:pt x="4665805" y="0"/>
                  </a:lnTo>
                  <a:cubicBezTo>
                    <a:pt x="4671688" y="0"/>
                    <a:pt x="4677330" y="2337"/>
                    <a:pt x="4681491" y="6497"/>
                  </a:cubicBezTo>
                  <a:cubicBezTo>
                    <a:pt x="4685650" y="10657"/>
                    <a:pt x="4687987" y="16299"/>
                    <a:pt x="4687987" y="22182"/>
                  </a:cubicBezTo>
                  <a:lnTo>
                    <a:pt x="4687987" y="2549106"/>
                  </a:lnTo>
                  <a:cubicBezTo>
                    <a:pt x="4687987" y="2554989"/>
                    <a:pt x="4685650" y="2560631"/>
                    <a:pt x="4681491" y="2564791"/>
                  </a:cubicBezTo>
                  <a:cubicBezTo>
                    <a:pt x="4677330" y="2568951"/>
                    <a:pt x="4671688" y="2571288"/>
                    <a:pt x="4665805" y="2571288"/>
                  </a:cubicBezTo>
                  <a:lnTo>
                    <a:pt x="22182" y="2571288"/>
                  </a:lnTo>
                  <a:cubicBezTo>
                    <a:pt x="16299" y="2571288"/>
                    <a:pt x="10657" y="2568951"/>
                    <a:pt x="6497" y="2564791"/>
                  </a:cubicBezTo>
                  <a:cubicBezTo>
                    <a:pt x="2337" y="2560631"/>
                    <a:pt x="0" y="2554989"/>
                    <a:pt x="0" y="2549106"/>
                  </a:cubicBezTo>
                  <a:lnTo>
                    <a:pt x="0" y="22182"/>
                  </a:lnTo>
                  <a:cubicBezTo>
                    <a:pt x="0" y="16299"/>
                    <a:pt x="2337" y="10657"/>
                    <a:pt x="6497" y="6497"/>
                  </a:cubicBezTo>
                  <a:cubicBezTo>
                    <a:pt x="10657" y="2337"/>
                    <a:pt x="16299" y="0"/>
                    <a:pt x="22182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vi-V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687987" cy="26093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 rot="1484501">
            <a:off x="-374042" y="36871"/>
            <a:ext cx="2805485" cy="3856337"/>
          </a:xfrm>
          <a:custGeom>
            <a:avLst/>
            <a:gdLst/>
            <a:ahLst/>
            <a:cxnLst/>
            <a:rect l="l" t="t" r="r" b="b"/>
            <a:pathLst>
              <a:path w="2805485" h="3856337">
                <a:moveTo>
                  <a:pt x="0" y="0"/>
                </a:moveTo>
                <a:lnTo>
                  <a:pt x="2805484" y="0"/>
                </a:lnTo>
                <a:lnTo>
                  <a:pt x="2805484" y="3856337"/>
                </a:lnTo>
                <a:lnTo>
                  <a:pt x="0" y="385633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vi-VN"/>
          </a:p>
        </p:txBody>
      </p:sp>
      <p:sp>
        <p:nvSpPr>
          <p:cNvPr id="6" name="TextBox 6"/>
          <p:cNvSpPr txBox="1"/>
          <p:nvPr/>
        </p:nvSpPr>
        <p:spPr>
          <a:xfrm>
            <a:off x="2677879" y="664208"/>
            <a:ext cx="14960144" cy="1749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 b="1">
                <a:solidFill>
                  <a:srgbClr val="010101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Sự khác biệt trong cách phát âm vận mẫu âm mũi trước </a:t>
            </a:r>
            <a:r>
              <a:rPr lang="en-US" sz="5000" b="1">
                <a:solidFill>
                  <a:srgbClr val="C55354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n</a:t>
            </a:r>
            <a:r>
              <a:rPr lang="en-US" sz="5000" b="1">
                <a:solidFill>
                  <a:srgbClr val="010101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và vận mẫu âm mũi sau </a:t>
            </a:r>
            <a:r>
              <a:rPr lang="en-US" sz="5000" b="1">
                <a:solidFill>
                  <a:srgbClr val="C55354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ng</a:t>
            </a:r>
          </a:p>
        </p:txBody>
      </p:sp>
      <p:pic>
        <p:nvPicPr>
          <p:cNvPr id="8" name="Hình ảnh 7" descr="Ảnh có chứa văn bản&#10;&#10;Nội dung do AI tạo ra có thể không chính xác.">
            <a:extLst>
              <a:ext uri="{FF2B5EF4-FFF2-40B4-BE49-F238E27FC236}">
                <a16:creationId xmlns:a16="http://schemas.microsoft.com/office/drawing/2014/main" id="{55F3C0D0-5223-2D5F-7211-40F71F33CC6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6400" y="2815771"/>
            <a:ext cx="15392400" cy="692935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56F0E5-7E98-71F5-78B7-2E79FD7732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B717760F-9E97-5C09-B7BB-10C9CF8344D2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256513" y="262070"/>
            <a:ext cx="17799702" cy="9762861"/>
            <a:chOff x="0" y="0"/>
            <a:chExt cx="4687987" cy="2571288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62CD7811-863E-95D1-A31F-0CB1FE968A0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0"/>
              <a:ext cx="4687987" cy="2571288"/>
            </a:xfrm>
            <a:custGeom>
              <a:avLst/>
              <a:gdLst/>
              <a:ahLst/>
              <a:cxnLst/>
              <a:rect l="l" t="t" r="r" b="b"/>
              <a:pathLst>
                <a:path w="4687987" h="2571288">
                  <a:moveTo>
                    <a:pt x="22182" y="0"/>
                  </a:moveTo>
                  <a:lnTo>
                    <a:pt x="4665805" y="0"/>
                  </a:lnTo>
                  <a:cubicBezTo>
                    <a:pt x="4671688" y="0"/>
                    <a:pt x="4677330" y="2337"/>
                    <a:pt x="4681491" y="6497"/>
                  </a:cubicBezTo>
                  <a:cubicBezTo>
                    <a:pt x="4685650" y="10657"/>
                    <a:pt x="4687987" y="16299"/>
                    <a:pt x="4687987" y="22182"/>
                  </a:cubicBezTo>
                  <a:lnTo>
                    <a:pt x="4687987" y="2549106"/>
                  </a:lnTo>
                  <a:cubicBezTo>
                    <a:pt x="4687987" y="2554989"/>
                    <a:pt x="4685650" y="2560631"/>
                    <a:pt x="4681491" y="2564791"/>
                  </a:cubicBezTo>
                  <a:cubicBezTo>
                    <a:pt x="4677330" y="2568951"/>
                    <a:pt x="4671688" y="2571288"/>
                    <a:pt x="4665805" y="2571288"/>
                  </a:cubicBezTo>
                  <a:lnTo>
                    <a:pt x="22182" y="2571288"/>
                  </a:lnTo>
                  <a:cubicBezTo>
                    <a:pt x="16299" y="2571288"/>
                    <a:pt x="10657" y="2568951"/>
                    <a:pt x="6497" y="2564791"/>
                  </a:cubicBezTo>
                  <a:cubicBezTo>
                    <a:pt x="2337" y="2560631"/>
                    <a:pt x="0" y="2554989"/>
                    <a:pt x="0" y="2549106"/>
                  </a:cubicBezTo>
                  <a:lnTo>
                    <a:pt x="0" y="22182"/>
                  </a:lnTo>
                  <a:cubicBezTo>
                    <a:pt x="0" y="16299"/>
                    <a:pt x="2337" y="10657"/>
                    <a:pt x="6497" y="6497"/>
                  </a:cubicBezTo>
                  <a:cubicBezTo>
                    <a:pt x="10657" y="2337"/>
                    <a:pt x="16299" y="0"/>
                    <a:pt x="22182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vi-VN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00C534AE-DA76-4B0D-0CCC-C13A59C08422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-38100"/>
              <a:ext cx="4687987" cy="26093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TextBox 6">
            <a:extLst>
              <a:ext uri="{FF2B5EF4-FFF2-40B4-BE49-F238E27FC236}">
                <a16:creationId xmlns:a16="http://schemas.microsoft.com/office/drawing/2014/main" id="{AE5D6029-A1AE-492E-9F47-8BED26468E3D}"/>
              </a:ext>
            </a:extLst>
          </p:cNvPr>
          <p:cNvSpPr txBox="1"/>
          <p:nvPr/>
        </p:nvSpPr>
        <p:spPr>
          <a:xfrm>
            <a:off x="1028700" y="1704715"/>
            <a:ext cx="10776078" cy="8135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606"/>
              </a:lnSpc>
            </a:pPr>
            <a:r>
              <a:rPr lang="en-US" sz="4719">
                <a:solidFill>
                  <a:srgbClr val="004AAD"/>
                </a:solidFill>
                <a:latin typeface="Noto Sans"/>
                <a:ea typeface="Noto Sans"/>
                <a:cs typeface="Noto Sans"/>
                <a:sym typeface="Noto Sans"/>
              </a:rPr>
              <a:t>Nhóm vận mẫu ghép của a,e,o (2)</a:t>
            </a:r>
          </a:p>
        </p:txBody>
      </p:sp>
      <p:grpSp>
        <p:nvGrpSpPr>
          <p:cNvPr id="7" name="Group 7">
            <a:extLst>
              <a:ext uri="{FF2B5EF4-FFF2-40B4-BE49-F238E27FC236}">
                <a16:creationId xmlns:a16="http://schemas.microsoft.com/office/drawing/2014/main" id="{C1852B85-15D5-9706-9BEF-E8C1A7AC1CA1}"/>
              </a:ext>
            </a:extLst>
          </p:cNvPr>
          <p:cNvGrpSpPr/>
          <p:nvPr/>
        </p:nvGrpSpPr>
        <p:grpSpPr>
          <a:xfrm>
            <a:off x="10287000" y="3067298"/>
            <a:ext cx="2404723" cy="1599277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D3C7EB37-C9B7-7AF0-1BED-1A85F0B4DE6E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3131">
                <a:alpha val="45882"/>
              </a:srgbClr>
            </a:solidFill>
          </p:spPr>
          <p:txBody>
            <a:bodyPr/>
            <a:lstStyle/>
            <a:p>
              <a:endParaRPr lang="vi-VN"/>
            </a:p>
          </p:txBody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9DDE4EDD-DDE9-B7B7-DFA5-3BD80FB9787F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0" name="TextBox 10">
            <a:extLst>
              <a:ext uri="{FF2B5EF4-FFF2-40B4-BE49-F238E27FC236}">
                <a16:creationId xmlns:a16="http://schemas.microsoft.com/office/drawing/2014/main" id="{26024AAE-5C2D-77D0-A20E-38553E6C8924}"/>
              </a:ext>
            </a:extLst>
          </p:cNvPr>
          <p:cNvSpPr txBox="1"/>
          <p:nvPr/>
        </p:nvSpPr>
        <p:spPr>
          <a:xfrm>
            <a:off x="1023396" y="3016623"/>
            <a:ext cx="1928935" cy="15665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1" dirty="0">
                <a:solidFill>
                  <a:srgbClr val="004AAD"/>
                </a:solidFill>
                <a:latin typeface="Noto Sans"/>
                <a:ea typeface="Noto Sans"/>
                <a:cs typeface="Noto Sans"/>
                <a:sym typeface="Noto Sans"/>
              </a:rPr>
              <a:t>an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D2459C2B-2DB3-AB3E-36CC-42E3BEBC9854}"/>
              </a:ext>
            </a:extLst>
          </p:cNvPr>
          <p:cNvSpPr txBox="1"/>
          <p:nvPr/>
        </p:nvSpPr>
        <p:spPr>
          <a:xfrm>
            <a:off x="6667153" y="3009593"/>
            <a:ext cx="2798186" cy="15665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1" dirty="0">
                <a:solidFill>
                  <a:srgbClr val="004AAD"/>
                </a:solidFill>
                <a:latin typeface="Noto Sans"/>
                <a:ea typeface="Noto Sans"/>
                <a:cs typeface="Noto Sans"/>
                <a:sym typeface="Noto Sans"/>
              </a:rPr>
              <a:t>ang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1EA2D341-C300-1EF7-5ACE-4E65AC66BAE7}"/>
              </a:ext>
            </a:extLst>
          </p:cNvPr>
          <p:cNvSpPr txBox="1"/>
          <p:nvPr/>
        </p:nvSpPr>
        <p:spPr>
          <a:xfrm>
            <a:off x="3925980" y="3009593"/>
            <a:ext cx="1560420" cy="15452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1" dirty="0" err="1">
                <a:solidFill>
                  <a:srgbClr val="004AAD"/>
                </a:solidFill>
                <a:latin typeface="Noto Sans"/>
                <a:ea typeface="Noto Sans"/>
                <a:cs typeface="Noto Sans"/>
                <a:sym typeface="Noto Sans"/>
              </a:rPr>
              <a:t>en</a:t>
            </a:r>
            <a:endParaRPr lang="en-US" sz="9200" b="1" dirty="0">
              <a:solidFill>
                <a:srgbClr val="004AAD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9D3AF354-A718-82F2-F8E6-1FB1A9CBA2C1}"/>
              </a:ext>
            </a:extLst>
          </p:cNvPr>
          <p:cNvSpPr txBox="1"/>
          <p:nvPr/>
        </p:nvSpPr>
        <p:spPr>
          <a:xfrm>
            <a:off x="1102489" y="340665"/>
            <a:ext cx="4754166" cy="1193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 b="1">
                <a:solidFill>
                  <a:srgbClr val="D86666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I. Vận mẫu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E625170C-8954-3B64-829B-74E4A65361D9}"/>
              </a:ext>
            </a:extLst>
          </p:cNvPr>
          <p:cNvSpPr txBox="1"/>
          <p:nvPr/>
        </p:nvSpPr>
        <p:spPr>
          <a:xfrm>
            <a:off x="13583804" y="3009593"/>
            <a:ext cx="2904098" cy="15665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1" dirty="0" err="1">
                <a:solidFill>
                  <a:srgbClr val="004AAD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ong</a:t>
            </a:r>
            <a:endParaRPr lang="en-US" sz="9200" b="1" dirty="0">
              <a:solidFill>
                <a:srgbClr val="004AAD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EAE73EE5-D4A1-444B-082E-CD8BB61E9592}"/>
              </a:ext>
            </a:extLst>
          </p:cNvPr>
          <p:cNvSpPr txBox="1"/>
          <p:nvPr/>
        </p:nvSpPr>
        <p:spPr>
          <a:xfrm>
            <a:off x="10123791" y="3009593"/>
            <a:ext cx="2680875" cy="15665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1" dirty="0" err="1">
                <a:solidFill>
                  <a:srgbClr val="004AAD"/>
                </a:solidFill>
                <a:latin typeface="Noto Sans"/>
                <a:ea typeface="Noto Sans"/>
                <a:cs typeface="Noto Sans"/>
                <a:sym typeface="Noto Sans"/>
              </a:rPr>
              <a:t>eng</a:t>
            </a:r>
            <a:endParaRPr lang="en-US" sz="9200" b="1" dirty="0">
              <a:solidFill>
                <a:srgbClr val="004AAD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2B2604BD-AC52-42FB-D78E-2220D017FAE9}"/>
              </a:ext>
            </a:extLst>
          </p:cNvPr>
          <p:cNvSpPr txBox="1"/>
          <p:nvPr/>
        </p:nvSpPr>
        <p:spPr>
          <a:xfrm>
            <a:off x="1661408" y="5572737"/>
            <a:ext cx="3636327" cy="13977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1801"/>
              </a:lnSpc>
            </a:pPr>
            <a:r>
              <a:rPr lang="en-US" altLang="zh-CN" sz="8429" dirty="0" err="1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lěng</a:t>
            </a:r>
            <a:r>
              <a:rPr lang="en-US" altLang="zh-CN" sz="8429" dirty="0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 </a:t>
            </a:r>
            <a:endParaRPr lang="en-US" sz="8429" dirty="0">
              <a:solidFill>
                <a:srgbClr val="000000"/>
              </a:solidFill>
              <a:latin typeface="DejaVu Serif"/>
              <a:ea typeface="DejaVu Serif"/>
              <a:cs typeface="DejaVu Serif"/>
              <a:sym typeface="DejaVu Serif"/>
            </a:endParaRP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BD69A754-E5E0-13F9-7B92-CD637F51FA8D}"/>
              </a:ext>
            </a:extLst>
          </p:cNvPr>
          <p:cNvSpPr txBox="1"/>
          <p:nvPr/>
        </p:nvSpPr>
        <p:spPr>
          <a:xfrm>
            <a:off x="1850073" y="7515258"/>
            <a:ext cx="3636327" cy="13977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1801"/>
              </a:lnSpc>
            </a:pPr>
            <a:r>
              <a:rPr lang="en-US" altLang="zh-CN" sz="8429" dirty="0" err="1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gēng</a:t>
            </a:r>
            <a:r>
              <a:rPr lang="en-US" altLang="zh-CN" sz="8429" dirty="0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 </a:t>
            </a:r>
            <a:endParaRPr lang="en-US" sz="8429" dirty="0">
              <a:solidFill>
                <a:srgbClr val="000000"/>
              </a:solidFill>
              <a:latin typeface="DejaVu Serif"/>
              <a:ea typeface="DejaVu Serif"/>
              <a:cs typeface="DejaVu Serif"/>
              <a:sym typeface="DejaVu Serif"/>
            </a:endParaRP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99E061EF-B5ED-BE4E-C7CB-1DDC1EC9B414}"/>
              </a:ext>
            </a:extLst>
          </p:cNvPr>
          <p:cNvSpPr txBox="1"/>
          <p:nvPr/>
        </p:nvSpPr>
        <p:spPr>
          <a:xfrm>
            <a:off x="7505700" y="5478669"/>
            <a:ext cx="3276600" cy="13977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1801"/>
              </a:lnSpc>
            </a:pPr>
            <a:r>
              <a:rPr lang="en-US" altLang="zh-CN" sz="8429" dirty="0" err="1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mèng</a:t>
            </a:r>
            <a:r>
              <a:rPr lang="en-US" altLang="zh-CN" sz="8429" dirty="0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 </a:t>
            </a:r>
            <a:endParaRPr lang="en-US" sz="8429" dirty="0">
              <a:solidFill>
                <a:srgbClr val="000000"/>
              </a:solidFill>
              <a:latin typeface="DejaVu Serif"/>
              <a:ea typeface="DejaVu Serif"/>
              <a:cs typeface="DejaVu Serif"/>
              <a:sym typeface="DejaVu Serif"/>
            </a:endParaRP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01827871-C6E9-584E-2392-4697BC090FDC}"/>
              </a:ext>
            </a:extLst>
          </p:cNvPr>
          <p:cNvSpPr txBox="1"/>
          <p:nvPr/>
        </p:nvSpPr>
        <p:spPr>
          <a:xfrm>
            <a:off x="7532914" y="7498407"/>
            <a:ext cx="2971800" cy="13977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1801"/>
              </a:lnSpc>
            </a:pPr>
            <a:r>
              <a:rPr lang="en-US" altLang="zh-CN" sz="8429" dirty="0" err="1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fēng</a:t>
            </a:r>
            <a:r>
              <a:rPr lang="en-US" altLang="zh-CN" sz="8429" dirty="0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 </a:t>
            </a:r>
            <a:endParaRPr lang="en-US" sz="8429" dirty="0">
              <a:solidFill>
                <a:srgbClr val="000000"/>
              </a:solidFill>
              <a:latin typeface="DejaVu Serif"/>
              <a:ea typeface="DejaVu Serif"/>
              <a:cs typeface="DejaVu Serif"/>
              <a:sym typeface="DejaVu Serif"/>
            </a:endParaRPr>
          </a:p>
        </p:txBody>
      </p:sp>
    </p:spTree>
    <p:extLst>
      <p:ext uri="{BB962C8B-B14F-4D97-AF65-F5344CB8AC3E}">
        <p14:creationId xmlns:p14="http://schemas.microsoft.com/office/powerpoint/2010/main" val="36514582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A9AFBF-996E-BF01-874F-BDA894203D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1BE51216-8D0B-4C1B-CBF6-668FC2DC901E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256513" y="262070"/>
            <a:ext cx="17799702" cy="9762861"/>
            <a:chOff x="0" y="0"/>
            <a:chExt cx="4687987" cy="2571288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CEA9FB7E-8D2E-F8B3-3F62-F78B6A1395B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0"/>
              <a:ext cx="4687987" cy="2571288"/>
            </a:xfrm>
            <a:custGeom>
              <a:avLst/>
              <a:gdLst/>
              <a:ahLst/>
              <a:cxnLst/>
              <a:rect l="l" t="t" r="r" b="b"/>
              <a:pathLst>
                <a:path w="4687987" h="2571288">
                  <a:moveTo>
                    <a:pt x="22182" y="0"/>
                  </a:moveTo>
                  <a:lnTo>
                    <a:pt x="4665805" y="0"/>
                  </a:lnTo>
                  <a:cubicBezTo>
                    <a:pt x="4671688" y="0"/>
                    <a:pt x="4677330" y="2337"/>
                    <a:pt x="4681491" y="6497"/>
                  </a:cubicBezTo>
                  <a:cubicBezTo>
                    <a:pt x="4685650" y="10657"/>
                    <a:pt x="4687987" y="16299"/>
                    <a:pt x="4687987" y="22182"/>
                  </a:cubicBezTo>
                  <a:lnTo>
                    <a:pt x="4687987" y="2549106"/>
                  </a:lnTo>
                  <a:cubicBezTo>
                    <a:pt x="4687987" y="2554989"/>
                    <a:pt x="4685650" y="2560631"/>
                    <a:pt x="4681491" y="2564791"/>
                  </a:cubicBezTo>
                  <a:cubicBezTo>
                    <a:pt x="4677330" y="2568951"/>
                    <a:pt x="4671688" y="2571288"/>
                    <a:pt x="4665805" y="2571288"/>
                  </a:cubicBezTo>
                  <a:lnTo>
                    <a:pt x="22182" y="2571288"/>
                  </a:lnTo>
                  <a:cubicBezTo>
                    <a:pt x="16299" y="2571288"/>
                    <a:pt x="10657" y="2568951"/>
                    <a:pt x="6497" y="2564791"/>
                  </a:cubicBezTo>
                  <a:cubicBezTo>
                    <a:pt x="2337" y="2560631"/>
                    <a:pt x="0" y="2554989"/>
                    <a:pt x="0" y="2549106"/>
                  </a:cubicBezTo>
                  <a:lnTo>
                    <a:pt x="0" y="22182"/>
                  </a:lnTo>
                  <a:cubicBezTo>
                    <a:pt x="0" y="16299"/>
                    <a:pt x="2337" y="10657"/>
                    <a:pt x="6497" y="6497"/>
                  </a:cubicBezTo>
                  <a:cubicBezTo>
                    <a:pt x="10657" y="2337"/>
                    <a:pt x="16299" y="0"/>
                    <a:pt x="22182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vi-VN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EEF04C02-073D-4134-D37F-86B0BF36824F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-38100"/>
              <a:ext cx="4687987" cy="26093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TextBox 6">
            <a:extLst>
              <a:ext uri="{FF2B5EF4-FFF2-40B4-BE49-F238E27FC236}">
                <a16:creationId xmlns:a16="http://schemas.microsoft.com/office/drawing/2014/main" id="{84B32E25-46C6-266F-8059-0558B829CC2D}"/>
              </a:ext>
            </a:extLst>
          </p:cNvPr>
          <p:cNvSpPr txBox="1"/>
          <p:nvPr/>
        </p:nvSpPr>
        <p:spPr>
          <a:xfrm>
            <a:off x="1028700" y="1704715"/>
            <a:ext cx="10776078" cy="8135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606"/>
              </a:lnSpc>
            </a:pPr>
            <a:r>
              <a:rPr lang="en-US" sz="4719">
                <a:solidFill>
                  <a:srgbClr val="004AAD"/>
                </a:solidFill>
                <a:latin typeface="Noto Sans"/>
                <a:ea typeface="Noto Sans"/>
                <a:cs typeface="Noto Sans"/>
                <a:sym typeface="Noto Sans"/>
              </a:rPr>
              <a:t>Nhóm vận mẫu ghép của a,e,o (2)</a:t>
            </a:r>
          </a:p>
        </p:txBody>
      </p:sp>
      <p:grpSp>
        <p:nvGrpSpPr>
          <p:cNvPr id="7" name="Group 7">
            <a:extLst>
              <a:ext uri="{FF2B5EF4-FFF2-40B4-BE49-F238E27FC236}">
                <a16:creationId xmlns:a16="http://schemas.microsoft.com/office/drawing/2014/main" id="{08FB54F9-A27A-235D-06D5-9C6F52C1566F}"/>
              </a:ext>
            </a:extLst>
          </p:cNvPr>
          <p:cNvGrpSpPr/>
          <p:nvPr/>
        </p:nvGrpSpPr>
        <p:grpSpPr>
          <a:xfrm>
            <a:off x="13833491" y="3121521"/>
            <a:ext cx="2404723" cy="1599277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93E5EF1D-1E62-BBC9-4051-9DE31683F6A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3131">
                <a:alpha val="45882"/>
              </a:srgbClr>
            </a:solidFill>
          </p:spPr>
          <p:txBody>
            <a:bodyPr/>
            <a:lstStyle/>
            <a:p>
              <a:endParaRPr lang="vi-VN" dirty="0"/>
            </a:p>
          </p:txBody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613FD496-B3B9-3EA3-5FD8-AD1947D021B9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0" name="TextBox 10">
            <a:extLst>
              <a:ext uri="{FF2B5EF4-FFF2-40B4-BE49-F238E27FC236}">
                <a16:creationId xmlns:a16="http://schemas.microsoft.com/office/drawing/2014/main" id="{80C6DC86-6AEF-8241-89CB-0430CCD40165}"/>
              </a:ext>
            </a:extLst>
          </p:cNvPr>
          <p:cNvSpPr txBox="1"/>
          <p:nvPr/>
        </p:nvSpPr>
        <p:spPr>
          <a:xfrm>
            <a:off x="1023396" y="3016623"/>
            <a:ext cx="1928935" cy="15665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1" dirty="0">
                <a:solidFill>
                  <a:srgbClr val="004AAD"/>
                </a:solidFill>
                <a:latin typeface="Noto Sans"/>
                <a:ea typeface="Noto Sans"/>
                <a:cs typeface="Noto Sans"/>
                <a:sym typeface="Noto Sans"/>
              </a:rPr>
              <a:t>an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A464BD4D-961D-4FCE-57EB-3AA3E1445505}"/>
              </a:ext>
            </a:extLst>
          </p:cNvPr>
          <p:cNvSpPr txBox="1"/>
          <p:nvPr/>
        </p:nvSpPr>
        <p:spPr>
          <a:xfrm>
            <a:off x="6667153" y="3009593"/>
            <a:ext cx="2798186" cy="15665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1" dirty="0">
                <a:solidFill>
                  <a:srgbClr val="004AAD"/>
                </a:solidFill>
                <a:latin typeface="Noto Sans"/>
                <a:ea typeface="Noto Sans"/>
                <a:cs typeface="Noto Sans"/>
                <a:sym typeface="Noto Sans"/>
              </a:rPr>
              <a:t>ang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294448E6-676A-FC9E-8CC3-1639BB7F99E0}"/>
              </a:ext>
            </a:extLst>
          </p:cNvPr>
          <p:cNvSpPr txBox="1"/>
          <p:nvPr/>
        </p:nvSpPr>
        <p:spPr>
          <a:xfrm>
            <a:off x="3925980" y="3009593"/>
            <a:ext cx="1560420" cy="15452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1" dirty="0" err="1">
                <a:solidFill>
                  <a:srgbClr val="004AAD"/>
                </a:solidFill>
                <a:latin typeface="Noto Sans"/>
                <a:ea typeface="Noto Sans"/>
                <a:cs typeface="Noto Sans"/>
                <a:sym typeface="Noto Sans"/>
              </a:rPr>
              <a:t>en</a:t>
            </a:r>
            <a:endParaRPr lang="en-US" sz="9200" b="1" dirty="0">
              <a:solidFill>
                <a:srgbClr val="004AAD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DB1CFF69-B481-1C33-E3AA-F1370D1C0967}"/>
              </a:ext>
            </a:extLst>
          </p:cNvPr>
          <p:cNvSpPr txBox="1"/>
          <p:nvPr/>
        </p:nvSpPr>
        <p:spPr>
          <a:xfrm>
            <a:off x="1102489" y="340665"/>
            <a:ext cx="4754166" cy="1193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 b="1">
                <a:solidFill>
                  <a:srgbClr val="D86666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I. Vận mẫu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33800A2C-7A54-88FC-6B1A-32398E12493C}"/>
              </a:ext>
            </a:extLst>
          </p:cNvPr>
          <p:cNvSpPr txBox="1"/>
          <p:nvPr/>
        </p:nvSpPr>
        <p:spPr>
          <a:xfrm>
            <a:off x="13583804" y="3009593"/>
            <a:ext cx="2904098" cy="15665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1" dirty="0" err="1">
                <a:solidFill>
                  <a:srgbClr val="004AAD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ong</a:t>
            </a:r>
            <a:endParaRPr lang="en-US" sz="9200" b="1" dirty="0">
              <a:solidFill>
                <a:srgbClr val="004AAD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5D34DA2F-A3FF-BE40-C4A6-6306C8443D67}"/>
              </a:ext>
            </a:extLst>
          </p:cNvPr>
          <p:cNvSpPr txBox="1"/>
          <p:nvPr/>
        </p:nvSpPr>
        <p:spPr>
          <a:xfrm>
            <a:off x="10123791" y="3009593"/>
            <a:ext cx="2680875" cy="15665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1" dirty="0" err="1">
                <a:solidFill>
                  <a:srgbClr val="004AAD"/>
                </a:solidFill>
                <a:latin typeface="Noto Sans"/>
                <a:ea typeface="Noto Sans"/>
                <a:cs typeface="Noto Sans"/>
                <a:sym typeface="Noto Sans"/>
              </a:rPr>
              <a:t>eng</a:t>
            </a:r>
            <a:endParaRPr lang="en-US" sz="9200" b="1" dirty="0">
              <a:solidFill>
                <a:srgbClr val="004AAD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44879B3F-B12A-4370-5D9F-DCCFED5BD58A}"/>
              </a:ext>
            </a:extLst>
          </p:cNvPr>
          <p:cNvSpPr txBox="1"/>
          <p:nvPr/>
        </p:nvSpPr>
        <p:spPr>
          <a:xfrm>
            <a:off x="1661408" y="5572737"/>
            <a:ext cx="3636327" cy="13977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1801"/>
              </a:lnSpc>
            </a:pPr>
            <a:r>
              <a:rPr lang="en-US" altLang="zh-CN" sz="8429" dirty="0" err="1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dǒng</a:t>
            </a:r>
            <a:r>
              <a:rPr lang="en-US" altLang="zh-CN" sz="8429" dirty="0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 </a:t>
            </a:r>
            <a:endParaRPr lang="en-US" sz="8429" dirty="0">
              <a:solidFill>
                <a:srgbClr val="000000"/>
              </a:solidFill>
              <a:latin typeface="DejaVu Serif"/>
              <a:ea typeface="DejaVu Serif"/>
              <a:cs typeface="DejaVu Serif"/>
              <a:sym typeface="DejaVu Serif"/>
            </a:endParaRP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8948ABAF-1499-D310-D3F1-7EE2DE70A817}"/>
              </a:ext>
            </a:extLst>
          </p:cNvPr>
          <p:cNvSpPr txBox="1"/>
          <p:nvPr/>
        </p:nvSpPr>
        <p:spPr>
          <a:xfrm>
            <a:off x="1850073" y="7515258"/>
            <a:ext cx="3636327" cy="13977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1801"/>
              </a:lnSpc>
            </a:pPr>
            <a:r>
              <a:rPr lang="vi-VN" altLang="zh-CN" sz="8429" dirty="0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hóng</a:t>
            </a:r>
            <a:r>
              <a:rPr lang="en-US" altLang="zh-CN" sz="8429" dirty="0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 </a:t>
            </a:r>
            <a:endParaRPr lang="en-US" sz="8429" dirty="0">
              <a:solidFill>
                <a:srgbClr val="000000"/>
              </a:solidFill>
              <a:latin typeface="DejaVu Serif"/>
              <a:ea typeface="DejaVu Serif"/>
              <a:cs typeface="DejaVu Serif"/>
              <a:sym typeface="DejaVu Serif"/>
            </a:endParaRP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3D91A79A-DB56-C197-B19B-2DBA87F29C1D}"/>
              </a:ext>
            </a:extLst>
          </p:cNvPr>
          <p:cNvSpPr txBox="1"/>
          <p:nvPr/>
        </p:nvSpPr>
        <p:spPr>
          <a:xfrm>
            <a:off x="7505700" y="5478669"/>
            <a:ext cx="3276600" cy="13977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1801"/>
              </a:lnSpc>
            </a:pPr>
            <a:r>
              <a:rPr lang="en-US" altLang="zh-CN" sz="8429" dirty="0" err="1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kòng</a:t>
            </a:r>
            <a:r>
              <a:rPr lang="en-US" altLang="zh-CN" sz="8429" dirty="0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 </a:t>
            </a:r>
            <a:endParaRPr lang="en-US" sz="8429" dirty="0">
              <a:solidFill>
                <a:srgbClr val="000000"/>
              </a:solidFill>
              <a:latin typeface="DejaVu Serif"/>
              <a:ea typeface="DejaVu Serif"/>
              <a:cs typeface="DejaVu Serif"/>
              <a:sym typeface="DejaVu Serif"/>
            </a:endParaRP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A1919E8E-B67F-1CD9-A214-6FA57ED26D5B}"/>
              </a:ext>
            </a:extLst>
          </p:cNvPr>
          <p:cNvSpPr txBox="1"/>
          <p:nvPr/>
        </p:nvSpPr>
        <p:spPr>
          <a:xfrm>
            <a:off x="7532914" y="7498407"/>
            <a:ext cx="2971800" cy="13977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1801"/>
              </a:lnSpc>
            </a:pPr>
            <a:r>
              <a:rPr lang="en-US" altLang="zh-CN" sz="8429" dirty="0" err="1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lóng</a:t>
            </a:r>
            <a:r>
              <a:rPr lang="en-US" altLang="zh-CN" sz="8429" dirty="0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 </a:t>
            </a:r>
            <a:endParaRPr lang="en-US" sz="8429" dirty="0">
              <a:solidFill>
                <a:srgbClr val="000000"/>
              </a:solidFill>
              <a:latin typeface="DejaVu Serif"/>
              <a:ea typeface="DejaVu Serif"/>
              <a:cs typeface="DejaVu Serif"/>
              <a:sym typeface="DejaVu Serif"/>
            </a:endParaRPr>
          </a:p>
        </p:txBody>
      </p:sp>
    </p:spTree>
    <p:extLst>
      <p:ext uri="{BB962C8B-B14F-4D97-AF65-F5344CB8AC3E}">
        <p14:creationId xmlns:p14="http://schemas.microsoft.com/office/powerpoint/2010/main" val="8325636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56513" y="262070"/>
            <a:ext cx="17799702" cy="9762861"/>
            <a:chOff x="0" y="0"/>
            <a:chExt cx="4687987" cy="257128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687987" cy="2571288"/>
            </a:xfrm>
            <a:custGeom>
              <a:avLst/>
              <a:gdLst/>
              <a:ahLst/>
              <a:cxnLst/>
              <a:rect l="l" t="t" r="r" b="b"/>
              <a:pathLst>
                <a:path w="4687987" h="2571288">
                  <a:moveTo>
                    <a:pt x="22182" y="0"/>
                  </a:moveTo>
                  <a:lnTo>
                    <a:pt x="4665805" y="0"/>
                  </a:lnTo>
                  <a:cubicBezTo>
                    <a:pt x="4671688" y="0"/>
                    <a:pt x="4677330" y="2337"/>
                    <a:pt x="4681491" y="6497"/>
                  </a:cubicBezTo>
                  <a:cubicBezTo>
                    <a:pt x="4685650" y="10657"/>
                    <a:pt x="4687987" y="16299"/>
                    <a:pt x="4687987" y="22182"/>
                  </a:cubicBezTo>
                  <a:lnTo>
                    <a:pt x="4687987" y="2549106"/>
                  </a:lnTo>
                  <a:cubicBezTo>
                    <a:pt x="4687987" y="2554989"/>
                    <a:pt x="4685650" y="2560631"/>
                    <a:pt x="4681491" y="2564791"/>
                  </a:cubicBezTo>
                  <a:cubicBezTo>
                    <a:pt x="4677330" y="2568951"/>
                    <a:pt x="4671688" y="2571288"/>
                    <a:pt x="4665805" y="2571288"/>
                  </a:cubicBezTo>
                  <a:lnTo>
                    <a:pt x="22182" y="2571288"/>
                  </a:lnTo>
                  <a:cubicBezTo>
                    <a:pt x="16299" y="2571288"/>
                    <a:pt x="10657" y="2568951"/>
                    <a:pt x="6497" y="2564791"/>
                  </a:cubicBezTo>
                  <a:cubicBezTo>
                    <a:pt x="2337" y="2560631"/>
                    <a:pt x="0" y="2554989"/>
                    <a:pt x="0" y="2549106"/>
                  </a:cubicBezTo>
                  <a:lnTo>
                    <a:pt x="0" y="22182"/>
                  </a:lnTo>
                  <a:cubicBezTo>
                    <a:pt x="0" y="16299"/>
                    <a:pt x="2337" y="10657"/>
                    <a:pt x="6497" y="6497"/>
                  </a:cubicBezTo>
                  <a:cubicBezTo>
                    <a:pt x="10657" y="2337"/>
                    <a:pt x="16299" y="0"/>
                    <a:pt x="22182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vi-V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687987" cy="26093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1558497" y="3195826"/>
            <a:ext cx="1290184" cy="1290184"/>
          </a:xfrm>
          <a:custGeom>
            <a:avLst/>
            <a:gdLst/>
            <a:ahLst/>
            <a:cxnLst/>
            <a:rect l="l" t="t" r="r" b="b"/>
            <a:pathLst>
              <a:path w="1290184" h="1290184">
                <a:moveTo>
                  <a:pt x="0" y="0"/>
                </a:moveTo>
                <a:lnTo>
                  <a:pt x="1290184" y="0"/>
                </a:lnTo>
                <a:lnTo>
                  <a:pt x="1290184" y="1290185"/>
                </a:lnTo>
                <a:lnTo>
                  <a:pt x="0" y="129018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vi-VN"/>
          </a:p>
        </p:txBody>
      </p:sp>
      <p:sp>
        <p:nvSpPr>
          <p:cNvPr id="6" name="TextBox 6"/>
          <p:cNvSpPr txBox="1"/>
          <p:nvPr/>
        </p:nvSpPr>
        <p:spPr>
          <a:xfrm>
            <a:off x="1028700" y="1704715"/>
            <a:ext cx="10776078" cy="8135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606"/>
              </a:lnSpc>
            </a:pPr>
            <a:r>
              <a:rPr lang="en-US" sz="4719" dirty="0" err="1">
                <a:solidFill>
                  <a:srgbClr val="004AAD"/>
                </a:solidFill>
                <a:latin typeface="Noto Sans"/>
                <a:ea typeface="Noto Sans"/>
                <a:cs typeface="Noto Sans"/>
                <a:sym typeface="Noto Sans"/>
              </a:rPr>
              <a:t>Nhóm</a:t>
            </a:r>
            <a:r>
              <a:rPr lang="en-US" sz="4719" dirty="0">
                <a:solidFill>
                  <a:srgbClr val="004AAD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4719" dirty="0" err="1">
                <a:solidFill>
                  <a:srgbClr val="004AAD"/>
                </a:solidFill>
                <a:latin typeface="Noto Sans"/>
                <a:ea typeface="Noto Sans"/>
                <a:cs typeface="Noto Sans"/>
                <a:sym typeface="Noto Sans"/>
              </a:rPr>
              <a:t>vận</a:t>
            </a:r>
            <a:r>
              <a:rPr lang="en-US" sz="4719" dirty="0">
                <a:solidFill>
                  <a:srgbClr val="004AAD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4719" dirty="0" err="1">
                <a:solidFill>
                  <a:srgbClr val="004AAD"/>
                </a:solidFill>
                <a:latin typeface="Noto Sans"/>
                <a:ea typeface="Noto Sans"/>
                <a:cs typeface="Noto Sans"/>
                <a:sym typeface="Noto Sans"/>
              </a:rPr>
              <a:t>mẫu</a:t>
            </a:r>
            <a:r>
              <a:rPr lang="en-US" sz="4719" dirty="0">
                <a:solidFill>
                  <a:srgbClr val="004AAD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4719" dirty="0" err="1">
                <a:solidFill>
                  <a:srgbClr val="004AAD"/>
                </a:solidFill>
                <a:latin typeface="Noto Sans"/>
                <a:ea typeface="Noto Sans"/>
                <a:cs typeface="Noto Sans"/>
                <a:sym typeface="Noto Sans"/>
              </a:rPr>
              <a:t>ghép</a:t>
            </a:r>
            <a:r>
              <a:rPr lang="en-US" sz="4719" dirty="0">
                <a:solidFill>
                  <a:srgbClr val="004AAD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4719" dirty="0" err="1">
                <a:solidFill>
                  <a:srgbClr val="004AAD"/>
                </a:solidFill>
                <a:latin typeface="Noto Sans"/>
                <a:ea typeface="Noto Sans"/>
                <a:cs typeface="Noto Sans"/>
                <a:sym typeface="Noto Sans"/>
              </a:rPr>
              <a:t>của</a:t>
            </a:r>
            <a:r>
              <a:rPr lang="en-US" sz="4719" dirty="0">
                <a:solidFill>
                  <a:srgbClr val="004AAD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4719" dirty="0" err="1">
                <a:solidFill>
                  <a:srgbClr val="004AAD"/>
                </a:solidFill>
                <a:latin typeface="Noto Sans"/>
                <a:ea typeface="Noto Sans"/>
                <a:cs typeface="Noto Sans"/>
                <a:sym typeface="Noto Sans"/>
              </a:rPr>
              <a:t>i</a:t>
            </a:r>
            <a:endParaRPr lang="en-US" sz="4719" dirty="0">
              <a:solidFill>
                <a:srgbClr val="004AAD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grpSp>
        <p:nvGrpSpPr>
          <p:cNvPr id="7" name="Group 7"/>
          <p:cNvGrpSpPr/>
          <p:nvPr/>
        </p:nvGrpSpPr>
        <p:grpSpPr>
          <a:xfrm>
            <a:off x="3035274" y="3104651"/>
            <a:ext cx="1477191" cy="1477191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3131">
                <a:alpha val="45882"/>
              </a:srgbClr>
            </a:solidFill>
          </p:spPr>
          <p:txBody>
            <a:bodyPr/>
            <a:lstStyle/>
            <a:p>
              <a:endParaRPr lang="vi-VN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2936311" y="2971921"/>
            <a:ext cx="1718991" cy="15665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dirty="0" err="1">
                <a:solidFill>
                  <a:srgbClr val="004AAD"/>
                </a:solidFill>
                <a:latin typeface="Noto Sans"/>
                <a:ea typeface="Noto Sans"/>
                <a:cs typeface="Noto Sans"/>
                <a:sym typeface="Noto Sans"/>
              </a:rPr>
              <a:t>ia</a:t>
            </a:r>
            <a:endParaRPr lang="en-US" sz="9200" dirty="0">
              <a:solidFill>
                <a:srgbClr val="004AAD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9133837" y="2971921"/>
            <a:ext cx="1838963" cy="15665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>
                <a:solidFill>
                  <a:srgbClr val="004AAD"/>
                </a:solidFill>
                <a:latin typeface="Noto Sans"/>
                <a:ea typeface="Noto Sans"/>
                <a:cs typeface="Noto Sans"/>
                <a:sym typeface="Noto Sans"/>
              </a:rPr>
              <a:t>in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846818" y="2971921"/>
            <a:ext cx="1725230" cy="15665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>
                <a:solidFill>
                  <a:srgbClr val="004AAD"/>
                </a:solidFill>
                <a:latin typeface="Noto Sans"/>
                <a:ea typeface="Noto Sans"/>
                <a:cs typeface="Noto Sans"/>
                <a:sym typeface="Noto Sans"/>
              </a:rPr>
              <a:t>ie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02489" y="340665"/>
            <a:ext cx="4754166" cy="1193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 b="1">
                <a:solidFill>
                  <a:srgbClr val="D86666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I. Vận mẫu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612073" y="5514496"/>
            <a:ext cx="1718991" cy="13977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1801"/>
              </a:lnSpc>
            </a:pPr>
            <a:r>
              <a:rPr lang="en-US" altLang="zh-CN" sz="8429" dirty="0" err="1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jiā</a:t>
            </a:r>
            <a:r>
              <a:rPr lang="en-US" altLang="zh-CN" sz="8429" dirty="0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 </a:t>
            </a:r>
            <a:endParaRPr lang="en-US" sz="8429" dirty="0">
              <a:solidFill>
                <a:srgbClr val="000000"/>
              </a:solidFill>
              <a:latin typeface="DejaVu Serif"/>
              <a:ea typeface="DejaVu Serif"/>
              <a:cs typeface="DejaVu Serif"/>
              <a:sym typeface="DejaVu Serif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2612073" y="7508378"/>
            <a:ext cx="1718991" cy="13977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1801"/>
              </a:lnSpc>
            </a:pPr>
            <a:r>
              <a:rPr lang="en-US" altLang="zh-CN" sz="8429" dirty="0" err="1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xià</a:t>
            </a:r>
            <a:r>
              <a:rPr lang="en-US" altLang="zh-CN" sz="8429" dirty="0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 </a:t>
            </a:r>
            <a:endParaRPr lang="en-US" sz="8429" dirty="0">
              <a:solidFill>
                <a:srgbClr val="000000"/>
              </a:solidFill>
              <a:latin typeface="DejaVu Serif"/>
              <a:ea typeface="DejaVu Serif"/>
              <a:cs typeface="DejaVu Serif"/>
              <a:sym typeface="DejaVu Serif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6248400" y="5514496"/>
            <a:ext cx="2286000" cy="13977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1801"/>
              </a:lnSpc>
            </a:pPr>
            <a:r>
              <a:rPr lang="en-US" altLang="zh-CN" sz="8429" dirty="0" err="1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qià</a:t>
            </a:r>
            <a:r>
              <a:rPr lang="en-US" altLang="zh-CN" sz="8429" dirty="0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 </a:t>
            </a:r>
            <a:endParaRPr lang="en-US" sz="8429" dirty="0">
              <a:solidFill>
                <a:srgbClr val="000000"/>
              </a:solidFill>
              <a:latin typeface="DejaVu Serif"/>
              <a:ea typeface="DejaVu Serif"/>
              <a:cs typeface="DejaVu Serif"/>
              <a:sym typeface="DejaVu Serif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DD40FE-9770-3EA7-DC4D-18B9BF8820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2A015981-F175-56F6-7E89-B96EE4D733E4}"/>
              </a:ext>
            </a:extLst>
          </p:cNvPr>
          <p:cNvGrpSpPr/>
          <p:nvPr/>
        </p:nvGrpSpPr>
        <p:grpSpPr>
          <a:xfrm>
            <a:off x="256513" y="262070"/>
            <a:ext cx="17799702" cy="9762861"/>
            <a:chOff x="0" y="0"/>
            <a:chExt cx="4687987" cy="2571288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88DE3C94-6357-0045-3EB2-31C8AD37C5F9}"/>
                </a:ext>
              </a:extLst>
            </p:cNvPr>
            <p:cNvSpPr/>
            <p:nvPr/>
          </p:nvSpPr>
          <p:spPr>
            <a:xfrm>
              <a:off x="0" y="0"/>
              <a:ext cx="4687987" cy="2571288"/>
            </a:xfrm>
            <a:custGeom>
              <a:avLst/>
              <a:gdLst/>
              <a:ahLst/>
              <a:cxnLst/>
              <a:rect l="l" t="t" r="r" b="b"/>
              <a:pathLst>
                <a:path w="4687987" h="2571288">
                  <a:moveTo>
                    <a:pt x="22182" y="0"/>
                  </a:moveTo>
                  <a:lnTo>
                    <a:pt x="4665805" y="0"/>
                  </a:lnTo>
                  <a:cubicBezTo>
                    <a:pt x="4671688" y="0"/>
                    <a:pt x="4677330" y="2337"/>
                    <a:pt x="4681491" y="6497"/>
                  </a:cubicBezTo>
                  <a:cubicBezTo>
                    <a:pt x="4685650" y="10657"/>
                    <a:pt x="4687987" y="16299"/>
                    <a:pt x="4687987" y="22182"/>
                  </a:cubicBezTo>
                  <a:lnTo>
                    <a:pt x="4687987" y="2549106"/>
                  </a:lnTo>
                  <a:cubicBezTo>
                    <a:pt x="4687987" y="2554989"/>
                    <a:pt x="4685650" y="2560631"/>
                    <a:pt x="4681491" y="2564791"/>
                  </a:cubicBezTo>
                  <a:cubicBezTo>
                    <a:pt x="4677330" y="2568951"/>
                    <a:pt x="4671688" y="2571288"/>
                    <a:pt x="4665805" y="2571288"/>
                  </a:cubicBezTo>
                  <a:lnTo>
                    <a:pt x="22182" y="2571288"/>
                  </a:lnTo>
                  <a:cubicBezTo>
                    <a:pt x="16299" y="2571288"/>
                    <a:pt x="10657" y="2568951"/>
                    <a:pt x="6497" y="2564791"/>
                  </a:cubicBezTo>
                  <a:cubicBezTo>
                    <a:pt x="2337" y="2560631"/>
                    <a:pt x="0" y="2554989"/>
                    <a:pt x="0" y="2549106"/>
                  </a:cubicBezTo>
                  <a:lnTo>
                    <a:pt x="0" y="22182"/>
                  </a:lnTo>
                  <a:cubicBezTo>
                    <a:pt x="0" y="16299"/>
                    <a:pt x="2337" y="10657"/>
                    <a:pt x="6497" y="6497"/>
                  </a:cubicBezTo>
                  <a:cubicBezTo>
                    <a:pt x="10657" y="2337"/>
                    <a:pt x="16299" y="0"/>
                    <a:pt x="22182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vi-VN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B417F67-FD32-7F1E-061B-DBF977160EB0}"/>
                </a:ext>
              </a:extLst>
            </p:cNvPr>
            <p:cNvSpPr txBox="1"/>
            <p:nvPr/>
          </p:nvSpPr>
          <p:spPr>
            <a:xfrm>
              <a:off x="0" y="-38100"/>
              <a:ext cx="4687987" cy="26093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>
            <a:extLst>
              <a:ext uri="{FF2B5EF4-FFF2-40B4-BE49-F238E27FC236}">
                <a16:creationId xmlns:a16="http://schemas.microsoft.com/office/drawing/2014/main" id="{2BDEAC8D-47DC-2D35-B4CA-7010F5F54B3D}"/>
              </a:ext>
            </a:extLst>
          </p:cNvPr>
          <p:cNvSpPr/>
          <p:nvPr/>
        </p:nvSpPr>
        <p:spPr>
          <a:xfrm>
            <a:off x="11558497" y="3195826"/>
            <a:ext cx="1290184" cy="1290184"/>
          </a:xfrm>
          <a:custGeom>
            <a:avLst/>
            <a:gdLst/>
            <a:ahLst/>
            <a:cxnLst/>
            <a:rect l="l" t="t" r="r" b="b"/>
            <a:pathLst>
              <a:path w="1290184" h="1290184">
                <a:moveTo>
                  <a:pt x="0" y="0"/>
                </a:moveTo>
                <a:lnTo>
                  <a:pt x="1290184" y="0"/>
                </a:lnTo>
                <a:lnTo>
                  <a:pt x="1290184" y="1290185"/>
                </a:lnTo>
                <a:lnTo>
                  <a:pt x="0" y="129018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vi-VN"/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E8B1FF3B-243F-BF32-FAB7-06A24C4B380B}"/>
              </a:ext>
            </a:extLst>
          </p:cNvPr>
          <p:cNvSpPr txBox="1"/>
          <p:nvPr/>
        </p:nvSpPr>
        <p:spPr>
          <a:xfrm>
            <a:off x="1028700" y="1704715"/>
            <a:ext cx="10776078" cy="8135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606"/>
              </a:lnSpc>
            </a:pPr>
            <a:r>
              <a:rPr lang="en-US" sz="4719" dirty="0" err="1">
                <a:solidFill>
                  <a:srgbClr val="004AAD"/>
                </a:solidFill>
                <a:latin typeface="Noto Sans"/>
                <a:ea typeface="Noto Sans"/>
                <a:cs typeface="Noto Sans"/>
                <a:sym typeface="Noto Sans"/>
              </a:rPr>
              <a:t>Nhóm</a:t>
            </a:r>
            <a:r>
              <a:rPr lang="en-US" sz="4719" dirty="0">
                <a:solidFill>
                  <a:srgbClr val="004AAD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4719" dirty="0" err="1">
                <a:solidFill>
                  <a:srgbClr val="004AAD"/>
                </a:solidFill>
                <a:latin typeface="Noto Sans"/>
                <a:ea typeface="Noto Sans"/>
                <a:cs typeface="Noto Sans"/>
                <a:sym typeface="Noto Sans"/>
              </a:rPr>
              <a:t>vận</a:t>
            </a:r>
            <a:r>
              <a:rPr lang="en-US" sz="4719" dirty="0">
                <a:solidFill>
                  <a:srgbClr val="004AAD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4719" dirty="0" err="1">
                <a:solidFill>
                  <a:srgbClr val="004AAD"/>
                </a:solidFill>
                <a:latin typeface="Noto Sans"/>
                <a:ea typeface="Noto Sans"/>
                <a:cs typeface="Noto Sans"/>
                <a:sym typeface="Noto Sans"/>
              </a:rPr>
              <a:t>mẫu</a:t>
            </a:r>
            <a:r>
              <a:rPr lang="en-US" sz="4719" dirty="0">
                <a:solidFill>
                  <a:srgbClr val="004AAD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4719" dirty="0" err="1">
                <a:solidFill>
                  <a:srgbClr val="004AAD"/>
                </a:solidFill>
                <a:latin typeface="Noto Sans"/>
                <a:ea typeface="Noto Sans"/>
                <a:cs typeface="Noto Sans"/>
                <a:sym typeface="Noto Sans"/>
              </a:rPr>
              <a:t>ghép</a:t>
            </a:r>
            <a:r>
              <a:rPr lang="en-US" sz="4719" dirty="0">
                <a:solidFill>
                  <a:srgbClr val="004AAD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4719" dirty="0" err="1">
                <a:solidFill>
                  <a:srgbClr val="004AAD"/>
                </a:solidFill>
                <a:latin typeface="Noto Sans"/>
                <a:ea typeface="Noto Sans"/>
                <a:cs typeface="Noto Sans"/>
                <a:sym typeface="Noto Sans"/>
              </a:rPr>
              <a:t>của</a:t>
            </a:r>
            <a:r>
              <a:rPr lang="en-US" sz="4719" dirty="0">
                <a:solidFill>
                  <a:srgbClr val="004AAD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4719" dirty="0" err="1">
                <a:solidFill>
                  <a:srgbClr val="004AAD"/>
                </a:solidFill>
                <a:latin typeface="Noto Sans"/>
                <a:ea typeface="Noto Sans"/>
                <a:cs typeface="Noto Sans"/>
                <a:sym typeface="Noto Sans"/>
              </a:rPr>
              <a:t>i</a:t>
            </a:r>
            <a:endParaRPr lang="en-US" sz="4719" dirty="0">
              <a:solidFill>
                <a:srgbClr val="004AAD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grpSp>
        <p:nvGrpSpPr>
          <p:cNvPr id="7" name="Group 7">
            <a:extLst>
              <a:ext uri="{FF2B5EF4-FFF2-40B4-BE49-F238E27FC236}">
                <a16:creationId xmlns:a16="http://schemas.microsoft.com/office/drawing/2014/main" id="{AC1B9B82-AAB6-EA69-F842-4FF672D01D16}"/>
              </a:ext>
            </a:extLst>
          </p:cNvPr>
          <p:cNvGrpSpPr/>
          <p:nvPr/>
        </p:nvGrpSpPr>
        <p:grpSpPr>
          <a:xfrm>
            <a:off x="5986666" y="3071116"/>
            <a:ext cx="1477191" cy="1477191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F886F703-C852-315F-74C2-D90EBD66EA6D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3131">
                <a:alpha val="45882"/>
              </a:srgbClr>
            </a:solidFill>
          </p:spPr>
          <p:txBody>
            <a:bodyPr/>
            <a:lstStyle/>
            <a:p>
              <a:endParaRPr lang="vi-VN"/>
            </a:p>
          </p:txBody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2B4E884F-87D4-64F0-B7FC-22FF090391F0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0" name="TextBox 10">
            <a:extLst>
              <a:ext uri="{FF2B5EF4-FFF2-40B4-BE49-F238E27FC236}">
                <a16:creationId xmlns:a16="http://schemas.microsoft.com/office/drawing/2014/main" id="{2B60B372-2AF3-9B61-D9A9-37D1F739B0F1}"/>
              </a:ext>
            </a:extLst>
          </p:cNvPr>
          <p:cNvSpPr txBox="1"/>
          <p:nvPr/>
        </p:nvSpPr>
        <p:spPr>
          <a:xfrm>
            <a:off x="2936311" y="2971921"/>
            <a:ext cx="1718991" cy="15665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dirty="0" err="1">
                <a:solidFill>
                  <a:srgbClr val="004AAD"/>
                </a:solidFill>
                <a:latin typeface="Noto Sans"/>
                <a:ea typeface="Noto Sans"/>
                <a:cs typeface="Noto Sans"/>
                <a:sym typeface="Noto Sans"/>
              </a:rPr>
              <a:t>ia</a:t>
            </a:r>
            <a:endParaRPr lang="en-US" sz="9200" dirty="0">
              <a:solidFill>
                <a:srgbClr val="004AAD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F749F073-930D-E0CD-DEF9-A0501C48D038}"/>
              </a:ext>
            </a:extLst>
          </p:cNvPr>
          <p:cNvSpPr txBox="1"/>
          <p:nvPr/>
        </p:nvSpPr>
        <p:spPr>
          <a:xfrm>
            <a:off x="9133837" y="2971921"/>
            <a:ext cx="1838963" cy="15665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>
                <a:solidFill>
                  <a:srgbClr val="004AAD"/>
                </a:solidFill>
                <a:latin typeface="Noto Sans"/>
                <a:ea typeface="Noto Sans"/>
                <a:cs typeface="Noto Sans"/>
                <a:sym typeface="Noto Sans"/>
              </a:rPr>
              <a:t>in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3F233F6A-108A-F8C1-F7E8-A218AB73FAF3}"/>
              </a:ext>
            </a:extLst>
          </p:cNvPr>
          <p:cNvSpPr txBox="1"/>
          <p:nvPr/>
        </p:nvSpPr>
        <p:spPr>
          <a:xfrm>
            <a:off x="5846818" y="2971921"/>
            <a:ext cx="1725230" cy="15665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>
                <a:solidFill>
                  <a:srgbClr val="004AAD"/>
                </a:solidFill>
                <a:latin typeface="Noto Sans"/>
                <a:ea typeface="Noto Sans"/>
                <a:cs typeface="Noto Sans"/>
                <a:sym typeface="Noto Sans"/>
              </a:rPr>
              <a:t>ie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12A1653D-2353-4338-325A-11A70EE738CB}"/>
              </a:ext>
            </a:extLst>
          </p:cNvPr>
          <p:cNvSpPr txBox="1"/>
          <p:nvPr/>
        </p:nvSpPr>
        <p:spPr>
          <a:xfrm>
            <a:off x="1102489" y="340665"/>
            <a:ext cx="4754166" cy="1193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 b="1">
                <a:solidFill>
                  <a:srgbClr val="D86666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I. Vận mẫu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F7AB7D62-0A23-DC9E-19A9-6235EFAF159F}"/>
              </a:ext>
            </a:extLst>
          </p:cNvPr>
          <p:cNvSpPr txBox="1"/>
          <p:nvPr/>
        </p:nvSpPr>
        <p:spPr>
          <a:xfrm>
            <a:off x="2612073" y="5514496"/>
            <a:ext cx="1718991" cy="13977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1801"/>
              </a:lnSpc>
            </a:pPr>
            <a:r>
              <a:rPr lang="en-US" altLang="zh-CN" sz="8429" dirty="0" err="1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jiě</a:t>
            </a:r>
            <a:r>
              <a:rPr lang="en-US" altLang="zh-CN" sz="8429" dirty="0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 </a:t>
            </a:r>
            <a:endParaRPr lang="en-US" sz="8429" dirty="0">
              <a:solidFill>
                <a:srgbClr val="000000"/>
              </a:solidFill>
              <a:latin typeface="DejaVu Serif"/>
              <a:ea typeface="DejaVu Serif"/>
              <a:cs typeface="DejaVu Serif"/>
              <a:sym typeface="DejaVu Serif"/>
            </a:endParaRP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D31938A2-3CC6-1DA3-B0CF-03DF234CB559}"/>
              </a:ext>
            </a:extLst>
          </p:cNvPr>
          <p:cNvSpPr txBox="1"/>
          <p:nvPr/>
        </p:nvSpPr>
        <p:spPr>
          <a:xfrm>
            <a:off x="2612073" y="7508378"/>
            <a:ext cx="2043229" cy="13977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1801"/>
              </a:lnSpc>
            </a:pPr>
            <a:r>
              <a:rPr lang="en-US" altLang="zh-CN" sz="8429" dirty="0" err="1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xiè</a:t>
            </a:r>
            <a:r>
              <a:rPr lang="en-US" altLang="zh-CN" sz="8429" dirty="0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 </a:t>
            </a:r>
            <a:endParaRPr lang="en-US" sz="8429" dirty="0">
              <a:solidFill>
                <a:srgbClr val="000000"/>
              </a:solidFill>
              <a:latin typeface="DejaVu Serif"/>
              <a:ea typeface="DejaVu Serif"/>
              <a:cs typeface="DejaVu Serif"/>
              <a:sym typeface="DejaVu Serif"/>
            </a:endParaRP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242358D0-E401-92AE-5451-7FFBF2E91510}"/>
              </a:ext>
            </a:extLst>
          </p:cNvPr>
          <p:cNvSpPr txBox="1"/>
          <p:nvPr/>
        </p:nvSpPr>
        <p:spPr>
          <a:xfrm>
            <a:off x="6248400" y="5514496"/>
            <a:ext cx="2286000" cy="13977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1801"/>
              </a:lnSpc>
            </a:pPr>
            <a:r>
              <a:rPr lang="en-US" altLang="zh-CN" sz="8429" dirty="0" err="1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bié</a:t>
            </a:r>
            <a:r>
              <a:rPr lang="en-US" altLang="zh-CN" sz="8429" dirty="0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  </a:t>
            </a:r>
            <a:endParaRPr lang="en-US" sz="8429" dirty="0">
              <a:solidFill>
                <a:srgbClr val="000000"/>
              </a:solidFill>
              <a:latin typeface="DejaVu Serif"/>
              <a:ea typeface="DejaVu Serif"/>
              <a:cs typeface="DejaVu Serif"/>
              <a:sym typeface="DejaVu Serif"/>
            </a:endParaRPr>
          </a:p>
        </p:txBody>
      </p:sp>
    </p:spTree>
    <p:extLst>
      <p:ext uri="{BB962C8B-B14F-4D97-AF65-F5344CB8AC3E}">
        <p14:creationId xmlns:p14="http://schemas.microsoft.com/office/powerpoint/2010/main" val="13683919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3BCC3B-62EA-176D-BE2B-16A1A16F6F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B6CF52B0-B4D9-65FD-FD52-B5276B44E8EB}"/>
              </a:ext>
            </a:extLst>
          </p:cNvPr>
          <p:cNvGrpSpPr/>
          <p:nvPr/>
        </p:nvGrpSpPr>
        <p:grpSpPr>
          <a:xfrm>
            <a:off x="256513" y="262070"/>
            <a:ext cx="17799702" cy="9762861"/>
            <a:chOff x="0" y="0"/>
            <a:chExt cx="4687987" cy="2571288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CE2ED5D0-0916-94EF-1F25-17D4CF042922}"/>
                </a:ext>
              </a:extLst>
            </p:cNvPr>
            <p:cNvSpPr/>
            <p:nvPr/>
          </p:nvSpPr>
          <p:spPr>
            <a:xfrm>
              <a:off x="0" y="0"/>
              <a:ext cx="4687987" cy="2571288"/>
            </a:xfrm>
            <a:custGeom>
              <a:avLst/>
              <a:gdLst/>
              <a:ahLst/>
              <a:cxnLst/>
              <a:rect l="l" t="t" r="r" b="b"/>
              <a:pathLst>
                <a:path w="4687987" h="2571288">
                  <a:moveTo>
                    <a:pt x="22182" y="0"/>
                  </a:moveTo>
                  <a:lnTo>
                    <a:pt x="4665805" y="0"/>
                  </a:lnTo>
                  <a:cubicBezTo>
                    <a:pt x="4671688" y="0"/>
                    <a:pt x="4677330" y="2337"/>
                    <a:pt x="4681491" y="6497"/>
                  </a:cubicBezTo>
                  <a:cubicBezTo>
                    <a:pt x="4685650" y="10657"/>
                    <a:pt x="4687987" y="16299"/>
                    <a:pt x="4687987" y="22182"/>
                  </a:cubicBezTo>
                  <a:lnTo>
                    <a:pt x="4687987" y="2549106"/>
                  </a:lnTo>
                  <a:cubicBezTo>
                    <a:pt x="4687987" y="2554989"/>
                    <a:pt x="4685650" y="2560631"/>
                    <a:pt x="4681491" y="2564791"/>
                  </a:cubicBezTo>
                  <a:cubicBezTo>
                    <a:pt x="4677330" y="2568951"/>
                    <a:pt x="4671688" y="2571288"/>
                    <a:pt x="4665805" y="2571288"/>
                  </a:cubicBezTo>
                  <a:lnTo>
                    <a:pt x="22182" y="2571288"/>
                  </a:lnTo>
                  <a:cubicBezTo>
                    <a:pt x="16299" y="2571288"/>
                    <a:pt x="10657" y="2568951"/>
                    <a:pt x="6497" y="2564791"/>
                  </a:cubicBezTo>
                  <a:cubicBezTo>
                    <a:pt x="2337" y="2560631"/>
                    <a:pt x="0" y="2554989"/>
                    <a:pt x="0" y="2549106"/>
                  </a:cubicBezTo>
                  <a:lnTo>
                    <a:pt x="0" y="22182"/>
                  </a:lnTo>
                  <a:cubicBezTo>
                    <a:pt x="0" y="16299"/>
                    <a:pt x="2337" y="10657"/>
                    <a:pt x="6497" y="6497"/>
                  </a:cubicBezTo>
                  <a:cubicBezTo>
                    <a:pt x="10657" y="2337"/>
                    <a:pt x="16299" y="0"/>
                    <a:pt x="22182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vi-VN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65394ED-6CD4-6F96-1639-A537107811A8}"/>
                </a:ext>
              </a:extLst>
            </p:cNvPr>
            <p:cNvSpPr txBox="1"/>
            <p:nvPr/>
          </p:nvSpPr>
          <p:spPr>
            <a:xfrm>
              <a:off x="0" y="-38100"/>
              <a:ext cx="4687987" cy="26093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>
            <a:extLst>
              <a:ext uri="{FF2B5EF4-FFF2-40B4-BE49-F238E27FC236}">
                <a16:creationId xmlns:a16="http://schemas.microsoft.com/office/drawing/2014/main" id="{0207692C-4FB5-B044-F159-D8347FB79A0A}"/>
              </a:ext>
            </a:extLst>
          </p:cNvPr>
          <p:cNvSpPr/>
          <p:nvPr/>
        </p:nvSpPr>
        <p:spPr>
          <a:xfrm>
            <a:off x="11558497" y="3195826"/>
            <a:ext cx="1290184" cy="1290184"/>
          </a:xfrm>
          <a:custGeom>
            <a:avLst/>
            <a:gdLst/>
            <a:ahLst/>
            <a:cxnLst/>
            <a:rect l="l" t="t" r="r" b="b"/>
            <a:pathLst>
              <a:path w="1290184" h="1290184">
                <a:moveTo>
                  <a:pt x="0" y="0"/>
                </a:moveTo>
                <a:lnTo>
                  <a:pt x="1290184" y="0"/>
                </a:lnTo>
                <a:lnTo>
                  <a:pt x="1290184" y="1290185"/>
                </a:lnTo>
                <a:lnTo>
                  <a:pt x="0" y="129018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vi-VN"/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B70C343E-FDA6-74B3-CDBB-BA9CDEE5EDB2}"/>
              </a:ext>
            </a:extLst>
          </p:cNvPr>
          <p:cNvSpPr txBox="1"/>
          <p:nvPr/>
        </p:nvSpPr>
        <p:spPr>
          <a:xfrm>
            <a:off x="1028700" y="1704715"/>
            <a:ext cx="10776078" cy="8135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606"/>
              </a:lnSpc>
            </a:pPr>
            <a:r>
              <a:rPr lang="en-US" sz="4719" dirty="0" err="1">
                <a:solidFill>
                  <a:srgbClr val="004AAD"/>
                </a:solidFill>
                <a:latin typeface="Noto Sans"/>
                <a:ea typeface="Noto Sans"/>
                <a:cs typeface="Noto Sans"/>
                <a:sym typeface="Noto Sans"/>
              </a:rPr>
              <a:t>Nhóm</a:t>
            </a:r>
            <a:r>
              <a:rPr lang="en-US" sz="4719" dirty="0">
                <a:solidFill>
                  <a:srgbClr val="004AAD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4719" dirty="0" err="1">
                <a:solidFill>
                  <a:srgbClr val="004AAD"/>
                </a:solidFill>
                <a:latin typeface="Noto Sans"/>
                <a:ea typeface="Noto Sans"/>
                <a:cs typeface="Noto Sans"/>
                <a:sym typeface="Noto Sans"/>
              </a:rPr>
              <a:t>vận</a:t>
            </a:r>
            <a:r>
              <a:rPr lang="en-US" sz="4719" dirty="0">
                <a:solidFill>
                  <a:srgbClr val="004AAD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4719" dirty="0" err="1">
                <a:solidFill>
                  <a:srgbClr val="004AAD"/>
                </a:solidFill>
                <a:latin typeface="Noto Sans"/>
                <a:ea typeface="Noto Sans"/>
                <a:cs typeface="Noto Sans"/>
                <a:sym typeface="Noto Sans"/>
              </a:rPr>
              <a:t>mẫu</a:t>
            </a:r>
            <a:r>
              <a:rPr lang="en-US" sz="4719" dirty="0">
                <a:solidFill>
                  <a:srgbClr val="004AAD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4719" dirty="0" err="1">
                <a:solidFill>
                  <a:srgbClr val="004AAD"/>
                </a:solidFill>
                <a:latin typeface="Noto Sans"/>
                <a:ea typeface="Noto Sans"/>
                <a:cs typeface="Noto Sans"/>
                <a:sym typeface="Noto Sans"/>
              </a:rPr>
              <a:t>ghép</a:t>
            </a:r>
            <a:r>
              <a:rPr lang="en-US" sz="4719" dirty="0">
                <a:solidFill>
                  <a:srgbClr val="004AAD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4719" dirty="0" err="1">
                <a:solidFill>
                  <a:srgbClr val="004AAD"/>
                </a:solidFill>
                <a:latin typeface="Noto Sans"/>
                <a:ea typeface="Noto Sans"/>
                <a:cs typeface="Noto Sans"/>
                <a:sym typeface="Noto Sans"/>
              </a:rPr>
              <a:t>của</a:t>
            </a:r>
            <a:r>
              <a:rPr lang="en-US" sz="4719" dirty="0">
                <a:solidFill>
                  <a:srgbClr val="004AAD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4719" dirty="0" err="1">
                <a:solidFill>
                  <a:srgbClr val="004AAD"/>
                </a:solidFill>
                <a:latin typeface="Noto Sans"/>
                <a:ea typeface="Noto Sans"/>
                <a:cs typeface="Noto Sans"/>
                <a:sym typeface="Noto Sans"/>
              </a:rPr>
              <a:t>i</a:t>
            </a:r>
            <a:endParaRPr lang="en-US" sz="4719" dirty="0">
              <a:solidFill>
                <a:srgbClr val="004AAD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grpSp>
        <p:nvGrpSpPr>
          <p:cNvPr id="7" name="Group 7">
            <a:extLst>
              <a:ext uri="{FF2B5EF4-FFF2-40B4-BE49-F238E27FC236}">
                <a16:creationId xmlns:a16="http://schemas.microsoft.com/office/drawing/2014/main" id="{05C2A741-54BF-5364-675A-10FEA87B03C6}"/>
              </a:ext>
            </a:extLst>
          </p:cNvPr>
          <p:cNvGrpSpPr/>
          <p:nvPr/>
        </p:nvGrpSpPr>
        <p:grpSpPr>
          <a:xfrm>
            <a:off x="9314722" y="3008819"/>
            <a:ext cx="1477191" cy="1477191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B16358FE-8D58-9C6A-345E-F886506AF8AB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3131">
                <a:alpha val="45882"/>
              </a:srgbClr>
            </a:solidFill>
          </p:spPr>
          <p:txBody>
            <a:bodyPr/>
            <a:lstStyle/>
            <a:p>
              <a:endParaRPr lang="vi-VN"/>
            </a:p>
          </p:txBody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C49C1204-F266-FE62-1FC5-BD07D46B59FE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0" name="TextBox 10">
            <a:extLst>
              <a:ext uri="{FF2B5EF4-FFF2-40B4-BE49-F238E27FC236}">
                <a16:creationId xmlns:a16="http://schemas.microsoft.com/office/drawing/2014/main" id="{DDE13BD0-1DC2-8715-9025-0EF1B8BC2C47}"/>
              </a:ext>
            </a:extLst>
          </p:cNvPr>
          <p:cNvSpPr txBox="1"/>
          <p:nvPr/>
        </p:nvSpPr>
        <p:spPr>
          <a:xfrm>
            <a:off x="2936311" y="2971921"/>
            <a:ext cx="1718991" cy="15665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dirty="0" err="1">
                <a:solidFill>
                  <a:srgbClr val="004AAD"/>
                </a:solidFill>
                <a:latin typeface="Noto Sans"/>
                <a:ea typeface="Noto Sans"/>
                <a:cs typeface="Noto Sans"/>
                <a:sym typeface="Noto Sans"/>
              </a:rPr>
              <a:t>ia</a:t>
            </a:r>
            <a:endParaRPr lang="en-US" sz="9200" dirty="0">
              <a:solidFill>
                <a:srgbClr val="004AAD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B36D9BB0-606F-E322-19EB-2E8CB087F775}"/>
              </a:ext>
            </a:extLst>
          </p:cNvPr>
          <p:cNvSpPr txBox="1"/>
          <p:nvPr/>
        </p:nvSpPr>
        <p:spPr>
          <a:xfrm>
            <a:off x="9133837" y="2971921"/>
            <a:ext cx="1838963" cy="15665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>
                <a:solidFill>
                  <a:srgbClr val="004AAD"/>
                </a:solidFill>
                <a:latin typeface="Noto Sans"/>
                <a:ea typeface="Noto Sans"/>
                <a:cs typeface="Noto Sans"/>
                <a:sym typeface="Noto Sans"/>
              </a:rPr>
              <a:t>in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E8530702-E572-5926-467B-565D58F9082F}"/>
              </a:ext>
            </a:extLst>
          </p:cNvPr>
          <p:cNvSpPr txBox="1"/>
          <p:nvPr/>
        </p:nvSpPr>
        <p:spPr>
          <a:xfrm>
            <a:off x="5846818" y="2971921"/>
            <a:ext cx="1725230" cy="15665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>
                <a:solidFill>
                  <a:srgbClr val="004AAD"/>
                </a:solidFill>
                <a:latin typeface="Noto Sans"/>
                <a:ea typeface="Noto Sans"/>
                <a:cs typeface="Noto Sans"/>
                <a:sym typeface="Noto Sans"/>
              </a:rPr>
              <a:t>ie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16729A07-C1CD-7353-1EBE-139B508A52C3}"/>
              </a:ext>
            </a:extLst>
          </p:cNvPr>
          <p:cNvSpPr txBox="1"/>
          <p:nvPr/>
        </p:nvSpPr>
        <p:spPr>
          <a:xfrm>
            <a:off x="1102489" y="340665"/>
            <a:ext cx="4754166" cy="1193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 b="1">
                <a:solidFill>
                  <a:srgbClr val="D86666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I. Vận mẫu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2A4642EA-CD85-23FA-7282-EE80ED7504AE}"/>
              </a:ext>
            </a:extLst>
          </p:cNvPr>
          <p:cNvSpPr txBox="1"/>
          <p:nvPr/>
        </p:nvSpPr>
        <p:spPr>
          <a:xfrm>
            <a:off x="2612073" y="5514496"/>
            <a:ext cx="2043229" cy="13977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1801"/>
              </a:lnSpc>
            </a:pPr>
            <a:r>
              <a:rPr lang="en-US" altLang="zh-CN" sz="8429" dirty="0" err="1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lín</a:t>
            </a:r>
            <a:r>
              <a:rPr lang="en-US" altLang="zh-CN" sz="8429" dirty="0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 </a:t>
            </a:r>
            <a:endParaRPr lang="en-US" sz="8429" dirty="0">
              <a:solidFill>
                <a:srgbClr val="000000"/>
              </a:solidFill>
              <a:latin typeface="DejaVu Serif"/>
              <a:ea typeface="DejaVu Serif"/>
              <a:cs typeface="DejaVu Serif"/>
              <a:sym typeface="DejaVu Serif"/>
            </a:endParaRP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6711841E-D651-AE0F-473F-FD633BF9FA47}"/>
              </a:ext>
            </a:extLst>
          </p:cNvPr>
          <p:cNvSpPr txBox="1"/>
          <p:nvPr/>
        </p:nvSpPr>
        <p:spPr>
          <a:xfrm>
            <a:off x="2612073" y="7508378"/>
            <a:ext cx="2043229" cy="13977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1801"/>
              </a:lnSpc>
            </a:pPr>
            <a:r>
              <a:rPr lang="en-US" altLang="zh-CN" sz="8429" dirty="0" err="1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jīn</a:t>
            </a:r>
            <a:r>
              <a:rPr lang="en-US" altLang="zh-CN" sz="8429" dirty="0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  </a:t>
            </a:r>
            <a:endParaRPr lang="en-US" sz="8429" dirty="0">
              <a:solidFill>
                <a:srgbClr val="000000"/>
              </a:solidFill>
              <a:latin typeface="DejaVu Serif"/>
              <a:ea typeface="DejaVu Serif"/>
              <a:cs typeface="DejaVu Serif"/>
              <a:sym typeface="DejaVu Serif"/>
            </a:endParaRP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D80F4175-E369-5BAB-64C8-0CEEC1567D0F}"/>
              </a:ext>
            </a:extLst>
          </p:cNvPr>
          <p:cNvSpPr txBox="1"/>
          <p:nvPr/>
        </p:nvSpPr>
        <p:spPr>
          <a:xfrm>
            <a:off x="6248400" y="5514496"/>
            <a:ext cx="2286000" cy="13977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1801"/>
              </a:lnSpc>
            </a:pPr>
            <a:r>
              <a:rPr lang="en-US" altLang="zh-CN" sz="8429" dirty="0" err="1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xīn</a:t>
            </a:r>
            <a:r>
              <a:rPr lang="en-US" altLang="zh-CN" sz="8429" dirty="0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   </a:t>
            </a:r>
            <a:endParaRPr lang="en-US" sz="8429" dirty="0">
              <a:solidFill>
                <a:srgbClr val="000000"/>
              </a:solidFill>
              <a:latin typeface="DejaVu Serif"/>
              <a:ea typeface="DejaVu Serif"/>
              <a:cs typeface="DejaVu Serif"/>
              <a:sym typeface="DejaVu Serif"/>
            </a:endParaRPr>
          </a:p>
        </p:txBody>
      </p:sp>
    </p:spTree>
    <p:extLst>
      <p:ext uri="{BB962C8B-B14F-4D97-AF65-F5344CB8AC3E}">
        <p14:creationId xmlns:p14="http://schemas.microsoft.com/office/powerpoint/2010/main" val="17386747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Grp="1" noUngrp="1" noRot="1" noMove="1" noResize="1"/>
          </p:cNvGrpSpPr>
          <p:nvPr/>
        </p:nvGrpSpPr>
        <p:grpSpPr>
          <a:xfrm>
            <a:off x="256513" y="262070"/>
            <a:ext cx="17799702" cy="9762861"/>
            <a:chOff x="0" y="0"/>
            <a:chExt cx="4687987" cy="2571288"/>
          </a:xfrm>
        </p:grpSpPr>
        <p:sp>
          <p:nvSpPr>
            <p:cNvPr id="3" name="Freeform 3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0"/>
              <a:ext cx="4687987" cy="2571288"/>
            </a:xfrm>
            <a:custGeom>
              <a:avLst/>
              <a:gdLst/>
              <a:ahLst/>
              <a:cxnLst/>
              <a:rect l="l" t="t" r="r" b="b"/>
              <a:pathLst>
                <a:path w="4687987" h="2571288">
                  <a:moveTo>
                    <a:pt x="22182" y="0"/>
                  </a:moveTo>
                  <a:lnTo>
                    <a:pt x="4665805" y="0"/>
                  </a:lnTo>
                  <a:cubicBezTo>
                    <a:pt x="4671688" y="0"/>
                    <a:pt x="4677330" y="2337"/>
                    <a:pt x="4681491" y="6497"/>
                  </a:cubicBezTo>
                  <a:cubicBezTo>
                    <a:pt x="4685650" y="10657"/>
                    <a:pt x="4687987" y="16299"/>
                    <a:pt x="4687987" y="22182"/>
                  </a:cubicBezTo>
                  <a:lnTo>
                    <a:pt x="4687987" y="2549106"/>
                  </a:lnTo>
                  <a:cubicBezTo>
                    <a:pt x="4687987" y="2554989"/>
                    <a:pt x="4685650" y="2560631"/>
                    <a:pt x="4681491" y="2564791"/>
                  </a:cubicBezTo>
                  <a:cubicBezTo>
                    <a:pt x="4677330" y="2568951"/>
                    <a:pt x="4671688" y="2571288"/>
                    <a:pt x="4665805" y="2571288"/>
                  </a:cubicBezTo>
                  <a:lnTo>
                    <a:pt x="22182" y="2571288"/>
                  </a:lnTo>
                  <a:cubicBezTo>
                    <a:pt x="16299" y="2571288"/>
                    <a:pt x="10657" y="2568951"/>
                    <a:pt x="6497" y="2564791"/>
                  </a:cubicBezTo>
                  <a:cubicBezTo>
                    <a:pt x="2337" y="2560631"/>
                    <a:pt x="0" y="2554989"/>
                    <a:pt x="0" y="2549106"/>
                  </a:cubicBezTo>
                  <a:lnTo>
                    <a:pt x="0" y="22182"/>
                  </a:lnTo>
                  <a:cubicBezTo>
                    <a:pt x="0" y="16299"/>
                    <a:pt x="2337" y="10657"/>
                    <a:pt x="6497" y="6497"/>
                  </a:cubicBezTo>
                  <a:cubicBezTo>
                    <a:pt x="10657" y="2337"/>
                    <a:pt x="16299" y="0"/>
                    <a:pt x="22182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vi-VN"/>
            </a:p>
          </p:txBody>
        </p:sp>
        <p:sp>
          <p:nvSpPr>
            <p:cNvPr id="4" name="TextBox 4"/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-38100"/>
              <a:ext cx="4687987" cy="26093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5171852" y="3248306"/>
            <a:ext cx="1290184" cy="1290184"/>
          </a:xfrm>
          <a:custGeom>
            <a:avLst/>
            <a:gdLst/>
            <a:ahLst/>
            <a:cxnLst/>
            <a:rect l="l" t="t" r="r" b="b"/>
            <a:pathLst>
              <a:path w="1290184" h="1290184">
                <a:moveTo>
                  <a:pt x="0" y="0"/>
                </a:moveTo>
                <a:lnTo>
                  <a:pt x="1290184" y="0"/>
                </a:lnTo>
                <a:lnTo>
                  <a:pt x="1290184" y="1290184"/>
                </a:lnTo>
                <a:lnTo>
                  <a:pt x="0" y="12901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vi-VN"/>
          </a:p>
        </p:txBody>
      </p:sp>
      <p:sp>
        <p:nvSpPr>
          <p:cNvPr id="6" name="TextBox 6"/>
          <p:cNvSpPr txBox="1"/>
          <p:nvPr/>
        </p:nvSpPr>
        <p:spPr>
          <a:xfrm>
            <a:off x="1028700" y="1704715"/>
            <a:ext cx="10776078" cy="8135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606"/>
              </a:lnSpc>
            </a:pPr>
            <a:r>
              <a:rPr lang="en-US" sz="4719" dirty="0" err="1">
                <a:solidFill>
                  <a:srgbClr val="004AAD"/>
                </a:solidFill>
                <a:latin typeface="Noto Sans"/>
                <a:ea typeface="Noto Sans"/>
                <a:cs typeface="Noto Sans"/>
                <a:sym typeface="Noto Sans"/>
              </a:rPr>
              <a:t>Nhóm</a:t>
            </a:r>
            <a:r>
              <a:rPr lang="en-US" sz="4719" dirty="0">
                <a:solidFill>
                  <a:srgbClr val="004AAD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4719" dirty="0" err="1">
                <a:solidFill>
                  <a:srgbClr val="004AAD"/>
                </a:solidFill>
                <a:latin typeface="Noto Sans"/>
                <a:ea typeface="Noto Sans"/>
                <a:cs typeface="Noto Sans"/>
                <a:sym typeface="Noto Sans"/>
              </a:rPr>
              <a:t>vận</a:t>
            </a:r>
            <a:r>
              <a:rPr lang="en-US" sz="4719" dirty="0">
                <a:solidFill>
                  <a:srgbClr val="004AAD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4719" dirty="0" err="1">
                <a:solidFill>
                  <a:srgbClr val="004AAD"/>
                </a:solidFill>
                <a:latin typeface="Noto Sans"/>
                <a:ea typeface="Noto Sans"/>
                <a:cs typeface="Noto Sans"/>
                <a:sym typeface="Noto Sans"/>
              </a:rPr>
              <a:t>mẫu</a:t>
            </a:r>
            <a:r>
              <a:rPr lang="en-US" sz="4719" dirty="0">
                <a:solidFill>
                  <a:srgbClr val="004AAD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4719" dirty="0" err="1">
                <a:solidFill>
                  <a:srgbClr val="004AAD"/>
                </a:solidFill>
                <a:latin typeface="Noto Sans"/>
                <a:ea typeface="Noto Sans"/>
                <a:cs typeface="Noto Sans"/>
                <a:sym typeface="Noto Sans"/>
              </a:rPr>
              <a:t>của</a:t>
            </a:r>
            <a:r>
              <a:rPr lang="en-US" sz="4719" dirty="0">
                <a:solidFill>
                  <a:srgbClr val="004AAD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4719" dirty="0" err="1">
                <a:solidFill>
                  <a:srgbClr val="004AAD"/>
                </a:solidFill>
                <a:latin typeface="Noto Sans"/>
                <a:ea typeface="Noto Sans"/>
                <a:cs typeface="Noto Sans"/>
                <a:sym typeface="Noto Sans"/>
              </a:rPr>
              <a:t>i</a:t>
            </a:r>
            <a:endParaRPr lang="en-US" sz="4719" dirty="0">
              <a:solidFill>
                <a:srgbClr val="004AAD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grpSp>
        <p:nvGrpSpPr>
          <p:cNvPr id="7" name="Group 7"/>
          <p:cNvGrpSpPr/>
          <p:nvPr/>
        </p:nvGrpSpPr>
        <p:grpSpPr>
          <a:xfrm>
            <a:off x="2218750" y="3085720"/>
            <a:ext cx="2200186" cy="1452745"/>
            <a:chOff x="-251649" y="-38012"/>
            <a:chExt cx="1210616" cy="799349"/>
          </a:xfrm>
        </p:grpSpPr>
        <p:sp>
          <p:nvSpPr>
            <p:cNvPr id="8" name="Freeform 8"/>
            <p:cNvSpPr/>
            <p:nvPr/>
          </p:nvSpPr>
          <p:spPr>
            <a:xfrm>
              <a:off x="-251649" y="-38012"/>
              <a:ext cx="1210616" cy="799349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3131">
                <a:alpha val="45882"/>
              </a:srgbClr>
            </a:solidFill>
          </p:spPr>
          <p:txBody>
            <a:bodyPr/>
            <a:lstStyle/>
            <a:p>
              <a:endParaRPr lang="vi-VN" dirty="0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2256797" y="2943408"/>
            <a:ext cx="2340424" cy="15665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dirty="0" err="1">
                <a:solidFill>
                  <a:srgbClr val="004AAD"/>
                </a:solidFill>
                <a:latin typeface="Noto Sans"/>
                <a:ea typeface="Noto Sans"/>
                <a:cs typeface="Noto Sans"/>
                <a:sym typeface="Noto Sans"/>
              </a:rPr>
              <a:t>iao</a:t>
            </a:r>
            <a:endParaRPr lang="en-US" sz="9200" dirty="0">
              <a:solidFill>
                <a:srgbClr val="004AAD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2420600" y="2971921"/>
            <a:ext cx="2362199" cy="15665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>
                <a:solidFill>
                  <a:srgbClr val="004AAD"/>
                </a:solidFill>
                <a:latin typeface="Noto Sans"/>
                <a:ea typeface="Noto Sans"/>
                <a:cs typeface="Noto Sans"/>
                <a:sym typeface="Noto Sans"/>
              </a:rPr>
              <a:t>ian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511861" y="3076856"/>
            <a:ext cx="5815814" cy="15665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>
                <a:solidFill>
                  <a:srgbClr val="004AAD"/>
                </a:solidFill>
                <a:latin typeface="Noto Sans"/>
                <a:ea typeface="Noto Sans"/>
                <a:cs typeface="Noto Sans"/>
                <a:sym typeface="Noto Sans"/>
              </a:rPr>
              <a:t>iou (-iu)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02489" y="340665"/>
            <a:ext cx="4754166" cy="1193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 b="1">
                <a:solidFill>
                  <a:srgbClr val="D86666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I. Vận mẫu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718299" y="5821701"/>
            <a:ext cx="3463301" cy="14427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1801"/>
              </a:lnSpc>
            </a:pPr>
            <a:r>
              <a:rPr lang="en-US" altLang="zh-CN" sz="8429" dirty="0" err="1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tiáo</a:t>
            </a:r>
            <a:r>
              <a:rPr lang="en-US" altLang="zh-CN" sz="8429" dirty="0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 </a:t>
            </a:r>
            <a:endParaRPr lang="en-US" sz="8429" dirty="0">
              <a:solidFill>
                <a:srgbClr val="000000"/>
              </a:solidFill>
              <a:latin typeface="DejaVu Serif"/>
              <a:ea typeface="DejaVu Serif"/>
              <a:cs typeface="DejaVu Serif"/>
              <a:sym typeface="DejaVu Serif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1718299" y="7815583"/>
            <a:ext cx="3463301" cy="14427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1801"/>
              </a:lnSpc>
            </a:pPr>
            <a:r>
              <a:rPr lang="en-US" altLang="zh-CN" sz="8429" dirty="0" err="1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liǎo</a:t>
            </a:r>
            <a:r>
              <a:rPr lang="en-US" altLang="zh-CN" sz="8429" dirty="0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 </a:t>
            </a:r>
            <a:endParaRPr lang="en-US" sz="8429" dirty="0">
              <a:solidFill>
                <a:srgbClr val="000000"/>
              </a:solidFill>
              <a:latin typeface="DejaVu Serif"/>
              <a:ea typeface="DejaVu Serif"/>
              <a:cs typeface="DejaVu Serif"/>
              <a:sym typeface="DejaVu Serif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5354626" y="5821701"/>
            <a:ext cx="3463301" cy="14427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1801"/>
              </a:lnSpc>
            </a:pPr>
            <a:r>
              <a:rPr lang="en-US" altLang="zh-CN" sz="8429" dirty="0" err="1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jiāo</a:t>
            </a:r>
            <a:r>
              <a:rPr lang="en-US" altLang="zh-CN" sz="8429" dirty="0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  </a:t>
            </a:r>
            <a:endParaRPr lang="en-US" sz="8429" dirty="0">
              <a:solidFill>
                <a:srgbClr val="000000"/>
              </a:solidFill>
              <a:latin typeface="DejaVu Serif"/>
              <a:ea typeface="DejaVu Serif"/>
              <a:cs typeface="DejaVu Serif"/>
              <a:sym typeface="DejaVu Serif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5354626" y="7815583"/>
            <a:ext cx="3463301" cy="14427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1801"/>
              </a:lnSpc>
            </a:pPr>
            <a:r>
              <a:rPr lang="en-US" altLang="zh-CN" sz="8429" dirty="0" err="1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diào</a:t>
            </a:r>
            <a:r>
              <a:rPr lang="en-US" altLang="zh-CN" sz="8429" dirty="0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 </a:t>
            </a:r>
            <a:endParaRPr lang="en-US" sz="8429" dirty="0">
              <a:solidFill>
                <a:srgbClr val="000000"/>
              </a:solidFill>
              <a:latin typeface="DejaVu Serif"/>
              <a:ea typeface="DejaVu Serif"/>
              <a:cs typeface="DejaVu Serif"/>
              <a:sym typeface="DejaVu Serif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F7090D-4B28-D159-3666-ABE91C794B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A26ACABB-C304-125E-B3C0-8A60FED72737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256513" y="262070"/>
            <a:ext cx="17799702" cy="9762861"/>
            <a:chOff x="0" y="0"/>
            <a:chExt cx="4687987" cy="2571288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E1D22DB6-9484-6925-E5B4-C5CA023C0BD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0"/>
              <a:ext cx="4687987" cy="2571288"/>
            </a:xfrm>
            <a:custGeom>
              <a:avLst/>
              <a:gdLst/>
              <a:ahLst/>
              <a:cxnLst/>
              <a:rect l="l" t="t" r="r" b="b"/>
              <a:pathLst>
                <a:path w="4687987" h="2571288">
                  <a:moveTo>
                    <a:pt x="22182" y="0"/>
                  </a:moveTo>
                  <a:lnTo>
                    <a:pt x="4665805" y="0"/>
                  </a:lnTo>
                  <a:cubicBezTo>
                    <a:pt x="4671688" y="0"/>
                    <a:pt x="4677330" y="2337"/>
                    <a:pt x="4681491" y="6497"/>
                  </a:cubicBezTo>
                  <a:cubicBezTo>
                    <a:pt x="4685650" y="10657"/>
                    <a:pt x="4687987" y="16299"/>
                    <a:pt x="4687987" y="22182"/>
                  </a:cubicBezTo>
                  <a:lnTo>
                    <a:pt x="4687987" y="2549106"/>
                  </a:lnTo>
                  <a:cubicBezTo>
                    <a:pt x="4687987" y="2554989"/>
                    <a:pt x="4685650" y="2560631"/>
                    <a:pt x="4681491" y="2564791"/>
                  </a:cubicBezTo>
                  <a:cubicBezTo>
                    <a:pt x="4677330" y="2568951"/>
                    <a:pt x="4671688" y="2571288"/>
                    <a:pt x="4665805" y="2571288"/>
                  </a:cubicBezTo>
                  <a:lnTo>
                    <a:pt x="22182" y="2571288"/>
                  </a:lnTo>
                  <a:cubicBezTo>
                    <a:pt x="16299" y="2571288"/>
                    <a:pt x="10657" y="2568951"/>
                    <a:pt x="6497" y="2564791"/>
                  </a:cubicBezTo>
                  <a:cubicBezTo>
                    <a:pt x="2337" y="2560631"/>
                    <a:pt x="0" y="2554989"/>
                    <a:pt x="0" y="2549106"/>
                  </a:cubicBezTo>
                  <a:lnTo>
                    <a:pt x="0" y="22182"/>
                  </a:lnTo>
                  <a:cubicBezTo>
                    <a:pt x="0" y="16299"/>
                    <a:pt x="2337" y="10657"/>
                    <a:pt x="6497" y="6497"/>
                  </a:cubicBezTo>
                  <a:cubicBezTo>
                    <a:pt x="10657" y="2337"/>
                    <a:pt x="16299" y="0"/>
                    <a:pt x="22182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vi-VN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D55991B1-D2DC-3A8E-D41B-049863ECFB33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-38100"/>
              <a:ext cx="4687987" cy="26093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>
            <a:extLst>
              <a:ext uri="{FF2B5EF4-FFF2-40B4-BE49-F238E27FC236}">
                <a16:creationId xmlns:a16="http://schemas.microsoft.com/office/drawing/2014/main" id="{F3F8BD2C-2AEB-A3F2-B844-A67A35D9B481}"/>
              </a:ext>
            </a:extLst>
          </p:cNvPr>
          <p:cNvSpPr/>
          <p:nvPr/>
        </p:nvSpPr>
        <p:spPr>
          <a:xfrm>
            <a:off x="15171852" y="3248306"/>
            <a:ext cx="1290184" cy="1290184"/>
          </a:xfrm>
          <a:custGeom>
            <a:avLst/>
            <a:gdLst/>
            <a:ahLst/>
            <a:cxnLst/>
            <a:rect l="l" t="t" r="r" b="b"/>
            <a:pathLst>
              <a:path w="1290184" h="1290184">
                <a:moveTo>
                  <a:pt x="0" y="0"/>
                </a:moveTo>
                <a:lnTo>
                  <a:pt x="1290184" y="0"/>
                </a:lnTo>
                <a:lnTo>
                  <a:pt x="1290184" y="1290184"/>
                </a:lnTo>
                <a:lnTo>
                  <a:pt x="0" y="12901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vi-VN"/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514F028A-4713-52C1-A379-D4638E150724}"/>
              </a:ext>
            </a:extLst>
          </p:cNvPr>
          <p:cNvSpPr txBox="1"/>
          <p:nvPr/>
        </p:nvSpPr>
        <p:spPr>
          <a:xfrm>
            <a:off x="1028700" y="1704715"/>
            <a:ext cx="10776078" cy="8135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606"/>
              </a:lnSpc>
            </a:pPr>
            <a:r>
              <a:rPr lang="en-US" sz="4719">
                <a:solidFill>
                  <a:srgbClr val="004AAD"/>
                </a:solidFill>
                <a:latin typeface="Noto Sans"/>
                <a:ea typeface="Noto Sans"/>
                <a:cs typeface="Noto Sans"/>
                <a:sym typeface="Noto Sans"/>
              </a:rPr>
              <a:t>Nhóm vận mẫu ghép của i</a:t>
            </a:r>
          </a:p>
        </p:txBody>
      </p:sp>
      <p:grpSp>
        <p:nvGrpSpPr>
          <p:cNvPr id="7" name="Group 7">
            <a:extLst>
              <a:ext uri="{FF2B5EF4-FFF2-40B4-BE49-F238E27FC236}">
                <a16:creationId xmlns:a16="http://schemas.microsoft.com/office/drawing/2014/main" id="{BBB42115-B53D-3E73-9E9A-4AAB6F0792E3}"/>
              </a:ext>
            </a:extLst>
          </p:cNvPr>
          <p:cNvGrpSpPr/>
          <p:nvPr/>
        </p:nvGrpSpPr>
        <p:grpSpPr>
          <a:xfrm>
            <a:off x="6148793" y="2896598"/>
            <a:ext cx="4585209" cy="1993599"/>
            <a:chOff x="-251649" y="-38012"/>
            <a:chExt cx="1210616" cy="799349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9E620254-EBBC-689B-A7DB-42C942CD7283}"/>
                </a:ext>
              </a:extLst>
            </p:cNvPr>
            <p:cNvSpPr/>
            <p:nvPr/>
          </p:nvSpPr>
          <p:spPr>
            <a:xfrm>
              <a:off x="-251649" y="-38012"/>
              <a:ext cx="1210616" cy="799349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3131">
                <a:alpha val="45882"/>
              </a:srgbClr>
            </a:solidFill>
          </p:spPr>
          <p:txBody>
            <a:bodyPr/>
            <a:lstStyle/>
            <a:p>
              <a:endParaRPr lang="vi-VN" dirty="0"/>
            </a:p>
          </p:txBody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3F4092DD-14F0-8182-DC7F-5DAE0B8855CD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0" name="TextBox 10">
            <a:extLst>
              <a:ext uri="{FF2B5EF4-FFF2-40B4-BE49-F238E27FC236}">
                <a16:creationId xmlns:a16="http://schemas.microsoft.com/office/drawing/2014/main" id="{B3F5B734-0999-193D-1A4A-062BA6F4BB61}"/>
              </a:ext>
            </a:extLst>
          </p:cNvPr>
          <p:cNvSpPr txBox="1"/>
          <p:nvPr/>
        </p:nvSpPr>
        <p:spPr>
          <a:xfrm>
            <a:off x="2256797" y="2943408"/>
            <a:ext cx="2340424" cy="15665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dirty="0" err="1">
                <a:solidFill>
                  <a:srgbClr val="004AAD"/>
                </a:solidFill>
                <a:latin typeface="Noto Sans"/>
                <a:ea typeface="Noto Sans"/>
                <a:cs typeface="Noto Sans"/>
                <a:sym typeface="Noto Sans"/>
              </a:rPr>
              <a:t>iao</a:t>
            </a:r>
            <a:endParaRPr lang="en-US" sz="9200" dirty="0">
              <a:solidFill>
                <a:srgbClr val="004AAD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89865866-51A6-1906-C865-4447B418A992}"/>
              </a:ext>
            </a:extLst>
          </p:cNvPr>
          <p:cNvSpPr txBox="1"/>
          <p:nvPr/>
        </p:nvSpPr>
        <p:spPr>
          <a:xfrm>
            <a:off x="12420600" y="2971921"/>
            <a:ext cx="2362199" cy="15665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>
                <a:solidFill>
                  <a:srgbClr val="004AAD"/>
                </a:solidFill>
                <a:latin typeface="Noto Sans"/>
                <a:ea typeface="Noto Sans"/>
                <a:cs typeface="Noto Sans"/>
                <a:sym typeface="Noto Sans"/>
              </a:rPr>
              <a:t>ian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D2EE9349-A0BD-0B1E-C6ED-CBB7B489B56D}"/>
              </a:ext>
            </a:extLst>
          </p:cNvPr>
          <p:cNvSpPr txBox="1"/>
          <p:nvPr/>
        </p:nvSpPr>
        <p:spPr>
          <a:xfrm>
            <a:off x="5511861" y="3076856"/>
            <a:ext cx="5815814" cy="15665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>
                <a:solidFill>
                  <a:srgbClr val="004AAD"/>
                </a:solidFill>
                <a:latin typeface="Noto Sans"/>
                <a:ea typeface="Noto Sans"/>
                <a:cs typeface="Noto Sans"/>
                <a:sym typeface="Noto Sans"/>
              </a:rPr>
              <a:t>iou (-iu)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7AF52185-2E07-396B-4511-8F6DF62D4B99}"/>
              </a:ext>
            </a:extLst>
          </p:cNvPr>
          <p:cNvSpPr txBox="1"/>
          <p:nvPr/>
        </p:nvSpPr>
        <p:spPr>
          <a:xfrm>
            <a:off x="1102489" y="340665"/>
            <a:ext cx="4754166" cy="1193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 b="1">
                <a:solidFill>
                  <a:srgbClr val="D86666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I. Vận mẫu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D459A393-6594-D6FB-37E2-66BF942E1799}"/>
              </a:ext>
            </a:extLst>
          </p:cNvPr>
          <p:cNvSpPr txBox="1"/>
          <p:nvPr/>
        </p:nvSpPr>
        <p:spPr>
          <a:xfrm>
            <a:off x="1718299" y="5821701"/>
            <a:ext cx="3463301" cy="14427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1801"/>
              </a:lnSpc>
            </a:pPr>
            <a:r>
              <a:rPr lang="en-US" altLang="zh-CN" sz="8429" dirty="0" err="1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liú</a:t>
            </a:r>
            <a:r>
              <a:rPr lang="en-US" altLang="zh-CN" sz="8429" dirty="0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 </a:t>
            </a:r>
            <a:endParaRPr lang="en-US" sz="8429" dirty="0">
              <a:solidFill>
                <a:srgbClr val="000000"/>
              </a:solidFill>
              <a:latin typeface="DejaVu Serif"/>
              <a:ea typeface="DejaVu Serif"/>
              <a:cs typeface="DejaVu Serif"/>
              <a:sym typeface="DejaVu Serif"/>
            </a:endParaRP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9292174D-49F9-77BE-4776-9F743290821D}"/>
              </a:ext>
            </a:extLst>
          </p:cNvPr>
          <p:cNvSpPr txBox="1"/>
          <p:nvPr/>
        </p:nvSpPr>
        <p:spPr>
          <a:xfrm>
            <a:off x="1718299" y="7815583"/>
            <a:ext cx="3463301" cy="14427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1801"/>
              </a:lnSpc>
            </a:pPr>
            <a:r>
              <a:rPr lang="en-US" altLang="zh-CN" sz="8429" dirty="0" err="1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jiǔ</a:t>
            </a:r>
            <a:r>
              <a:rPr lang="en-US" altLang="zh-CN" sz="8429" dirty="0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 </a:t>
            </a:r>
            <a:endParaRPr lang="en-US" sz="8429" dirty="0">
              <a:solidFill>
                <a:srgbClr val="000000"/>
              </a:solidFill>
              <a:latin typeface="DejaVu Serif"/>
              <a:ea typeface="DejaVu Serif"/>
              <a:cs typeface="DejaVu Serif"/>
              <a:sym typeface="DejaVu Serif"/>
            </a:endParaRP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34D53DBB-DE9C-53D3-BA17-20F65B3C4866}"/>
              </a:ext>
            </a:extLst>
          </p:cNvPr>
          <p:cNvSpPr txBox="1"/>
          <p:nvPr/>
        </p:nvSpPr>
        <p:spPr>
          <a:xfrm>
            <a:off x="5354626" y="5821701"/>
            <a:ext cx="3463301" cy="14427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1801"/>
              </a:lnSpc>
            </a:pPr>
            <a:r>
              <a:rPr lang="en-US" altLang="zh-CN" sz="8429" dirty="0" err="1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xiù</a:t>
            </a:r>
            <a:r>
              <a:rPr lang="en-US" altLang="zh-CN" sz="8429" dirty="0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   </a:t>
            </a:r>
            <a:endParaRPr lang="en-US" sz="8429" dirty="0">
              <a:solidFill>
                <a:srgbClr val="000000"/>
              </a:solidFill>
              <a:latin typeface="DejaVu Serif"/>
              <a:ea typeface="DejaVu Serif"/>
              <a:cs typeface="DejaVu Serif"/>
              <a:sym typeface="DejaVu Serif"/>
            </a:endParaRP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4F665C8E-C2FF-703D-1599-68DE3A141555}"/>
              </a:ext>
            </a:extLst>
          </p:cNvPr>
          <p:cNvSpPr txBox="1"/>
          <p:nvPr/>
        </p:nvSpPr>
        <p:spPr>
          <a:xfrm>
            <a:off x="5354626" y="7815583"/>
            <a:ext cx="3463301" cy="14427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1801"/>
              </a:lnSpc>
            </a:pPr>
            <a:r>
              <a:rPr lang="en-US" altLang="zh-CN" sz="8429" dirty="0" err="1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diū</a:t>
            </a:r>
            <a:r>
              <a:rPr lang="en-US" altLang="zh-CN" sz="8429" dirty="0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 </a:t>
            </a:r>
            <a:endParaRPr lang="en-US" sz="8429" dirty="0">
              <a:solidFill>
                <a:srgbClr val="000000"/>
              </a:solidFill>
              <a:latin typeface="DejaVu Serif"/>
              <a:ea typeface="DejaVu Serif"/>
              <a:cs typeface="DejaVu Serif"/>
              <a:sym typeface="DejaVu Serif"/>
            </a:endParaRPr>
          </a:p>
        </p:txBody>
      </p:sp>
    </p:spTree>
    <p:extLst>
      <p:ext uri="{BB962C8B-B14F-4D97-AF65-F5344CB8AC3E}">
        <p14:creationId xmlns:p14="http://schemas.microsoft.com/office/powerpoint/2010/main" val="5063650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C17D9C-9926-80DD-80CF-6C422F2EF7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995977E4-697B-8389-92DA-0AE5357F3D58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256513" y="262070"/>
            <a:ext cx="17799702" cy="9762861"/>
            <a:chOff x="0" y="0"/>
            <a:chExt cx="4687987" cy="2571288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D75288AC-D491-503C-78D5-F61C35DDD2D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0"/>
              <a:ext cx="4687987" cy="2571288"/>
            </a:xfrm>
            <a:custGeom>
              <a:avLst/>
              <a:gdLst/>
              <a:ahLst/>
              <a:cxnLst/>
              <a:rect l="l" t="t" r="r" b="b"/>
              <a:pathLst>
                <a:path w="4687987" h="2571288">
                  <a:moveTo>
                    <a:pt x="22182" y="0"/>
                  </a:moveTo>
                  <a:lnTo>
                    <a:pt x="4665805" y="0"/>
                  </a:lnTo>
                  <a:cubicBezTo>
                    <a:pt x="4671688" y="0"/>
                    <a:pt x="4677330" y="2337"/>
                    <a:pt x="4681491" y="6497"/>
                  </a:cubicBezTo>
                  <a:cubicBezTo>
                    <a:pt x="4685650" y="10657"/>
                    <a:pt x="4687987" y="16299"/>
                    <a:pt x="4687987" y="22182"/>
                  </a:cubicBezTo>
                  <a:lnTo>
                    <a:pt x="4687987" y="2549106"/>
                  </a:lnTo>
                  <a:cubicBezTo>
                    <a:pt x="4687987" y="2554989"/>
                    <a:pt x="4685650" y="2560631"/>
                    <a:pt x="4681491" y="2564791"/>
                  </a:cubicBezTo>
                  <a:cubicBezTo>
                    <a:pt x="4677330" y="2568951"/>
                    <a:pt x="4671688" y="2571288"/>
                    <a:pt x="4665805" y="2571288"/>
                  </a:cubicBezTo>
                  <a:lnTo>
                    <a:pt x="22182" y="2571288"/>
                  </a:lnTo>
                  <a:cubicBezTo>
                    <a:pt x="16299" y="2571288"/>
                    <a:pt x="10657" y="2568951"/>
                    <a:pt x="6497" y="2564791"/>
                  </a:cubicBezTo>
                  <a:cubicBezTo>
                    <a:pt x="2337" y="2560631"/>
                    <a:pt x="0" y="2554989"/>
                    <a:pt x="0" y="2549106"/>
                  </a:cubicBezTo>
                  <a:lnTo>
                    <a:pt x="0" y="22182"/>
                  </a:lnTo>
                  <a:cubicBezTo>
                    <a:pt x="0" y="16299"/>
                    <a:pt x="2337" y="10657"/>
                    <a:pt x="6497" y="6497"/>
                  </a:cubicBezTo>
                  <a:cubicBezTo>
                    <a:pt x="10657" y="2337"/>
                    <a:pt x="16299" y="0"/>
                    <a:pt x="22182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vi-VN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2C3FED38-E616-4161-CD86-558DECAF071E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-38100"/>
              <a:ext cx="4687987" cy="26093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>
            <a:extLst>
              <a:ext uri="{FF2B5EF4-FFF2-40B4-BE49-F238E27FC236}">
                <a16:creationId xmlns:a16="http://schemas.microsoft.com/office/drawing/2014/main" id="{42FFA429-87D6-C8F3-D372-E011484BE607}"/>
              </a:ext>
            </a:extLst>
          </p:cNvPr>
          <p:cNvSpPr/>
          <p:nvPr/>
        </p:nvSpPr>
        <p:spPr>
          <a:xfrm>
            <a:off x="15171852" y="3248306"/>
            <a:ext cx="1290184" cy="1290184"/>
          </a:xfrm>
          <a:custGeom>
            <a:avLst/>
            <a:gdLst/>
            <a:ahLst/>
            <a:cxnLst/>
            <a:rect l="l" t="t" r="r" b="b"/>
            <a:pathLst>
              <a:path w="1290184" h="1290184">
                <a:moveTo>
                  <a:pt x="0" y="0"/>
                </a:moveTo>
                <a:lnTo>
                  <a:pt x="1290184" y="0"/>
                </a:lnTo>
                <a:lnTo>
                  <a:pt x="1290184" y="1290184"/>
                </a:lnTo>
                <a:lnTo>
                  <a:pt x="0" y="12901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vi-VN"/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DE817CBB-4321-628A-FCAF-CC624ACD2A4E}"/>
              </a:ext>
            </a:extLst>
          </p:cNvPr>
          <p:cNvSpPr txBox="1"/>
          <p:nvPr/>
        </p:nvSpPr>
        <p:spPr>
          <a:xfrm>
            <a:off x="1028700" y="1704715"/>
            <a:ext cx="10776078" cy="8135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606"/>
              </a:lnSpc>
            </a:pPr>
            <a:r>
              <a:rPr lang="en-US" sz="4719">
                <a:solidFill>
                  <a:srgbClr val="004AAD"/>
                </a:solidFill>
                <a:latin typeface="Noto Sans"/>
                <a:ea typeface="Noto Sans"/>
                <a:cs typeface="Noto Sans"/>
                <a:sym typeface="Noto Sans"/>
              </a:rPr>
              <a:t>Nhóm vận mẫu ghép của i</a:t>
            </a:r>
          </a:p>
        </p:txBody>
      </p:sp>
      <p:grpSp>
        <p:nvGrpSpPr>
          <p:cNvPr id="7" name="Group 7">
            <a:extLst>
              <a:ext uri="{FF2B5EF4-FFF2-40B4-BE49-F238E27FC236}">
                <a16:creationId xmlns:a16="http://schemas.microsoft.com/office/drawing/2014/main" id="{D4DAC836-325F-871F-C55D-F540BB52233E}"/>
              </a:ext>
            </a:extLst>
          </p:cNvPr>
          <p:cNvGrpSpPr/>
          <p:nvPr/>
        </p:nvGrpSpPr>
        <p:grpSpPr>
          <a:xfrm>
            <a:off x="12420601" y="2758393"/>
            <a:ext cx="2362198" cy="1993599"/>
            <a:chOff x="-251649" y="-38012"/>
            <a:chExt cx="1210616" cy="799349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F5D1D835-1C54-E76D-15DC-CCBB5338362C}"/>
                </a:ext>
              </a:extLst>
            </p:cNvPr>
            <p:cNvSpPr/>
            <p:nvPr/>
          </p:nvSpPr>
          <p:spPr>
            <a:xfrm>
              <a:off x="-251649" y="-38012"/>
              <a:ext cx="1210616" cy="799349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3131">
                <a:alpha val="45882"/>
              </a:srgbClr>
            </a:solidFill>
          </p:spPr>
          <p:txBody>
            <a:bodyPr/>
            <a:lstStyle/>
            <a:p>
              <a:endParaRPr lang="vi-VN" dirty="0"/>
            </a:p>
          </p:txBody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3724C6CC-5842-4BF7-4947-1EBD772BB535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0" name="TextBox 10">
            <a:extLst>
              <a:ext uri="{FF2B5EF4-FFF2-40B4-BE49-F238E27FC236}">
                <a16:creationId xmlns:a16="http://schemas.microsoft.com/office/drawing/2014/main" id="{43539892-BDD9-1C6B-BCEB-E036A96A9F65}"/>
              </a:ext>
            </a:extLst>
          </p:cNvPr>
          <p:cNvSpPr txBox="1"/>
          <p:nvPr/>
        </p:nvSpPr>
        <p:spPr>
          <a:xfrm>
            <a:off x="2256797" y="2943408"/>
            <a:ext cx="2340424" cy="15665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dirty="0" err="1">
                <a:solidFill>
                  <a:srgbClr val="004AAD"/>
                </a:solidFill>
                <a:latin typeface="Noto Sans"/>
                <a:ea typeface="Noto Sans"/>
                <a:cs typeface="Noto Sans"/>
                <a:sym typeface="Noto Sans"/>
              </a:rPr>
              <a:t>iao</a:t>
            </a:r>
            <a:endParaRPr lang="en-US" sz="9200" dirty="0">
              <a:solidFill>
                <a:srgbClr val="004AAD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F72B5252-73E5-534C-08E4-A5DC54561CEE}"/>
              </a:ext>
            </a:extLst>
          </p:cNvPr>
          <p:cNvSpPr txBox="1"/>
          <p:nvPr/>
        </p:nvSpPr>
        <p:spPr>
          <a:xfrm>
            <a:off x="12420600" y="2971921"/>
            <a:ext cx="2362199" cy="15665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>
                <a:solidFill>
                  <a:srgbClr val="004AAD"/>
                </a:solidFill>
                <a:latin typeface="Noto Sans"/>
                <a:ea typeface="Noto Sans"/>
                <a:cs typeface="Noto Sans"/>
                <a:sym typeface="Noto Sans"/>
              </a:rPr>
              <a:t>ian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33ECFFF6-2F55-B40D-EBB3-5C67597648BC}"/>
              </a:ext>
            </a:extLst>
          </p:cNvPr>
          <p:cNvSpPr txBox="1"/>
          <p:nvPr/>
        </p:nvSpPr>
        <p:spPr>
          <a:xfrm>
            <a:off x="5511861" y="3076856"/>
            <a:ext cx="5815814" cy="15665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>
                <a:solidFill>
                  <a:srgbClr val="004AAD"/>
                </a:solidFill>
                <a:latin typeface="Noto Sans"/>
                <a:ea typeface="Noto Sans"/>
                <a:cs typeface="Noto Sans"/>
                <a:sym typeface="Noto Sans"/>
              </a:rPr>
              <a:t>iou (-iu)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FC782833-5765-5B23-1DD1-08AF2BD84F0C}"/>
              </a:ext>
            </a:extLst>
          </p:cNvPr>
          <p:cNvSpPr txBox="1"/>
          <p:nvPr/>
        </p:nvSpPr>
        <p:spPr>
          <a:xfrm>
            <a:off x="1102489" y="340665"/>
            <a:ext cx="4754166" cy="1193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 b="1">
                <a:solidFill>
                  <a:srgbClr val="D86666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I. Vận mẫu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CD01A8A6-180C-1241-20D6-D59FE744A83D}"/>
              </a:ext>
            </a:extLst>
          </p:cNvPr>
          <p:cNvSpPr txBox="1"/>
          <p:nvPr/>
        </p:nvSpPr>
        <p:spPr>
          <a:xfrm>
            <a:off x="1718299" y="5821701"/>
            <a:ext cx="3463301" cy="14427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1801"/>
              </a:lnSpc>
            </a:pPr>
            <a:r>
              <a:rPr lang="en-US" altLang="zh-CN" sz="8429" dirty="0" err="1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lián</a:t>
            </a:r>
            <a:r>
              <a:rPr lang="en-US" altLang="zh-CN" sz="8429" dirty="0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 </a:t>
            </a:r>
            <a:endParaRPr lang="en-US" sz="8429" dirty="0">
              <a:solidFill>
                <a:srgbClr val="000000"/>
              </a:solidFill>
              <a:latin typeface="DejaVu Serif"/>
              <a:ea typeface="DejaVu Serif"/>
              <a:cs typeface="DejaVu Serif"/>
              <a:sym typeface="DejaVu Serif"/>
            </a:endParaRP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F3E220A0-E8F8-C48C-8141-8207671A4E53}"/>
              </a:ext>
            </a:extLst>
          </p:cNvPr>
          <p:cNvSpPr txBox="1"/>
          <p:nvPr/>
        </p:nvSpPr>
        <p:spPr>
          <a:xfrm>
            <a:off x="1718299" y="7815583"/>
            <a:ext cx="3463301" cy="14427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1801"/>
              </a:lnSpc>
            </a:pPr>
            <a:r>
              <a:rPr lang="en-US" altLang="zh-CN" sz="8429" dirty="0" err="1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miàn</a:t>
            </a:r>
            <a:r>
              <a:rPr lang="en-US" altLang="zh-CN" sz="8429" dirty="0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 </a:t>
            </a:r>
            <a:endParaRPr lang="en-US" sz="8429" dirty="0">
              <a:solidFill>
                <a:srgbClr val="000000"/>
              </a:solidFill>
              <a:latin typeface="DejaVu Serif"/>
              <a:ea typeface="DejaVu Serif"/>
              <a:cs typeface="DejaVu Serif"/>
              <a:sym typeface="DejaVu Serif"/>
            </a:endParaRP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473BC637-EEC1-BEBD-8D76-932249F7D091}"/>
              </a:ext>
            </a:extLst>
          </p:cNvPr>
          <p:cNvSpPr txBox="1"/>
          <p:nvPr/>
        </p:nvSpPr>
        <p:spPr>
          <a:xfrm>
            <a:off x="5354626" y="5821701"/>
            <a:ext cx="3463301" cy="14427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1801"/>
              </a:lnSpc>
            </a:pPr>
            <a:r>
              <a:rPr lang="en-US" altLang="zh-CN" sz="8429" dirty="0" err="1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tián</a:t>
            </a:r>
            <a:r>
              <a:rPr lang="en-US" altLang="zh-CN" sz="8429" dirty="0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    </a:t>
            </a:r>
            <a:endParaRPr lang="en-US" sz="8429" dirty="0">
              <a:solidFill>
                <a:srgbClr val="000000"/>
              </a:solidFill>
              <a:latin typeface="DejaVu Serif"/>
              <a:ea typeface="DejaVu Serif"/>
              <a:cs typeface="DejaVu Serif"/>
              <a:sym typeface="DejaVu Serif"/>
            </a:endParaRP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0F017299-AF83-4984-1607-9918AAD8B18F}"/>
              </a:ext>
            </a:extLst>
          </p:cNvPr>
          <p:cNvSpPr txBox="1"/>
          <p:nvPr/>
        </p:nvSpPr>
        <p:spPr>
          <a:xfrm>
            <a:off x="5354626" y="7815583"/>
            <a:ext cx="3463301" cy="14427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1801"/>
              </a:lnSpc>
            </a:pPr>
            <a:r>
              <a:rPr lang="en-US" altLang="zh-CN" sz="8429" dirty="0" err="1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qiǎn</a:t>
            </a:r>
            <a:r>
              <a:rPr lang="en-US" altLang="zh-CN" sz="8429" dirty="0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 </a:t>
            </a:r>
            <a:endParaRPr lang="en-US" sz="8429" dirty="0">
              <a:solidFill>
                <a:srgbClr val="000000"/>
              </a:solidFill>
              <a:latin typeface="DejaVu Serif"/>
              <a:ea typeface="DejaVu Serif"/>
              <a:cs typeface="DejaVu Serif"/>
              <a:sym typeface="DejaVu Serif"/>
            </a:endParaRPr>
          </a:p>
        </p:txBody>
      </p:sp>
    </p:spTree>
    <p:extLst>
      <p:ext uri="{BB962C8B-B14F-4D97-AF65-F5344CB8AC3E}">
        <p14:creationId xmlns:p14="http://schemas.microsoft.com/office/powerpoint/2010/main" val="87801582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Grp="1" noUngrp="1" noRot="1" noMove="1" noResize="1"/>
          </p:cNvGrpSpPr>
          <p:nvPr/>
        </p:nvGrpSpPr>
        <p:grpSpPr>
          <a:xfrm>
            <a:off x="256513" y="262070"/>
            <a:ext cx="17799702" cy="9762861"/>
            <a:chOff x="0" y="0"/>
            <a:chExt cx="4687987" cy="2571288"/>
          </a:xfrm>
        </p:grpSpPr>
        <p:sp>
          <p:nvSpPr>
            <p:cNvPr id="3" name="Freeform 3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0"/>
              <a:ext cx="4687987" cy="2571288"/>
            </a:xfrm>
            <a:custGeom>
              <a:avLst/>
              <a:gdLst/>
              <a:ahLst/>
              <a:cxnLst/>
              <a:rect l="l" t="t" r="r" b="b"/>
              <a:pathLst>
                <a:path w="4687987" h="2571288">
                  <a:moveTo>
                    <a:pt x="22182" y="0"/>
                  </a:moveTo>
                  <a:lnTo>
                    <a:pt x="4665805" y="0"/>
                  </a:lnTo>
                  <a:cubicBezTo>
                    <a:pt x="4671688" y="0"/>
                    <a:pt x="4677330" y="2337"/>
                    <a:pt x="4681491" y="6497"/>
                  </a:cubicBezTo>
                  <a:cubicBezTo>
                    <a:pt x="4685650" y="10657"/>
                    <a:pt x="4687987" y="16299"/>
                    <a:pt x="4687987" y="22182"/>
                  </a:cubicBezTo>
                  <a:lnTo>
                    <a:pt x="4687987" y="2549106"/>
                  </a:lnTo>
                  <a:cubicBezTo>
                    <a:pt x="4687987" y="2554989"/>
                    <a:pt x="4685650" y="2560631"/>
                    <a:pt x="4681491" y="2564791"/>
                  </a:cubicBezTo>
                  <a:cubicBezTo>
                    <a:pt x="4677330" y="2568951"/>
                    <a:pt x="4671688" y="2571288"/>
                    <a:pt x="4665805" y="2571288"/>
                  </a:cubicBezTo>
                  <a:lnTo>
                    <a:pt x="22182" y="2571288"/>
                  </a:lnTo>
                  <a:cubicBezTo>
                    <a:pt x="16299" y="2571288"/>
                    <a:pt x="10657" y="2568951"/>
                    <a:pt x="6497" y="2564791"/>
                  </a:cubicBezTo>
                  <a:cubicBezTo>
                    <a:pt x="2337" y="2560631"/>
                    <a:pt x="0" y="2554989"/>
                    <a:pt x="0" y="2549106"/>
                  </a:cubicBezTo>
                  <a:lnTo>
                    <a:pt x="0" y="22182"/>
                  </a:lnTo>
                  <a:cubicBezTo>
                    <a:pt x="0" y="16299"/>
                    <a:pt x="2337" y="10657"/>
                    <a:pt x="6497" y="6497"/>
                  </a:cubicBezTo>
                  <a:cubicBezTo>
                    <a:pt x="10657" y="2337"/>
                    <a:pt x="16299" y="0"/>
                    <a:pt x="22182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vi-VN"/>
            </a:p>
          </p:txBody>
        </p:sp>
        <p:sp>
          <p:nvSpPr>
            <p:cNvPr id="4" name="TextBox 4"/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-38100"/>
              <a:ext cx="4687987" cy="26093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4790444" y="3248306"/>
            <a:ext cx="1290184" cy="1290184"/>
          </a:xfrm>
          <a:custGeom>
            <a:avLst/>
            <a:gdLst/>
            <a:ahLst/>
            <a:cxnLst/>
            <a:rect l="l" t="t" r="r" b="b"/>
            <a:pathLst>
              <a:path w="1290184" h="1290184">
                <a:moveTo>
                  <a:pt x="0" y="0"/>
                </a:moveTo>
                <a:lnTo>
                  <a:pt x="1290184" y="0"/>
                </a:lnTo>
                <a:lnTo>
                  <a:pt x="1290184" y="1290184"/>
                </a:lnTo>
                <a:lnTo>
                  <a:pt x="0" y="12901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vi-VN"/>
          </a:p>
        </p:txBody>
      </p:sp>
      <p:sp>
        <p:nvSpPr>
          <p:cNvPr id="6" name="TextBox 6"/>
          <p:cNvSpPr txBox="1"/>
          <p:nvPr/>
        </p:nvSpPr>
        <p:spPr>
          <a:xfrm>
            <a:off x="1028700" y="1704715"/>
            <a:ext cx="10776078" cy="8135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606"/>
              </a:lnSpc>
            </a:pPr>
            <a:r>
              <a:rPr lang="en-US" sz="4719">
                <a:solidFill>
                  <a:srgbClr val="004AAD"/>
                </a:solidFill>
                <a:latin typeface="Noto Sans"/>
                <a:ea typeface="Noto Sans"/>
                <a:cs typeface="Noto Sans"/>
                <a:sym typeface="Noto Sans"/>
              </a:rPr>
              <a:t>Nhóm vận mẫu ghép của i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2207372" y="3072539"/>
            <a:ext cx="2364627" cy="1650856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3131">
                <a:alpha val="45882"/>
              </a:srgbClr>
            </a:solidFill>
          </p:spPr>
          <p:txBody>
            <a:bodyPr/>
            <a:lstStyle/>
            <a:p>
              <a:endParaRPr lang="vi-VN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2207372" y="2971921"/>
            <a:ext cx="2364627" cy="15665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dirty="0" err="1">
                <a:solidFill>
                  <a:srgbClr val="004AAD"/>
                </a:solidFill>
                <a:latin typeface="Noto Sans"/>
                <a:ea typeface="Noto Sans"/>
                <a:cs typeface="Noto Sans"/>
                <a:sym typeface="Noto Sans"/>
              </a:rPr>
              <a:t>ing</a:t>
            </a:r>
            <a:endParaRPr lang="en-US" sz="9200" dirty="0">
              <a:solidFill>
                <a:srgbClr val="004AAD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0839355" y="3024401"/>
            <a:ext cx="3511325" cy="15665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1">
                <a:solidFill>
                  <a:srgbClr val="004AAD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iong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582672" y="2971921"/>
            <a:ext cx="3254274" cy="15665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dirty="0" err="1">
                <a:solidFill>
                  <a:srgbClr val="004AAD"/>
                </a:solidFill>
                <a:latin typeface="Noto Sans"/>
                <a:ea typeface="Noto Sans"/>
                <a:cs typeface="Noto Sans"/>
                <a:sym typeface="Noto Sans"/>
              </a:rPr>
              <a:t>iang</a:t>
            </a:r>
            <a:endParaRPr lang="en-US" sz="9200" dirty="0">
              <a:solidFill>
                <a:srgbClr val="004AAD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102489" y="340665"/>
            <a:ext cx="4754166" cy="1193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 b="1">
                <a:solidFill>
                  <a:srgbClr val="D86666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I. Vận mẫu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096414" y="5563605"/>
            <a:ext cx="3085186" cy="13977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1801"/>
              </a:lnSpc>
            </a:pPr>
            <a:r>
              <a:rPr lang="en-US" altLang="zh-CN" sz="8429" dirty="0" err="1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míng</a:t>
            </a:r>
            <a:r>
              <a:rPr lang="en-US" altLang="zh-CN" sz="8429" dirty="0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 </a:t>
            </a:r>
            <a:endParaRPr lang="en-US" sz="8429" dirty="0">
              <a:solidFill>
                <a:srgbClr val="000000"/>
              </a:solidFill>
              <a:latin typeface="DejaVu Serif"/>
              <a:ea typeface="DejaVu Serif"/>
              <a:cs typeface="DejaVu Serif"/>
              <a:sym typeface="DejaVu Serif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2096414" y="7557486"/>
            <a:ext cx="3313786" cy="14427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1801"/>
              </a:lnSpc>
            </a:pPr>
            <a:r>
              <a:rPr lang="en-US" altLang="zh-CN" sz="8429" dirty="0" err="1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tīng</a:t>
            </a:r>
            <a:r>
              <a:rPr lang="en-US" altLang="zh-CN" sz="8429" dirty="0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 </a:t>
            </a:r>
            <a:endParaRPr lang="en-US" sz="8429" dirty="0">
              <a:solidFill>
                <a:srgbClr val="000000"/>
              </a:solidFill>
              <a:latin typeface="DejaVu Serif"/>
              <a:ea typeface="DejaVu Serif"/>
              <a:cs typeface="DejaVu Serif"/>
              <a:sym typeface="DejaVu Serif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6781800" y="5563399"/>
            <a:ext cx="3944659" cy="14427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1801"/>
              </a:lnSpc>
            </a:pPr>
            <a:r>
              <a:rPr lang="en-US" altLang="zh-CN" sz="8429" dirty="0" err="1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xíng</a:t>
            </a:r>
            <a:r>
              <a:rPr lang="en-US" altLang="zh-CN" sz="8429" dirty="0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 </a:t>
            </a:r>
            <a:endParaRPr lang="en-US" sz="8429" dirty="0">
              <a:solidFill>
                <a:srgbClr val="000000"/>
              </a:solidFill>
              <a:latin typeface="DejaVu Serif"/>
              <a:ea typeface="DejaVu Serif"/>
              <a:cs typeface="DejaVu Serif"/>
              <a:sym typeface="DejaVu Serif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6781800" y="7557280"/>
            <a:ext cx="3944659" cy="14427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1801"/>
              </a:lnSpc>
            </a:pPr>
            <a:r>
              <a:rPr lang="en-US" altLang="zh-CN" sz="8429" dirty="0" err="1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qǐng</a:t>
            </a:r>
            <a:r>
              <a:rPr lang="en-US" altLang="zh-CN" sz="8429" dirty="0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 </a:t>
            </a:r>
            <a:endParaRPr lang="en-US" sz="8429" dirty="0">
              <a:solidFill>
                <a:srgbClr val="000000"/>
              </a:solidFill>
              <a:latin typeface="DejaVu Serif"/>
              <a:ea typeface="DejaVu Serif"/>
              <a:cs typeface="DejaVu Serif"/>
              <a:sym typeface="DejaVu Serif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2318B8-51A4-A8FD-215F-C09E22C1D1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1E6D1E8F-9868-352E-44E1-7F7EDEB2354B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256513" y="262070"/>
            <a:ext cx="17799702" cy="9762861"/>
            <a:chOff x="0" y="0"/>
            <a:chExt cx="4687987" cy="2571288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AEB2F2D4-9538-69F0-2231-0F553641375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0"/>
              <a:ext cx="4687987" cy="2571288"/>
            </a:xfrm>
            <a:custGeom>
              <a:avLst/>
              <a:gdLst/>
              <a:ahLst/>
              <a:cxnLst/>
              <a:rect l="l" t="t" r="r" b="b"/>
              <a:pathLst>
                <a:path w="4687987" h="2571288">
                  <a:moveTo>
                    <a:pt x="22182" y="0"/>
                  </a:moveTo>
                  <a:lnTo>
                    <a:pt x="4665805" y="0"/>
                  </a:lnTo>
                  <a:cubicBezTo>
                    <a:pt x="4671688" y="0"/>
                    <a:pt x="4677330" y="2337"/>
                    <a:pt x="4681491" y="6497"/>
                  </a:cubicBezTo>
                  <a:cubicBezTo>
                    <a:pt x="4685650" y="10657"/>
                    <a:pt x="4687987" y="16299"/>
                    <a:pt x="4687987" y="22182"/>
                  </a:cubicBezTo>
                  <a:lnTo>
                    <a:pt x="4687987" y="2549106"/>
                  </a:lnTo>
                  <a:cubicBezTo>
                    <a:pt x="4687987" y="2554989"/>
                    <a:pt x="4685650" y="2560631"/>
                    <a:pt x="4681491" y="2564791"/>
                  </a:cubicBezTo>
                  <a:cubicBezTo>
                    <a:pt x="4677330" y="2568951"/>
                    <a:pt x="4671688" y="2571288"/>
                    <a:pt x="4665805" y="2571288"/>
                  </a:cubicBezTo>
                  <a:lnTo>
                    <a:pt x="22182" y="2571288"/>
                  </a:lnTo>
                  <a:cubicBezTo>
                    <a:pt x="16299" y="2571288"/>
                    <a:pt x="10657" y="2568951"/>
                    <a:pt x="6497" y="2564791"/>
                  </a:cubicBezTo>
                  <a:cubicBezTo>
                    <a:pt x="2337" y="2560631"/>
                    <a:pt x="0" y="2554989"/>
                    <a:pt x="0" y="2549106"/>
                  </a:cubicBezTo>
                  <a:lnTo>
                    <a:pt x="0" y="22182"/>
                  </a:lnTo>
                  <a:cubicBezTo>
                    <a:pt x="0" y="16299"/>
                    <a:pt x="2337" y="10657"/>
                    <a:pt x="6497" y="6497"/>
                  </a:cubicBezTo>
                  <a:cubicBezTo>
                    <a:pt x="10657" y="2337"/>
                    <a:pt x="16299" y="0"/>
                    <a:pt x="22182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vi-VN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87358D98-ABBF-F330-423B-E6285DBB4476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-38100"/>
              <a:ext cx="4687987" cy="26093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>
            <a:extLst>
              <a:ext uri="{FF2B5EF4-FFF2-40B4-BE49-F238E27FC236}">
                <a16:creationId xmlns:a16="http://schemas.microsoft.com/office/drawing/2014/main" id="{2A15EC5B-6689-8086-71E4-0E36D81649F7}"/>
              </a:ext>
            </a:extLst>
          </p:cNvPr>
          <p:cNvSpPr/>
          <p:nvPr/>
        </p:nvSpPr>
        <p:spPr>
          <a:xfrm>
            <a:off x="14790444" y="3248306"/>
            <a:ext cx="1290184" cy="1290184"/>
          </a:xfrm>
          <a:custGeom>
            <a:avLst/>
            <a:gdLst/>
            <a:ahLst/>
            <a:cxnLst/>
            <a:rect l="l" t="t" r="r" b="b"/>
            <a:pathLst>
              <a:path w="1290184" h="1290184">
                <a:moveTo>
                  <a:pt x="0" y="0"/>
                </a:moveTo>
                <a:lnTo>
                  <a:pt x="1290184" y="0"/>
                </a:lnTo>
                <a:lnTo>
                  <a:pt x="1290184" y="1290184"/>
                </a:lnTo>
                <a:lnTo>
                  <a:pt x="0" y="12901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vi-VN"/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D111355C-0C72-64EA-A30C-C2F5B5AEC9C6}"/>
              </a:ext>
            </a:extLst>
          </p:cNvPr>
          <p:cNvSpPr txBox="1"/>
          <p:nvPr/>
        </p:nvSpPr>
        <p:spPr>
          <a:xfrm>
            <a:off x="1028700" y="1704715"/>
            <a:ext cx="10776078" cy="8135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606"/>
              </a:lnSpc>
            </a:pPr>
            <a:r>
              <a:rPr lang="en-US" sz="4719">
                <a:solidFill>
                  <a:srgbClr val="004AAD"/>
                </a:solidFill>
                <a:latin typeface="Noto Sans"/>
                <a:ea typeface="Noto Sans"/>
                <a:cs typeface="Noto Sans"/>
                <a:sym typeface="Noto Sans"/>
              </a:rPr>
              <a:t>Nhóm vận mẫu ghép của i</a:t>
            </a:r>
          </a:p>
        </p:txBody>
      </p:sp>
      <p:grpSp>
        <p:nvGrpSpPr>
          <p:cNvPr id="7" name="Group 7">
            <a:extLst>
              <a:ext uri="{FF2B5EF4-FFF2-40B4-BE49-F238E27FC236}">
                <a16:creationId xmlns:a16="http://schemas.microsoft.com/office/drawing/2014/main" id="{BDDB3D8D-5482-9A2F-C4B5-2076514793AA}"/>
              </a:ext>
            </a:extLst>
          </p:cNvPr>
          <p:cNvGrpSpPr/>
          <p:nvPr/>
        </p:nvGrpSpPr>
        <p:grpSpPr>
          <a:xfrm>
            <a:off x="6934200" y="3067970"/>
            <a:ext cx="2649905" cy="1655631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2EAE3C0B-6B5E-2F4E-C94B-467F5531F68A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3131">
                <a:alpha val="45882"/>
              </a:srgbClr>
            </a:solidFill>
          </p:spPr>
          <p:txBody>
            <a:bodyPr/>
            <a:lstStyle/>
            <a:p>
              <a:endParaRPr lang="vi-VN" dirty="0"/>
            </a:p>
          </p:txBody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C335D1AB-37E9-0148-00DA-F741F998F741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0" name="TextBox 10">
            <a:extLst>
              <a:ext uri="{FF2B5EF4-FFF2-40B4-BE49-F238E27FC236}">
                <a16:creationId xmlns:a16="http://schemas.microsoft.com/office/drawing/2014/main" id="{3504017B-5EB8-1E1C-0356-B7447B74E86D}"/>
              </a:ext>
            </a:extLst>
          </p:cNvPr>
          <p:cNvSpPr txBox="1"/>
          <p:nvPr/>
        </p:nvSpPr>
        <p:spPr>
          <a:xfrm>
            <a:off x="2207372" y="2971921"/>
            <a:ext cx="2364627" cy="15665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dirty="0" err="1">
                <a:solidFill>
                  <a:srgbClr val="004AAD"/>
                </a:solidFill>
                <a:latin typeface="Noto Sans"/>
                <a:ea typeface="Noto Sans"/>
                <a:cs typeface="Noto Sans"/>
                <a:sym typeface="Noto Sans"/>
              </a:rPr>
              <a:t>ing</a:t>
            </a:r>
            <a:endParaRPr lang="en-US" sz="9200" dirty="0">
              <a:solidFill>
                <a:srgbClr val="004AAD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125121C9-4C4C-C73E-D8D6-639193E29C07}"/>
              </a:ext>
            </a:extLst>
          </p:cNvPr>
          <p:cNvSpPr txBox="1"/>
          <p:nvPr/>
        </p:nvSpPr>
        <p:spPr>
          <a:xfrm>
            <a:off x="10839355" y="3024401"/>
            <a:ext cx="3511325" cy="15665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1">
                <a:solidFill>
                  <a:srgbClr val="004AAD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iong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3CA862A9-C5EB-D18B-0BA2-07C0F454A4B0}"/>
              </a:ext>
            </a:extLst>
          </p:cNvPr>
          <p:cNvSpPr txBox="1"/>
          <p:nvPr/>
        </p:nvSpPr>
        <p:spPr>
          <a:xfrm>
            <a:off x="6582672" y="2971921"/>
            <a:ext cx="3254274" cy="15665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dirty="0" err="1">
                <a:solidFill>
                  <a:srgbClr val="004AAD"/>
                </a:solidFill>
                <a:latin typeface="Noto Sans"/>
                <a:ea typeface="Noto Sans"/>
                <a:cs typeface="Noto Sans"/>
                <a:sym typeface="Noto Sans"/>
              </a:rPr>
              <a:t>iang</a:t>
            </a:r>
            <a:endParaRPr lang="en-US" sz="9200" dirty="0">
              <a:solidFill>
                <a:srgbClr val="004AAD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FC3DDA33-E621-F5E4-504D-DB177A206B4B}"/>
              </a:ext>
            </a:extLst>
          </p:cNvPr>
          <p:cNvSpPr txBox="1"/>
          <p:nvPr/>
        </p:nvSpPr>
        <p:spPr>
          <a:xfrm>
            <a:off x="1102489" y="340665"/>
            <a:ext cx="4754166" cy="1193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 b="1">
                <a:solidFill>
                  <a:srgbClr val="D86666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I. Vận mẫu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1E6727CA-73F7-E048-1676-931A64FD5633}"/>
              </a:ext>
            </a:extLst>
          </p:cNvPr>
          <p:cNvSpPr txBox="1"/>
          <p:nvPr/>
        </p:nvSpPr>
        <p:spPr>
          <a:xfrm>
            <a:off x="2096414" y="5563605"/>
            <a:ext cx="3161386" cy="13977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1801"/>
              </a:lnSpc>
            </a:pPr>
            <a:r>
              <a:rPr lang="en-US" altLang="zh-CN" sz="8429" dirty="0" err="1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xiǎng</a:t>
            </a:r>
            <a:r>
              <a:rPr lang="en-US" altLang="zh-CN" sz="8429" dirty="0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 </a:t>
            </a:r>
            <a:endParaRPr lang="en-US" sz="8429" dirty="0">
              <a:solidFill>
                <a:srgbClr val="000000"/>
              </a:solidFill>
              <a:latin typeface="DejaVu Serif"/>
              <a:ea typeface="DejaVu Serif"/>
              <a:cs typeface="DejaVu Serif"/>
              <a:sym typeface="DejaVu Serif"/>
            </a:endParaRP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977996E2-D1EC-84B9-F915-0D9AE5E26794}"/>
              </a:ext>
            </a:extLst>
          </p:cNvPr>
          <p:cNvSpPr txBox="1"/>
          <p:nvPr/>
        </p:nvSpPr>
        <p:spPr>
          <a:xfrm>
            <a:off x="2096414" y="7557486"/>
            <a:ext cx="3313786" cy="14427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1801"/>
              </a:lnSpc>
            </a:pPr>
            <a:r>
              <a:rPr lang="en-US" altLang="zh-CN" sz="8429" dirty="0" err="1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liǎng</a:t>
            </a:r>
            <a:r>
              <a:rPr lang="en-US" altLang="zh-CN" sz="8429" dirty="0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 </a:t>
            </a:r>
            <a:endParaRPr lang="en-US" sz="8429" dirty="0">
              <a:solidFill>
                <a:srgbClr val="000000"/>
              </a:solidFill>
              <a:latin typeface="DejaVu Serif"/>
              <a:ea typeface="DejaVu Serif"/>
              <a:cs typeface="DejaVu Serif"/>
              <a:sym typeface="DejaVu Serif"/>
            </a:endParaRP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5F0D2D0D-1E43-9205-E433-12802728DA90}"/>
              </a:ext>
            </a:extLst>
          </p:cNvPr>
          <p:cNvSpPr txBox="1"/>
          <p:nvPr/>
        </p:nvSpPr>
        <p:spPr>
          <a:xfrm>
            <a:off x="6781800" y="5563399"/>
            <a:ext cx="3944659" cy="14427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1801"/>
              </a:lnSpc>
            </a:pPr>
            <a:r>
              <a:rPr lang="en-US" altLang="zh-CN" sz="8429" dirty="0" err="1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jiàng</a:t>
            </a:r>
            <a:r>
              <a:rPr lang="en-US" altLang="zh-CN" sz="8429" dirty="0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  </a:t>
            </a:r>
            <a:endParaRPr lang="en-US" sz="8429" dirty="0">
              <a:solidFill>
                <a:srgbClr val="000000"/>
              </a:solidFill>
              <a:latin typeface="DejaVu Serif"/>
              <a:ea typeface="DejaVu Serif"/>
              <a:cs typeface="DejaVu Serif"/>
              <a:sym typeface="DejaVu Serif"/>
            </a:endParaRP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2D0E05FC-F00E-4DBF-1EF6-F639DCF4E624}"/>
              </a:ext>
            </a:extLst>
          </p:cNvPr>
          <p:cNvSpPr txBox="1"/>
          <p:nvPr/>
        </p:nvSpPr>
        <p:spPr>
          <a:xfrm>
            <a:off x="6781800" y="7557280"/>
            <a:ext cx="3944659" cy="14427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1801"/>
              </a:lnSpc>
            </a:pPr>
            <a:r>
              <a:rPr lang="en-US" altLang="zh-CN" sz="8429" dirty="0" err="1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qiāng</a:t>
            </a:r>
            <a:r>
              <a:rPr lang="en-US" altLang="zh-CN" sz="8429" dirty="0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 </a:t>
            </a:r>
            <a:endParaRPr lang="en-US" sz="8429" dirty="0">
              <a:solidFill>
                <a:srgbClr val="000000"/>
              </a:solidFill>
              <a:latin typeface="DejaVu Serif"/>
              <a:ea typeface="DejaVu Serif"/>
              <a:cs typeface="DejaVu Serif"/>
              <a:sym typeface="DejaVu Serif"/>
            </a:endParaRPr>
          </a:p>
        </p:txBody>
      </p:sp>
    </p:spTree>
    <p:extLst>
      <p:ext uri="{BB962C8B-B14F-4D97-AF65-F5344CB8AC3E}">
        <p14:creationId xmlns:p14="http://schemas.microsoft.com/office/powerpoint/2010/main" val="397707845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2CBCBD-8471-EE0C-8DBD-03E7AD33E8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2856EA0B-8AD7-C8B1-6FC1-28BE2887D5CA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256513" y="262070"/>
            <a:ext cx="17799702" cy="9762861"/>
            <a:chOff x="0" y="0"/>
            <a:chExt cx="4687987" cy="2571288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3621D297-4390-C7EA-5F8E-4558C5EDD36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0"/>
              <a:ext cx="4687987" cy="2571288"/>
            </a:xfrm>
            <a:custGeom>
              <a:avLst/>
              <a:gdLst/>
              <a:ahLst/>
              <a:cxnLst/>
              <a:rect l="l" t="t" r="r" b="b"/>
              <a:pathLst>
                <a:path w="4687987" h="2571288">
                  <a:moveTo>
                    <a:pt x="22182" y="0"/>
                  </a:moveTo>
                  <a:lnTo>
                    <a:pt x="4665805" y="0"/>
                  </a:lnTo>
                  <a:cubicBezTo>
                    <a:pt x="4671688" y="0"/>
                    <a:pt x="4677330" y="2337"/>
                    <a:pt x="4681491" y="6497"/>
                  </a:cubicBezTo>
                  <a:cubicBezTo>
                    <a:pt x="4685650" y="10657"/>
                    <a:pt x="4687987" y="16299"/>
                    <a:pt x="4687987" y="22182"/>
                  </a:cubicBezTo>
                  <a:lnTo>
                    <a:pt x="4687987" y="2549106"/>
                  </a:lnTo>
                  <a:cubicBezTo>
                    <a:pt x="4687987" y="2554989"/>
                    <a:pt x="4685650" y="2560631"/>
                    <a:pt x="4681491" y="2564791"/>
                  </a:cubicBezTo>
                  <a:cubicBezTo>
                    <a:pt x="4677330" y="2568951"/>
                    <a:pt x="4671688" y="2571288"/>
                    <a:pt x="4665805" y="2571288"/>
                  </a:cubicBezTo>
                  <a:lnTo>
                    <a:pt x="22182" y="2571288"/>
                  </a:lnTo>
                  <a:cubicBezTo>
                    <a:pt x="16299" y="2571288"/>
                    <a:pt x="10657" y="2568951"/>
                    <a:pt x="6497" y="2564791"/>
                  </a:cubicBezTo>
                  <a:cubicBezTo>
                    <a:pt x="2337" y="2560631"/>
                    <a:pt x="0" y="2554989"/>
                    <a:pt x="0" y="2549106"/>
                  </a:cubicBezTo>
                  <a:lnTo>
                    <a:pt x="0" y="22182"/>
                  </a:lnTo>
                  <a:cubicBezTo>
                    <a:pt x="0" y="16299"/>
                    <a:pt x="2337" y="10657"/>
                    <a:pt x="6497" y="6497"/>
                  </a:cubicBezTo>
                  <a:cubicBezTo>
                    <a:pt x="10657" y="2337"/>
                    <a:pt x="16299" y="0"/>
                    <a:pt x="22182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vi-VN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11D0014D-716D-9DEA-F030-5EEFA9B30E77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-38100"/>
              <a:ext cx="4687987" cy="26093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>
            <a:extLst>
              <a:ext uri="{FF2B5EF4-FFF2-40B4-BE49-F238E27FC236}">
                <a16:creationId xmlns:a16="http://schemas.microsoft.com/office/drawing/2014/main" id="{CEFA6928-8D0A-AF56-D7C9-D13444F45837}"/>
              </a:ext>
            </a:extLst>
          </p:cNvPr>
          <p:cNvSpPr/>
          <p:nvPr/>
        </p:nvSpPr>
        <p:spPr>
          <a:xfrm>
            <a:off x="14790444" y="3248306"/>
            <a:ext cx="1290184" cy="1290184"/>
          </a:xfrm>
          <a:custGeom>
            <a:avLst/>
            <a:gdLst/>
            <a:ahLst/>
            <a:cxnLst/>
            <a:rect l="l" t="t" r="r" b="b"/>
            <a:pathLst>
              <a:path w="1290184" h="1290184">
                <a:moveTo>
                  <a:pt x="0" y="0"/>
                </a:moveTo>
                <a:lnTo>
                  <a:pt x="1290184" y="0"/>
                </a:lnTo>
                <a:lnTo>
                  <a:pt x="1290184" y="1290184"/>
                </a:lnTo>
                <a:lnTo>
                  <a:pt x="0" y="12901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vi-VN"/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41404B0F-285E-649B-F8F7-C24634A05361}"/>
              </a:ext>
            </a:extLst>
          </p:cNvPr>
          <p:cNvSpPr txBox="1"/>
          <p:nvPr/>
        </p:nvSpPr>
        <p:spPr>
          <a:xfrm>
            <a:off x="1028700" y="1704715"/>
            <a:ext cx="10776078" cy="8135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606"/>
              </a:lnSpc>
            </a:pPr>
            <a:r>
              <a:rPr lang="en-US" sz="4719">
                <a:solidFill>
                  <a:srgbClr val="004AAD"/>
                </a:solidFill>
                <a:latin typeface="Noto Sans"/>
                <a:ea typeface="Noto Sans"/>
                <a:cs typeface="Noto Sans"/>
                <a:sym typeface="Noto Sans"/>
              </a:rPr>
              <a:t>Nhóm vận mẫu ghép của i</a:t>
            </a:r>
          </a:p>
        </p:txBody>
      </p:sp>
      <p:grpSp>
        <p:nvGrpSpPr>
          <p:cNvPr id="7" name="Group 7">
            <a:extLst>
              <a:ext uri="{FF2B5EF4-FFF2-40B4-BE49-F238E27FC236}">
                <a16:creationId xmlns:a16="http://schemas.microsoft.com/office/drawing/2014/main" id="{423BBDD1-4982-F6F0-611C-7A626BECE0F3}"/>
              </a:ext>
            </a:extLst>
          </p:cNvPr>
          <p:cNvGrpSpPr/>
          <p:nvPr/>
        </p:nvGrpSpPr>
        <p:grpSpPr>
          <a:xfrm>
            <a:off x="11045393" y="2929764"/>
            <a:ext cx="3254274" cy="1908935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3C6D02FD-5FA1-012C-21AD-7F17FE6025C3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3131">
                <a:alpha val="45882"/>
              </a:srgbClr>
            </a:solidFill>
          </p:spPr>
          <p:txBody>
            <a:bodyPr/>
            <a:lstStyle/>
            <a:p>
              <a:endParaRPr lang="vi-VN"/>
            </a:p>
          </p:txBody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F02FBCF0-FB02-0AF9-4293-277EA9B3BEC9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0" name="TextBox 10">
            <a:extLst>
              <a:ext uri="{FF2B5EF4-FFF2-40B4-BE49-F238E27FC236}">
                <a16:creationId xmlns:a16="http://schemas.microsoft.com/office/drawing/2014/main" id="{4FCA77E2-368D-DC9A-519A-6EDFC5DDC619}"/>
              </a:ext>
            </a:extLst>
          </p:cNvPr>
          <p:cNvSpPr txBox="1"/>
          <p:nvPr/>
        </p:nvSpPr>
        <p:spPr>
          <a:xfrm>
            <a:off x="2207372" y="2971921"/>
            <a:ext cx="2364627" cy="15665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dirty="0" err="1">
                <a:solidFill>
                  <a:srgbClr val="004AAD"/>
                </a:solidFill>
                <a:latin typeface="Noto Sans"/>
                <a:ea typeface="Noto Sans"/>
                <a:cs typeface="Noto Sans"/>
                <a:sym typeface="Noto Sans"/>
              </a:rPr>
              <a:t>ing</a:t>
            </a:r>
            <a:endParaRPr lang="en-US" sz="9200" dirty="0">
              <a:solidFill>
                <a:srgbClr val="004AAD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CE5D0D89-7437-7422-399A-61684D075003}"/>
              </a:ext>
            </a:extLst>
          </p:cNvPr>
          <p:cNvSpPr txBox="1"/>
          <p:nvPr/>
        </p:nvSpPr>
        <p:spPr>
          <a:xfrm>
            <a:off x="10839355" y="3024401"/>
            <a:ext cx="3511325" cy="15665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1">
                <a:solidFill>
                  <a:srgbClr val="004AAD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iong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7A6FC47B-5D5E-8CAA-7DF3-973245F460D4}"/>
              </a:ext>
            </a:extLst>
          </p:cNvPr>
          <p:cNvSpPr txBox="1"/>
          <p:nvPr/>
        </p:nvSpPr>
        <p:spPr>
          <a:xfrm>
            <a:off x="6582672" y="2971921"/>
            <a:ext cx="3254274" cy="15665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dirty="0" err="1">
                <a:solidFill>
                  <a:srgbClr val="004AAD"/>
                </a:solidFill>
                <a:latin typeface="Noto Sans"/>
                <a:ea typeface="Noto Sans"/>
                <a:cs typeface="Noto Sans"/>
                <a:sym typeface="Noto Sans"/>
              </a:rPr>
              <a:t>iang</a:t>
            </a:r>
            <a:endParaRPr lang="en-US" sz="9200" dirty="0">
              <a:solidFill>
                <a:srgbClr val="004AAD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FEAC9D22-B963-79E5-CACC-263B6B2472AC}"/>
              </a:ext>
            </a:extLst>
          </p:cNvPr>
          <p:cNvSpPr txBox="1"/>
          <p:nvPr/>
        </p:nvSpPr>
        <p:spPr>
          <a:xfrm>
            <a:off x="1102489" y="340665"/>
            <a:ext cx="4754166" cy="1193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 b="1">
                <a:solidFill>
                  <a:srgbClr val="D86666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I. Vận mẫu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07B76BAC-6E5F-9F54-E0DA-F7D3938AA3AC}"/>
              </a:ext>
            </a:extLst>
          </p:cNvPr>
          <p:cNvSpPr txBox="1"/>
          <p:nvPr/>
        </p:nvSpPr>
        <p:spPr>
          <a:xfrm>
            <a:off x="2096414" y="5563605"/>
            <a:ext cx="3085186" cy="13977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1801"/>
              </a:lnSpc>
            </a:pPr>
            <a:r>
              <a:rPr lang="en-US" altLang="zh-CN" sz="8429" dirty="0" err="1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xiōng</a:t>
            </a:r>
            <a:r>
              <a:rPr lang="en-US" altLang="zh-CN" sz="8429" dirty="0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 </a:t>
            </a:r>
            <a:endParaRPr lang="en-US" sz="8429" dirty="0">
              <a:solidFill>
                <a:srgbClr val="000000"/>
              </a:solidFill>
              <a:latin typeface="DejaVu Serif"/>
              <a:ea typeface="DejaVu Serif"/>
              <a:cs typeface="DejaVu Serif"/>
              <a:sym typeface="DejaVu Serif"/>
            </a:endParaRP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5E2FF7C2-5831-4C2D-1905-17D7A027C3D1}"/>
              </a:ext>
            </a:extLst>
          </p:cNvPr>
          <p:cNvSpPr txBox="1"/>
          <p:nvPr/>
        </p:nvSpPr>
        <p:spPr>
          <a:xfrm>
            <a:off x="2096414" y="7557486"/>
            <a:ext cx="3313786" cy="14427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1801"/>
              </a:lnSpc>
            </a:pPr>
            <a:r>
              <a:rPr lang="en-US" altLang="zh-CN" sz="8429" dirty="0" err="1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qióng</a:t>
            </a:r>
            <a:r>
              <a:rPr lang="en-US" altLang="zh-CN" sz="8429" dirty="0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 </a:t>
            </a:r>
            <a:endParaRPr lang="en-US" sz="8429" dirty="0">
              <a:solidFill>
                <a:srgbClr val="000000"/>
              </a:solidFill>
              <a:latin typeface="DejaVu Serif"/>
              <a:ea typeface="DejaVu Serif"/>
              <a:cs typeface="DejaVu Serif"/>
              <a:sym typeface="DejaVu Serif"/>
            </a:endParaRP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EFD2256C-7690-7160-07D2-53FD6F476D59}"/>
              </a:ext>
            </a:extLst>
          </p:cNvPr>
          <p:cNvSpPr txBox="1"/>
          <p:nvPr/>
        </p:nvSpPr>
        <p:spPr>
          <a:xfrm>
            <a:off x="6781800" y="5563399"/>
            <a:ext cx="3944659" cy="14427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1801"/>
              </a:lnSpc>
            </a:pPr>
            <a:r>
              <a:rPr lang="en-US" altLang="zh-CN" sz="8429" dirty="0" err="1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jiǒng</a:t>
            </a:r>
            <a:r>
              <a:rPr lang="en-US" altLang="zh-CN" sz="8429" dirty="0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 </a:t>
            </a:r>
            <a:endParaRPr lang="en-US" sz="8429" dirty="0">
              <a:solidFill>
                <a:srgbClr val="000000"/>
              </a:solidFill>
              <a:latin typeface="DejaVu Serif"/>
              <a:ea typeface="DejaVu Serif"/>
              <a:cs typeface="DejaVu Serif"/>
              <a:sym typeface="DejaVu Serif"/>
            </a:endParaRPr>
          </a:p>
        </p:txBody>
      </p:sp>
    </p:spTree>
    <p:extLst>
      <p:ext uri="{BB962C8B-B14F-4D97-AF65-F5344CB8AC3E}">
        <p14:creationId xmlns:p14="http://schemas.microsoft.com/office/powerpoint/2010/main" val="224276310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Grp="1" noUngrp="1" noRot="1" noMove="1" noResize="1"/>
          </p:cNvGrpSpPr>
          <p:nvPr/>
        </p:nvGrpSpPr>
        <p:grpSpPr>
          <a:xfrm>
            <a:off x="256513" y="262070"/>
            <a:ext cx="17799702" cy="9762861"/>
            <a:chOff x="0" y="0"/>
            <a:chExt cx="4687987" cy="2571288"/>
          </a:xfrm>
        </p:grpSpPr>
        <p:sp>
          <p:nvSpPr>
            <p:cNvPr id="3" name="Freeform 3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0"/>
              <a:ext cx="4687987" cy="2571288"/>
            </a:xfrm>
            <a:custGeom>
              <a:avLst/>
              <a:gdLst/>
              <a:ahLst/>
              <a:cxnLst/>
              <a:rect l="l" t="t" r="r" b="b"/>
              <a:pathLst>
                <a:path w="4687987" h="2571288">
                  <a:moveTo>
                    <a:pt x="22182" y="0"/>
                  </a:moveTo>
                  <a:lnTo>
                    <a:pt x="4665805" y="0"/>
                  </a:lnTo>
                  <a:cubicBezTo>
                    <a:pt x="4671688" y="0"/>
                    <a:pt x="4677330" y="2337"/>
                    <a:pt x="4681491" y="6497"/>
                  </a:cubicBezTo>
                  <a:cubicBezTo>
                    <a:pt x="4685650" y="10657"/>
                    <a:pt x="4687987" y="16299"/>
                    <a:pt x="4687987" y="22182"/>
                  </a:cubicBezTo>
                  <a:lnTo>
                    <a:pt x="4687987" y="2549106"/>
                  </a:lnTo>
                  <a:cubicBezTo>
                    <a:pt x="4687987" y="2554989"/>
                    <a:pt x="4685650" y="2560631"/>
                    <a:pt x="4681491" y="2564791"/>
                  </a:cubicBezTo>
                  <a:cubicBezTo>
                    <a:pt x="4677330" y="2568951"/>
                    <a:pt x="4671688" y="2571288"/>
                    <a:pt x="4665805" y="2571288"/>
                  </a:cubicBezTo>
                  <a:lnTo>
                    <a:pt x="22182" y="2571288"/>
                  </a:lnTo>
                  <a:cubicBezTo>
                    <a:pt x="16299" y="2571288"/>
                    <a:pt x="10657" y="2568951"/>
                    <a:pt x="6497" y="2564791"/>
                  </a:cubicBezTo>
                  <a:cubicBezTo>
                    <a:pt x="2337" y="2560631"/>
                    <a:pt x="0" y="2554989"/>
                    <a:pt x="0" y="2549106"/>
                  </a:cubicBezTo>
                  <a:lnTo>
                    <a:pt x="0" y="22182"/>
                  </a:lnTo>
                  <a:cubicBezTo>
                    <a:pt x="0" y="16299"/>
                    <a:pt x="2337" y="10657"/>
                    <a:pt x="6497" y="6497"/>
                  </a:cubicBezTo>
                  <a:cubicBezTo>
                    <a:pt x="10657" y="2337"/>
                    <a:pt x="16299" y="0"/>
                    <a:pt x="22182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vi-VN"/>
            </a:p>
          </p:txBody>
        </p:sp>
        <p:sp>
          <p:nvSpPr>
            <p:cNvPr id="4" name="TextBox 4"/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-38100"/>
              <a:ext cx="4687987" cy="26093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2664626" y="3248281"/>
            <a:ext cx="1290184" cy="1290184"/>
          </a:xfrm>
          <a:custGeom>
            <a:avLst/>
            <a:gdLst/>
            <a:ahLst/>
            <a:cxnLst/>
            <a:rect l="l" t="t" r="r" b="b"/>
            <a:pathLst>
              <a:path w="1290184" h="1290184">
                <a:moveTo>
                  <a:pt x="0" y="0"/>
                </a:moveTo>
                <a:lnTo>
                  <a:pt x="1290185" y="0"/>
                </a:lnTo>
                <a:lnTo>
                  <a:pt x="1290185" y="1290185"/>
                </a:lnTo>
                <a:lnTo>
                  <a:pt x="0" y="129018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vi-VN"/>
          </a:p>
        </p:txBody>
      </p:sp>
      <p:sp>
        <p:nvSpPr>
          <p:cNvPr id="6" name="TextBox 6"/>
          <p:cNvSpPr txBox="1"/>
          <p:nvPr/>
        </p:nvSpPr>
        <p:spPr>
          <a:xfrm>
            <a:off x="1028700" y="1704715"/>
            <a:ext cx="10776078" cy="8135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606"/>
              </a:lnSpc>
            </a:pPr>
            <a:r>
              <a:rPr lang="en-US" sz="4719">
                <a:solidFill>
                  <a:srgbClr val="004AAD"/>
                </a:solidFill>
                <a:latin typeface="Noto Sans"/>
                <a:ea typeface="Noto Sans"/>
                <a:cs typeface="Noto Sans"/>
                <a:sym typeface="Noto Sans"/>
              </a:rPr>
              <a:t>Nhóm vận mẫu ghép của ü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2611787" y="3071994"/>
            <a:ext cx="1477191" cy="1477191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3131">
                <a:alpha val="45882"/>
              </a:srgbClr>
            </a:solidFill>
          </p:spPr>
          <p:txBody>
            <a:bodyPr/>
            <a:lstStyle/>
            <a:p>
              <a:endParaRPr lang="vi-VN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2481452" y="2971921"/>
            <a:ext cx="1623855" cy="15665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dirty="0" err="1">
                <a:solidFill>
                  <a:srgbClr val="004AAD"/>
                </a:solidFill>
                <a:latin typeface="Noto Sans"/>
                <a:ea typeface="Noto Sans"/>
                <a:cs typeface="Noto Sans"/>
                <a:sym typeface="Noto Sans"/>
              </a:rPr>
              <a:t>üe</a:t>
            </a:r>
            <a:endParaRPr lang="en-US" sz="9200" dirty="0">
              <a:solidFill>
                <a:srgbClr val="004AAD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0439400" y="2971921"/>
            <a:ext cx="1698277" cy="15665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>
                <a:solidFill>
                  <a:srgbClr val="004AAD"/>
                </a:solidFill>
                <a:latin typeface="Noto Sans"/>
                <a:ea typeface="Noto Sans"/>
                <a:cs typeface="Noto Sans"/>
                <a:sym typeface="Noto Sans"/>
              </a:rPr>
              <a:t>ün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047834" y="3024376"/>
            <a:ext cx="2468969" cy="15665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>
                <a:solidFill>
                  <a:srgbClr val="004AAD"/>
                </a:solidFill>
                <a:latin typeface="Noto Sans"/>
                <a:ea typeface="Noto Sans"/>
                <a:cs typeface="Noto Sans"/>
                <a:sym typeface="Noto Sans"/>
              </a:rPr>
              <a:t>üan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02489" y="340665"/>
            <a:ext cx="4754166" cy="1193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 b="1">
                <a:solidFill>
                  <a:srgbClr val="D86666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I. Vận mẫu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220328" y="5554209"/>
            <a:ext cx="2271628" cy="13977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1801"/>
              </a:lnSpc>
            </a:pPr>
            <a:r>
              <a:rPr lang="en-US" altLang="zh-CN" sz="8429" dirty="0" err="1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lüè</a:t>
            </a:r>
            <a:r>
              <a:rPr lang="en-US" altLang="zh-CN" sz="8429" dirty="0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 </a:t>
            </a:r>
            <a:endParaRPr lang="en-US" sz="8429" dirty="0">
              <a:solidFill>
                <a:srgbClr val="000000"/>
              </a:solidFill>
              <a:latin typeface="DejaVu Serif"/>
              <a:ea typeface="DejaVu Serif"/>
              <a:cs typeface="DejaVu Serif"/>
              <a:sym typeface="DejaVu Serif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2220328" y="7548090"/>
            <a:ext cx="2054936" cy="13977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1801"/>
              </a:lnSpc>
            </a:pPr>
            <a:r>
              <a:rPr lang="en-US" altLang="zh-CN" sz="8429" dirty="0" err="1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jué</a:t>
            </a:r>
            <a:r>
              <a:rPr lang="en-US" altLang="zh-CN" sz="8429" dirty="0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 </a:t>
            </a:r>
            <a:endParaRPr lang="en-US" sz="8429" dirty="0">
              <a:solidFill>
                <a:srgbClr val="000000"/>
              </a:solidFill>
              <a:latin typeface="DejaVu Serif"/>
              <a:ea typeface="DejaVu Serif"/>
              <a:cs typeface="DejaVu Serif"/>
              <a:sym typeface="DejaVu Serif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5856655" y="5554209"/>
            <a:ext cx="2271628" cy="13977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1801"/>
              </a:lnSpc>
            </a:pPr>
            <a:r>
              <a:rPr lang="en-US" altLang="zh-CN" sz="8429" dirty="0" err="1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xué</a:t>
            </a:r>
            <a:r>
              <a:rPr lang="en-US" altLang="zh-CN" sz="8429" dirty="0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 </a:t>
            </a:r>
            <a:endParaRPr lang="en-US" sz="8429" dirty="0">
              <a:solidFill>
                <a:srgbClr val="000000"/>
              </a:solidFill>
              <a:latin typeface="DejaVu Serif"/>
              <a:ea typeface="DejaVu Serif"/>
              <a:cs typeface="DejaVu Serif"/>
              <a:sym typeface="DejaVu Serif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5697615" y="7548090"/>
            <a:ext cx="3066809" cy="13977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1801"/>
              </a:lnSpc>
            </a:pPr>
            <a:r>
              <a:rPr lang="en-US" altLang="zh-CN" sz="8429" dirty="0" err="1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què</a:t>
            </a:r>
            <a:r>
              <a:rPr lang="en-US" altLang="zh-CN" sz="8429" dirty="0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 </a:t>
            </a:r>
            <a:endParaRPr lang="en-US" sz="8429" dirty="0">
              <a:solidFill>
                <a:srgbClr val="000000"/>
              </a:solidFill>
              <a:latin typeface="DejaVu Serif"/>
              <a:ea typeface="DejaVu Serif"/>
              <a:cs typeface="DejaVu Serif"/>
              <a:sym typeface="DejaVu Serif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6393EC-0D80-E19E-B2FC-2374DE2C20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96803033-04B7-F2BA-8F92-F96A0788D95E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256513" y="262070"/>
            <a:ext cx="17799702" cy="9762861"/>
            <a:chOff x="0" y="0"/>
            <a:chExt cx="4687987" cy="2571288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F0FA81EE-076B-A28A-1AB9-E5180B3E785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0"/>
              <a:ext cx="4687987" cy="2571288"/>
            </a:xfrm>
            <a:custGeom>
              <a:avLst/>
              <a:gdLst/>
              <a:ahLst/>
              <a:cxnLst/>
              <a:rect l="l" t="t" r="r" b="b"/>
              <a:pathLst>
                <a:path w="4687987" h="2571288">
                  <a:moveTo>
                    <a:pt x="22182" y="0"/>
                  </a:moveTo>
                  <a:lnTo>
                    <a:pt x="4665805" y="0"/>
                  </a:lnTo>
                  <a:cubicBezTo>
                    <a:pt x="4671688" y="0"/>
                    <a:pt x="4677330" y="2337"/>
                    <a:pt x="4681491" y="6497"/>
                  </a:cubicBezTo>
                  <a:cubicBezTo>
                    <a:pt x="4685650" y="10657"/>
                    <a:pt x="4687987" y="16299"/>
                    <a:pt x="4687987" y="22182"/>
                  </a:cubicBezTo>
                  <a:lnTo>
                    <a:pt x="4687987" y="2549106"/>
                  </a:lnTo>
                  <a:cubicBezTo>
                    <a:pt x="4687987" y="2554989"/>
                    <a:pt x="4685650" y="2560631"/>
                    <a:pt x="4681491" y="2564791"/>
                  </a:cubicBezTo>
                  <a:cubicBezTo>
                    <a:pt x="4677330" y="2568951"/>
                    <a:pt x="4671688" y="2571288"/>
                    <a:pt x="4665805" y="2571288"/>
                  </a:cubicBezTo>
                  <a:lnTo>
                    <a:pt x="22182" y="2571288"/>
                  </a:lnTo>
                  <a:cubicBezTo>
                    <a:pt x="16299" y="2571288"/>
                    <a:pt x="10657" y="2568951"/>
                    <a:pt x="6497" y="2564791"/>
                  </a:cubicBezTo>
                  <a:cubicBezTo>
                    <a:pt x="2337" y="2560631"/>
                    <a:pt x="0" y="2554989"/>
                    <a:pt x="0" y="2549106"/>
                  </a:cubicBezTo>
                  <a:lnTo>
                    <a:pt x="0" y="22182"/>
                  </a:lnTo>
                  <a:cubicBezTo>
                    <a:pt x="0" y="16299"/>
                    <a:pt x="2337" y="10657"/>
                    <a:pt x="6497" y="6497"/>
                  </a:cubicBezTo>
                  <a:cubicBezTo>
                    <a:pt x="10657" y="2337"/>
                    <a:pt x="16299" y="0"/>
                    <a:pt x="22182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vi-VN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9739B852-9AFF-71F6-4D8A-C187DBB3A316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-38100"/>
              <a:ext cx="4687987" cy="26093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>
            <a:extLst>
              <a:ext uri="{FF2B5EF4-FFF2-40B4-BE49-F238E27FC236}">
                <a16:creationId xmlns:a16="http://schemas.microsoft.com/office/drawing/2014/main" id="{7209CABA-F1AE-B9FE-78A0-9B6F7272E5F2}"/>
              </a:ext>
            </a:extLst>
          </p:cNvPr>
          <p:cNvSpPr/>
          <p:nvPr/>
        </p:nvSpPr>
        <p:spPr>
          <a:xfrm>
            <a:off x="12664626" y="3248281"/>
            <a:ext cx="1290184" cy="1290184"/>
          </a:xfrm>
          <a:custGeom>
            <a:avLst/>
            <a:gdLst/>
            <a:ahLst/>
            <a:cxnLst/>
            <a:rect l="l" t="t" r="r" b="b"/>
            <a:pathLst>
              <a:path w="1290184" h="1290184">
                <a:moveTo>
                  <a:pt x="0" y="0"/>
                </a:moveTo>
                <a:lnTo>
                  <a:pt x="1290185" y="0"/>
                </a:lnTo>
                <a:lnTo>
                  <a:pt x="1290185" y="1290185"/>
                </a:lnTo>
                <a:lnTo>
                  <a:pt x="0" y="129018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vi-VN"/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5EB8C617-ADD0-744F-C51F-8B0166D90C2B}"/>
              </a:ext>
            </a:extLst>
          </p:cNvPr>
          <p:cNvSpPr txBox="1"/>
          <p:nvPr/>
        </p:nvSpPr>
        <p:spPr>
          <a:xfrm>
            <a:off x="1028700" y="1704715"/>
            <a:ext cx="10776078" cy="8135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606"/>
              </a:lnSpc>
            </a:pPr>
            <a:r>
              <a:rPr lang="en-US" sz="4719">
                <a:solidFill>
                  <a:srgbClr val="004AAD"/>
                </a:solidFill>
                <a:latin typeface="Noto Sans"/>
                <a:ea typeface="Noto Sans"/>
                <a:cs typeface="Noto Sans"/>
                <a:sym typeface="Noto Sans"/>
              </a:rPr>
              <a:t>Nhóm vận mẫu ghép của ü</a:t>
            </a:r>
          </a:p>
        </p:txBody>
      </p:sp>
      <p:grpSp>
        <p:nvGrpSpPr>
          <p:cNvPr id="7" name="Group 7">
            <a:extLst>
              <a:ext uri="{FF2B5EF4-FFF2-40B4-BE49-F238E27FC236}">
                <a16:creationId xmlns:a16="http://schemas.microsoft.com/office/drawing/2014/main" id="{09332203-B1A3-163C-6FD2-2ADBBF9751F2}"/>
              </a:ext>
            </a:extLst>
          </p:cNvPr>
          <p:cNvGrpSpPr/>
          <p:nvPr/>
        </p:nvGrpSpPr>
        <p:grpSpPr>
          <a:xfrm>
            <a:off x="6027904" y="3013490"/>
            <a:ext cx="2535317" cy="1803306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C7981FAB-986D-E69E-43AD-D765E7C71805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3131">
                <a:alpha val="45882"/>
              </a:srgbClr>
            </a:solidFill>
          </p:spPr>
          <p:txBody>
            <a:bodyPr/>
            <a:lstStyle/>
            <a:p>
              <a:endParaRPr lang="vi-VN"/>
            </a:p>
          </p:txBody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AA07CEF0-0C37-6542-1C73-C9F913DA4F4F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0" name="TextBox 10">
            <a:extLst>
              <a:ext uri="{FF2B5EF4-FFF2-40B4-BE49-F238E27FC236}">
                <a16:creationId xmlns:a16="http://schemas.microsoft.com/office/drawing/2014/main" id="{6AEAE531-541E-7BAB-22D3-45A781129DA2}"/>
              </a:ext>
            </a:extLst>
          </p:cNvPr>
          <p:cNvSpPr txBox="1"/>
          <p:nvPr/>
        </p:nvSpPr>
        <p:spPr>
          <a:xfrm>
            <a:off x="2481452" y="2971921"/>
            <a:ext cx="1623855" cy="15665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dirty="0" err="1">
                <a:solidFill>
                  <a:srgbClr val="004AAD"/>
                </a:solidFill>
                <a:latin typeface="Noto Sans"/>
                <a:ea typeface="Noto Sans"/>
                <a:cs typeface="Noto Sans"/>
                <a:sym typeface="Noto Sans"/>
              </a:rPr>
              <a:t>üe</a:t>
            </a:r>
            <a:endParaRPr lang="en-US" sz="9200" dirty="0">
              <a:solidFill>
                <a:srgbClr val="004AAD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6A7662E2-2292-FC2F-4F72-036A7DB4B476}"/>
              </a:ext>
            </a:extLst>
          </p:cNvPr>
          <p:cNvSpPr txBox="1"/>
          <p:nvPr/>
        </p:nvSpPr>
        <p:spPr>
          <a:xfrm>
            <a:off x="10439400" y="2971921"/>
            <a:ext cx="1698277" cy="15665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>
                <a:solidFill>
                  <a:srgbClr val="004AAD"/>
                </a:solidFill>
                <a:latin typeface="Noto Sans"/>
                <a:ea typeface="Noto Sans"/>
                <a:cs typeface="Noto Sans"/>
                <a:sym typeface="Noto Sans"/>
              </a:rPr>
              <a:t>ün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A73E6E9B-6790-640D-7DEF-380BDE32C257}"/>
              </a:ext>
            </a:extLst>
          </p:cNvPr>
          <p:cNvSpPr txBox="1"/>
          <p:nvPr/>
        </p:nvSpPr>
        <p:spPr>
          <a:xfrm>
            <a:off x="6047834" y="3024376"/>
            <a:ext cx="2468969" cy="15665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>
                <a:solidFill>
                  <a:srgbClr val="004AAD"/>
                </a:solidFill>
                <a:latin typeface="Noto Sans"/>
                <a:ea typeface="Noto Sans"/>
                <a:cs typeface="Noto Sans"/>
                <a:sym typeface="Noto Sans"/>
              </a:rPr>
              <a:t>üan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3F9A6DD1-609E-41F3-2BB8-2EF195AA503A}"/>
              </a:ext>
            </a:extLst>
          </p:cNvPr>
          <p:cNvSpPr txBox="1"/>
          <p:nvPr/>
        </p:nvSpPr>
        <p:spPr>
          <a:xfrm>
            <a:off x="1102489" y="340665"/>
            <a:ext cx="4754166" cy="1193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 b="1">
                <a:solidFill>
                  <a:srgbClr val="D86666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I. Vận mẫu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5177B205-9B60-909A-2A3C-0F1BBD0F7E4B}"/>
              </a:ext>
            </a:extLst>
          </p:cNvPr>
          <p:cNvSpPr txBox="1"/>
          <p:nvPr/>
        </p:nvSpPr>
        <p:spPr>
          <a:xfrm>
            <a:off x="2220328" y="5554209"/>
            <a:ext cx="2808872" cy="13977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1801"/>
              </a:lnSpc>
            </a:pPr>
            <a:r>
              <a:rPr lang="en-US" altLang="zh-CN" sz="8429" dirty="0" err="1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quán</a:t>
            </a:r>
            <a:r>
              <a:rPr lang="en-US" altLang="zh-CN" sz="8429" dirty="0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 </a:t>
            </a:r>
            <a:endParaRPr lang="en-US" sz="8429" dirty="0">
              <a:solidFill>
                <a:srgbClr val="000000"/>
              </a:solidFill>
              <a:latin typeface="DejaVu Serif"/>
              <a:ea typeface="DejaVu Serif"/>
              <a:cs typeface="DejaVu Serif"/>
              <a:sym typeface="DejaVu Serif"/>
            </a:endParaRP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B46B333A-318A-66E2-7F46-428416CD94CF}"/>
              </a:ext>
            </a:extLst>
          </p:cNvPr>
          <p:cNvSpPr txBox="1"/>
          <p:nvPr/>
        </p:nvSpPr>
        <p:spPr>
          <a:xfrm>
            <a:off x="2220328" y="7548090"/>
            <a:ext cx="2808872" cy="13977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1801"/>
              </a:lnSpc>
            </a:pPr>
            <a:r>
              <a:rPr lang="en-US" altLang="zh-CN" sz="8429" dirty="0" err="1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xuǎn</a:t>
            </a:r>
            <a:r>
              <a:rPr lang="en-US" altLang="zh-CN" sz="8429" dirty="0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 </a:t>
            </a:r>
            <a:endParaRPr lang="en-US" sz="8429" dirty="0">
              <a:solidFill>
                <a:srgbClr val="000000"/>
              </a:solidFill>
              <a:latin typeface="DejaVu Serif"/>
              <a:ea typeface="DejaVu Serif"/>
              <a:cs typeface="DejaVu Serif"/>
              <a:sym typeface="DejaVu Serif"/>
            </a:endParaRP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122D7E6A-30DD-0F27-FFD6-1E3D94B5B135}"/>
              </a:ext>
            </a:extLst>
          </p:cNvPr>
          <p:cNvSpPr txBox="1"/>
          <p:nvPr/>
        </p:nvSpPr>
        <p:spPr>
          <a:xfrm>
            <a:off x="6520768" y="5554208"/>
            <a:ext cx="3287345" cy="13977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1801"/>
              </a:lnSpc>
            </a:pPr>
            <a:r>
              <a:rPr lang="en-US" altLang="zh-CN" sz="8429" dirty="0" err="1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juǎn</a:t>
            </a:r>
            <a:r>
              <a:rPr lang="en-US" altLang="zh-CN" sz="8429" dirty="0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 </a:t>
            </a:r>
            <a:endParaRPr lang="en-US" sz="8429" dirty="0">
              <a:solidFill>
                <a:srgbClr val="000000"/>
              </a:solidFill>
              <a:latin typeface="DejaVu Serif"/>
              <a:ea typeface="DejaVu Serif"/>
              <a:cs typeface="DejaVu Serif"/>
              <a:sym typeface="DejaVu Serif"/>
            </a:endParaRPr>
          </a:p>
        </p:txBody>
      </p:sp>
    </p:spTree>
    <p:extLst>
      <p:ext uri="{BB962C8B-B14F-4D97-AF65-F5344CB8AC3E}">
        <p14:creationId xmlns:p14="http://schemas.microsoft.com/office/powerpoint/2010/main" val="297445719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8E1BCE-050D-41CD-820C-359A96553D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CA6F98E9-27AA-A3D3-2A27-EC916FEA7DC7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256513" y="262070"/>
            <a:ext cx="17799702" cy="9762861"/>
            <a:chOff x="0" y="0"/>
            <a:chExt cx="4687987" cy="2571288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2F3F4628-82AC-6CEC-73E4-59903C8A447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0"/>
              <a:ext cx="4687987" cy="2571288"/>
            </a:xfrm>
            <a:custGeom>
              <a:avLst/>
              <a:gdLst/>
              <a:ahLst/>
              <a:cxnLst/>
              <a:rect l="l" t="t" r="r" b="b"/>
              <a:pathLst>
                <a:path w="4687987" h="2571288">
                  <a:moveTo>
                    <a:pt x="22182" y="0"/>
                  </a:moveTo>
                  <a:lnTo>
                    <a:pt x="4665805" y="0"/>
                  </a:lnTo>
                  <a:cubicBezTo>
                    <a:pt x="4671688" y="0"/>
                    <a:pt x="4677330" y="2337"/>
                    <a:pt x="4681491" y="6497"/>
                  </a:cubicBezTo>
                  <a:cubicBezTo>
                    <a:pt x="4685650" y="10657"/>
                    <a:pt x="4687987" y="16299"/>
                    <a:pt x="4687987" y="22182"/>
                  </a:cubicBezTo>
                  <a:lnTo>
                    <a:pt x="4687987" y="2549106"/>
                  </a:lnTo>
                  <a:cubicBezTo>
                    <a:pt x="4687987" y="2554989"/>
                    <a:pt x="4685650" y="2560631"/>
                    <a:pt x="4681491" y="2564791"/>
                  </a:cubicBezTo>
                  <a:cubicBezTo>
                    <a:pt x="4677330" y="2568951"/>
                    <a:pt x="4671688" y="2571288"/>
                    <a:pt x="4665805" y="2571288"/>
                  </a:cubicBezTo>
                  <a:lnTo>
                    <a:pt x="22182" y="2571288"/>
                  </a:lnTo>
                  <a:cubicBezTo>
                    <a:pt x="16299" y="2571288"/>
                    <a:pt x="10657" y="2568951"/>
                    <a:pt x="6497" y="2564791"/>
                  </a:cubicBezTo>
                  <a:cubicBezTo>
                    <a:pt x="2337" y="2560631"/>
                    <a:pt x="0" y="2554989"/>
                    <a:pt x="0" y="2549106"/>
                  </a:cubicBezTo>
                  <a:lnTo>
                    <a:pt x="0" y="22182"/>
                  </a:lnTo>
                  <a:cubicBezTo>
                    <a:pt x="0" y="16299"/>
                    <a:pt x="2337" y="10657"/>
                    <a:pt x="6497" y="6497"/>
                  </a:cubicBezTo>
                  <a:cubicBezTo>
                    <a:pt x="10657" y="2337"/>
                    <a:pt x="16299" y="0"/>
                    <a:pt x="22182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vi-VN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24348502-494B-66AC-D203-EDA8499E4E01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-38100"/>
              <a:ext cx="4687987" cy="26093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>
            <a:extLst>
              <a:ext uri="{FF2B5EF4-FFF2-40B4-BE49-F238E27FC236}">
                <a16:creationId xmlns:a16="http://schemas.microsoft.com/office/drawing/2014/main" id="{5EAB0E3F-FC05-981E-8C86-251746880C6B}"/>
              </a:ext>
            </a:extLst>
          </p:cNvPr>
          <p:cNvSpPr/>
          <p:nvPr/>
        </p:nvSpPr>
        <p:spPr>
          <a:xfrm>
            <a:off x="12664626" y="3248281"/>
            <a:ext cx="1290184" cy="1290184"/>
          </a:xfrm>
          <a:custGeom>
            <a:avLst/>
            <a:gdLst/>
            <a:ahLst/>
            <a:cxnLst/>
            <a:rect l="l" t="t" r="r" b="b"/>
            <a:pathLst>
              <a:path w="1290184" h="1290184">
                <a:moveTo>
                  <a:pt x="0" y="0"/>
                </a:moveTo>
                <a:lnTo>
                  <a:pt x="1290185" y="0"/>
                </a:lnTo>
                <a:lnTo>
                  <a:pt x="1290185" y="1290185"/>
                </a:lnTo>
                <a:lnTo>
                  <a:pt x="0" y="129018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vi-VN"/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7AAE0BE1-7283-D189-1FDD-D3E29C85AE90}"/>
              </a:ext>
            </a:extLst>
          </p:cNvPr>
          <p:cNvSpPr txBox="1"/>
          <p:nvPr/>
        </p:nvSpPr>
        <p:spPr>
          <a:xfrm>
            <a:off x="1028700" y="1704715"/>
            <a:ext cx="10776078" cy="8135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606"/>
              </a:lnSpc>
            </a:pPr>
            <a:r>
              <a:rPr lang="en-US" sz="4719">
                <a:solidFill>
                  <a:srgbClr val="004AAD"/>
                </a:solidFill>
                <a:latin typeface="Noto Sans"/>
                <a:ea typeface="Noto Sans"/>
                <a:cs typeface="Noto Sans"/>
                <a:sym typeface="Noto Sans"/>
              </a:rPr>
              <a:t>Nhóm vận mẫu ghép của ü</a:t>
            </a:r>
          </a:p>
        </p:txBody>
      </p:sp>
      <p:grpSp>
        <p:nvGrpSpPr>
          <p:cNvPr id="7" name="Group 7">
            <a:extLst>
              <a:ext uri="{FF2B5EF4-FFF2-40B4-BE49-F238E27FC236}">
                <a16:creationId xmlns:a16="http://schemas.microsoft.com/office/drawing/2014/main" id="{65243F9B-C037-E4CA-9AB6-631315368AA2}"/>
              </a:ext>
            </a:extLst>
          </p:cNvPr>
          <p:cNvGrpSpPr/>
          <p:nvPr/>
        </p:nvGrpSpPr>
        <p:grpSpPr>
          <a:xfrm>
            <a:off x="10481101" y="2905995"/>
            <a:ext cx="1939499" cy="1803306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CDC9B298-91E9-46DB-03AD-F7F3484AF8D7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3131">
                <a:alpha val="45882"/>
              </a:srgbClr>
            </a:solidFill>
          </p:spPr>
          <p:txBody>
            <a:bodyPr/>
            <a:lstStyle/>
            <a:p>
              <a:endParaRPr lang="vi-VN"/>
            </a:p>
          </p:txBody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B2C5FE75-5D7F-30D6-C562-E52B850A193A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0" name="TextBox 10">
            <a:extLst>
              <a:ext uri="{FF2B5EF4-FFF2-40B4-BE49-F238E27FC236}">
                <a16:creationId xmlns:a16="http://schemas.microsoft.com/office/drawing/2014/main" id="{060E9EEA-E042-A339-2CDF-259093723CC3}"/>
              </a:ext>
            </a:extLst>
          </p:cNvPr>
          <p:cNvSpPr txBox="1"/>
          <p:nvPr/>
        </p:nvSpPr>
        <p:spPr>
          <a:xfrm>
            <a:off x="2481452" y="2971921"/>
            <a:ext cx="1623855" cy="15665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dirty="0" err="1">
                <a:solidFill>
                  <a:srgbClr val="004AAD"/>
                </a:solidFill>
                <a:latin typeface="Noto Sans"/>
                <a:ea typeface="Noto Sans"/>
                <a:cs typeface="Noto Sans"/>
                <a:sym typeface="Noto Sans"/>
              </a:rPr>
              <a:t>üe</a:t>
            </a:r>
            <a:endParaRPr lang="en-US" sz="9200" dirty="0">
              <a:solidFill>
                <a:srgbClr val="004AAD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2CF7B7CA-F919-9DE3-7F2B-572B25D5542D}"/>
              </a:ext>
            </a:extLst>
          </p:cNvPr>
          <p:cNvSpPr txBox="1"/>
          <p:nvPr/>
        </p:nvSpPr>
        <p:spPr>
          <a:xfrm>
            <a:off x="10439400" y="2971921"/>
            <a:ext cx="1698277" cy="15665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>
                <a:solidFill>
                  <a:srgbClr val="004AAD"/>
                </a:solidFill>
                <a:latin typeface="Noto Sans"/>
                <a:ea typeface="Noto Sans"/>
                <a:cs typeface="Noto Sans"/>
                <a:sym typeface="Noto Sans"/>
              </a:rPr>
              <a:t>ün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DBECADC6-D6FD-0545-10F7-1164A2A69F55}"/>
              </a:ext>
            </a:extLst>
          </p:cNvPr>
          <p:cNvSpPr txBox="1"/>
          <p:nvPr/>
        </p:nvSpPr>
        <p:spPr>
          <a:xfrm>
            <a:off x="6047834" y="3024376"/>
            <a:ext cx="2468969" cy="15665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>
                <a:solidFill>
                  <a:srgbClr val="004AAD"/>
                </a:solidFill>
                <a:latin typeface="Noto Sans"/>
                <a:ea typeface="Noto Sans"/>
                <a:cs typeface="Noto Sans"/>
                <a:sym typeface="Noto Sans"/>
              </a:rPr>
              <a:t>üan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BD55552F-DCAE-1861-15D1-976258AE7821}"/>
              </a:ext>
            </a:extLst>
          </p:cNvPr>
          <p:cNvSpPr txBox="1"/>
          <p:nvPr/>
        </p:nvSpPr>
        <p:spPr>
          <a:xfrm>
            <a:off x="1102489" y="340665"/>
            <a:ext cx="4754166" cy="1193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 b="1">
                <a:solidFill>
                  <a:srgbClr val="D86666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I. Vận mẫu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DA2EEDA1-40B2-1A88-A368-FA0BD88BBA78}"/>
              </a:ext>
            </a:extLst>
          </p:cNvPr>
          <p:cNvSpPr txBox="1"/>
          <p:nvPr/>
        </p:nvSpPr>
        <p:spPr>
          <a:xfrm>
            <a:off x="2220328" y="5554209"/>
            <a:ext cx="2808872" cy="13977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1801"/>
              </a:lnSpc>
            </a:pPr>
            <a:r>
              <a:rPr lang="en-US" altLang="zh-CN" sz="8429" dirty="0" err="1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xún</a:t>
            </a:r>
            <a:r>
              <a:rPr lang="en-US" altLang="zh-CN" sz="8429" dirty="0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 </a:t>
            </a:r>
            <a:endParaRPr lang="en-US" sz="8429" dirty="0">
              <a:solidFill>
                <a:srgbClr val="000000"/>
              </a:solidFill>
              <a:latin typeface="DejaVu Serif"/>
              <a:ea typeface="DejaVu Serif"/>
              <a:cs typeface="DejaVu Serif"/>
              <a:sym typeface="DejaVu Serif"/>
            </a:endParaRP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18F5C26E-C85C-4C4C-F72E-F1CF0357CCE8}"/>
              </a:ext>
            </a:extLst>
          </p:cNvPr>
          <p:cNvSpPr txBox="1"/>
          <p:nvPr/>
        </p:nvSpPr>
        <p:spPr>
          <a:xfrm>
            <a:off x="2220328" y="7548090"/>
            <a:ext cx="2808872" cy="13977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1801"/>
              </a:lnSpc>
            </a:pPr>
            <a:r>
              <a:rPr lang="en-US" altLang="zh-CN" sz="8429" dirty="0" err="1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jūn</a:t>
            </a:r>
            <a:r>
              <a:rPr lang="en-US" altLang="zh-CN" sz="8429" dirty="0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 </a:t>
            </a:r>
            <a:endParaRPr lang="en-US" sz="8429" dirty="0">
              <a:solidFill>
                <a:srgbClr val="000000"/>
              </a:solidFill>
              <a:latin typeface="DejaVu Serif"/>
              <a:ea typeface="DejaVu Serif"/>
              <a:cs typeface="DejaVu Serif"/>
              <a:sym typeface="DejaVu Serif"/>
            </a:endParaRP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6A5258F6-17AE-209F-DC3E-CA764332D338}"/>
              </a:ext>
            </a:extLst>
          </p:cNvPr>
          <p:cNvSpPr txBox="1"/>
          <p:nvPr/>
        </p:nvSpPr>
        <p:spPr>
          <a:xfrm>
            <a:off x="6520768" y="5554208"/>
            <a:ext cx="3287345" cy="13977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1801"/>
              </a:lnSpc>
            </a:pPr>
            <a:r>
              <a:rPr lang="en-US" altLang="zh-CN" sz="8429" dirty="0" err="1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qún</a:t>
            </a:r>
            <a:r>
              <a:rPr lang="en-US" altLang="zh-CN" sz="8429" dirty="0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 </a:t>
            </a:r>
            <a:endParaRPr lang="en-US" sz="8429" dirty="0">
              <a:solidFill>
                <a:srgbClr val="000000"/>
              </a:solidFill>
              <a:latin typeface="DejaVu Serif"/>
              <a:ea typeface="DejaVu Serif"/>
              <a:cs typeface="DejaVu Serif"/>
              <a:sym typeface="DejaVu Serif"/>
            </a:endParaRPr>
          </a:p>
        </p:txBody>
      </p:sp>
    </p:spTree>
    <p:extLst>
      <p:ext uri="{BB962C8B-B14F-4D97-AF65-F5344CB8AC3E}">
        <p14:creationId xmlns:p14="http://schemas.microsoft.com/office/powerpoint/2010/main" val="106996352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56513" y="262070"/>
            <a:ext cx="17799702" cy="9762861"/>
            <a:chOff x="0" y="0"/>
            <a:chExt cx="4687987" cy="257128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687987" cy="2571288"/>
            </a:xfrm>
            <a:custGeom>
              <a:avLst/>
              <a:gdLst/>
              <a:ahLst/>
              <a:cxnLst/>
              <a:rect l="l" t="t" r="r" b="b"/>
              <a:pathLst>
                <a:path w="4687987" h="2571288">
                  <a:moveTo>
                    <a:pt x="22182" y="0"/>
                  </a:moveTo>
                  <a:lnTo>
                    <a:pt x="4665805" y="0"/>
                  </a:lnTo>
                  <a:cubicBezTo>
                    <a:pt x="4671688" y="0"/>
                    <a:pt x="4677330" y="2337"/>
                    <a:pt x="4681491" y="6497"/>
                  </a:cubicBezTo>
                  <a:cubicBezTo>
                    <a:pt x="4685650" y="10657"/>
                    <a:pt x="4687987" y="16299"/>
                    <a:pt x="4687987" y="22182"/>
                  </a:cubicBezTo>
                  <a:lnTo>
                    <a:pt x="4687987" y="2549106"/>
                  </a:lnTo>
                  <a:cubicBezTo>
                    <a:pt x="4687987" y="2554989"/>
                    <a:pt x="4685650" y="2560631"/>
                    <a:pt x="4681491" y="2564791"/>
                  </a:cubicBezTo>
                  <a:cubicBezTo>
                    <a:pt x="4677330" y="2568951"/>
                    <a:pt x="4671688" y="2571288"/>
                    <a:pt x="4665805" y="2571288"/>
                  </a:cubicBezTo>
                  <a:lnTo>
                    <a:pt x="22182" y="2571288"/>
                  </a:lnTo>
                  <a:cubicBezTo>
                    <a:pt x="16299" y="2571288"/>
                    <a:pt x="10657" y="2568951"/>
                    <a:pt x="6497" y="2564791"/>
                  </a:cubicBezTo>
                  <a:cubicBezTo>
                    <a:pt x="2337" y="2560631"/>
                    <a:pt x="0" y="2554989"/>
                    <a:pt x="0" y="2549106"/>
                  </a:cubicBezTo>
                  <a:lnTo>
                    <a:pt x="0" y="22182"/>
                  </a:lnTo>
                  <a:cubicBezTo>
                    <a:pt x="0" y="16299"/>
                    <a:pt x="2337" y="10657"/>
                    <a:pt x="6497" y="6497"/>
                  </a:cubicBezTo>
                  <a:cubicBezTo>
                    <a:pt x="10657" y="2337"/>
                    <a:pt x="16299" y="0"/>
                    <a:pt x="22182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vi-V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687987" cy="26093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639566" y="560609"/>
            <a:ext cx="3350972" cy="1232927"/>
          </a:xfrm>
          <a:custGeom>
            <a:avLst/>
            <a:gdLst/>
            <a:ahLst/>
            <a:cxnLst/>
            <a:rect l="l" t="t" r="r" b="b"/>
            <a:pathLst>
              <a:path w="3350972" h="1232927">
                <a:moveTo>
                  <a:pt x="0" y="0"/>
                </a:moveTo>
                <a:lnTo>
                  <a:pt x="3350972" y="0"/>
                </a:lnTo>
                <a:lnTo>
                  <a:pt x="3350972" y="1232927"/>
                </a:lnTo>
                <a:lnTo>
                  <a:pt x="0" y="123292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vi-VN"/>
          </a:p>
        </p:txBody>
      </p:sp>
      <p:sp>
        <p:nvSpPr>
          <p:cNvPr id="6" name="TextBox 6"/>
          <p:cNvSpPr txBox="1"/>
          <p:nvPr/>
        </p:nvSpPr>
        <p:spPr>
          <a:xfrm>
            <a:off x="1028700" y="1919928"/>
            <a:ext cx="16230600" cy="16517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606"/>
              </a:lnSpc>
            </a:pPr>
            <a:r>
              <a:rPr lang="en-US" sz="4719">
                <a:solidFill>
                  <a:srgbClr val="004AAD"/>
                </a:solidFill>
                <a:latin typeface="Noto Sans"/>
                <a:ea typeface="Noto Sans"/>
                <a:cs typeface="Noto Sans"/>
                <a:sym typeface="Noto Sans"/>
              </a:rPr>
              <a:t>Nếu âm bắt đầu bằng i hoặc ü ( không có thanh mẫu) thì khi viết phiên âm ta phải sử dụng y</a:t>
            </a:r>
          </a:p>
        </p:txBody>
      </p:sp>
      <p:grpSp>
        <p:nvGrpSpPr>
          <p:cNvPr id="24" name="Nhóm 23">
            <a:extLst>
              <a:ext uri="{FF2B5EF4-FFF2-40B4-BE49-F238E27FC236}">
                <a16:creationId xmlns:a16="http://schemas.microsoft.com/office/drawing/2014/main" id="{E4E88197-C4A6-6C43-0F0C-9542A6170B28}"/>
              </a:ext>
            </a:extLst>
          </p:cNvPr>
          <p:cNvGrpSpPr/>
          <p:nvPr/>
        </p:nvGrpSpPr>
        <p:grpSpPr>
          <a:xfrm>
            <a:off x="316009" y="3796102"/>
            <a:ext cx="17740206" cy="6004438"/>
            <a:chOff x="291281" y="3738860"/>
            <a:chExt cx="17800697" cy="6266078"/>
          </a:xfrm>
        </p:grpSpPr>
        <p:grpSp>
          <p:nvGrpSpPr>
            <p:cNvPr id="7" name="Group 5">
              <a:extLst>
                <a:ext uri="{FF2B5EF4-FFF2-40B4-BE49-F238E27FC236}">
                  <a16:creationId xmlns:a16="http://schemas.microsoft.com/office/drawing/2014/main" id="{8DEE453A-4039-CE75-F875-F68675219D64}"/>
                </a:ext>
              </a:extLst>
            </p:cNvPr>
            <p:cNvGrpSpPr/>
            <p:nvPr/>
          </p:nvGrpSpPr>
          <p:grpSpPr>
            <a:xfrm>
              <a:off x="291281" y="3738860"/>
              <a:ext cx="17650132" cy="6266077"/>
              <a:chOff x="0" y="0"/>
              <a:chExt cx="4648595" cy="1650325"/>
            </a:xfrm>
          </p:grpSpPr>
          <p:sp>
            <p:nvSpPr>
              <p:cNvPr id="8" name="Freeform 6">
                <a:extLst>
                  <a:ext uri="{FF2B5EF4-FFF2-40B4-BE49-F238E27FC236}">
                    <a16:creationId xmlns:a16="http://schemas.microsoft.com/office/drawing/2014/main" id="{44DAC74D-4530-D6CD-E283-9EB28D71A805}"/>
                  </a:ext>
                </a:extLst>
              </p:cNvPr>
              <p:cNvSpPr/>
              <p:nvPr/>
            </p:nvSpPr>
            <p:spPr>
              <a:xfrm>
                <a:off x="0" y="0"/>
                <a:ext cx="4648595" cy="1650325"/>
              </a:xfrm>
              <a:custGeom>
                <a:avLst/>
                <a:gdLst/>
                <a:ahLst/>
                <a:cxnLst/>
                <a:rect l="l" t="t" r="r" b="b"/>
                <a:pathLst>
                  <a:path w="4648595" h="1650325">
                    <a:moveTo>
                      <a:pt x="22370" y="0"/>
                    </a:moveTo>
                    <a:lnTo>
                      <a:pt x="4626224" y="0"/>
                    </a:lnTo>
                    <a:cubicBezTo>
                      <a:pt x="4638579" y="0"/>
                      <a:pt x="4648595" y="10016"/>
                      <a:pt x="4648595" y="22370"/>
                    </a:cubicBezTo>
                    <a:lnTo>
                      <a:pt x="4648595" y="1627955"/>
                    </a:lnTo>
                    <a:cubicBezTo>
                      <a:pt x="4648595" y="1640309"/>
                      <a:pt x="4638579" y="1650325"/>
                      <a:pt x="4626224" y="1650325"/>
                    </a:cubicBezTo>
                    <a:lnTo>
                      <a:pt x="22370" y="1650325"/>
                    </a:lnTo>
                    <a:cubicBezTo>
                      <a:pt x="10016" y="1650325"/>
                      <a:pt x="0" y="1640309"/>
                      <a:pt x="0" y="1627955"/>
                    </a:cubicBezTo>
                    <a:lnTo>
                      <a:pt x="0" y="22370"/>
                    </a:lnTo>
                    <a:cubicBezTo>
                      <a:pt x="0" y="10016"/>
                      <a:pt x="10016" y="0"/>
                      <a:pt x="22370" y="0"/>
                    </a:cubicBezTo>
                    <a:close/>
                  </a:path>
                </a:pathLst>
              </a:custGeom>
              <a:solidFill>
                <a:srgbClr val="F9C0C4"/>
              </a:solidFill>
              <a:ln w="47625" cap="rnd">
                <a:solidFill>
                  <a:srgbClr val="A47C65"/>
                </a:solidFill>
                <a:prstDash val="lgDash"/>
                <a:round/>
              </a:ln>
            </p:spPr>
            <p:txBody>
              <a:bodyPr/>
              <a:lstStyle/>
              <a:p>
                <a:endParaRPr lang="vi-VN"/>
              </a:p>
            </p:txBody>
          </p:sp>
          <p:sp>
            <p:nvSpPr>
              <p:cNvPr id="9" name="TextBox 7">
                <a:extLst>
                  <a:ext uri="{FF2B5EF4-FFF2-40B4-BE49-F238E27FC236}">
                    <a16:creationId xmlns:a16="http://schemas.microsoft.com/office/drawing/2014/main" id="{A5B16C8B-A92C-BB14-68D2-D72FB7D5A3DE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4648595" cy="1688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0" name="AutoShape 10">
              <a:extLst>
                <a:ext uri="{FF2B5EF4-FFF2-40B4-BE49-F238E27FC236}">
                  <a16:creationId xmlns:a16="http://schemas.microsoft.com/office/drawing/2014/main" id="{1A9CC92D-5CDC-2A8B-BC73-20628D0C4C3E}"/>
                </a:ext>
              </a:extLst>
            </p:cNvPr>
            <p:cNvSpPr/>
            <p:nvPr/>
          </p:nvSpPr>
          <p:spPr>
            <a:xfrm>
              <a:off x="291281" y="5303078"/>
              <a:ext cx="17650132" cy="0"/>
            </a:xfrm>
            <a:prstGeom prst="line">
              <a:avLst/>
            </a:prstGeom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vi-VN"/>
            </a:p>
          </p:txBody>
        </p:sp>
        <p:sp>
          <p:nvSpPr>
            <p:cNvPr id="11" name="AutoShape 11">
              <a:extLst>
                <a:ext uri="{FF2B5EF4-FFF2-40B4-BE49-F238E27FC236}">
                  <a16:creationId xmlns:a16="http://schemas.microsoft.com/office/drawing/2014/main" id="{5231D577-AE74-31EF-30B1-0A43991BE136}"/>
                </a:ext>
              </a:extLst>
            </p:cNvPr>
            <p:cNvSpPr/>
            <p:nvPr/>
          </p:nvSpPr>
          <p:spPr>
            <a:xfrm flipV="1">
              <a:off x="3611880" y="6852848"/>
              <a:ext cx="14329533" cy="19050"/>
            </a:xfrm>
            <a:prstGeom prst="line">
              <a:avLst/>
            </a:prstGeom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vi-VN"/>
            </a:p>
          </p:txBody>
        </p:sp>
        <p:sp>
          <p:nvSpPr>
            <p:cNvPr id="12" name="AutoShape 12">
              <a:extLst>
                <a:ext uri="{FF2B5EF4-FFF2-40B4-BE49-F238E27FC236}">
                  <a16:creationId xmlns:a16="http://schemas.microsoft.com/office/drawing/2014/main" id="{917F4053-75C4-DCF7-18DC-8683E87E9D6E}"/>
                </a:ext>
              </a:extLst>
            </p:cNvPr>
            <p:cNvSpPr/>
            <p:nvPr/>
          </p:nvSpPr>
          <p:spPr>
            <a:xfrm>
              <a:off x="3611880" y="8405423"/>
              <a:ext cx="14329533" cy="0"/>
            </a:xfrm>
            <a:prstGeom prst="line">
              <a:avLst/>
            </a:prstGeom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vi-VN"/>
            </a:p>
          </p:txBody>
        </p:sp>
        <p:sp>
          <p:nvSpPr>
            <p:cNvPr id="13" name="AutoShape 13">
              <a:extLst>
                <a:ext uri="{FF2B5EF4-FFF2-40B4-BE49-F238E27FC236}">
                  <a16:creationId xmlns:a16="http://schemas.microsoft.com/office/drawing/2014/main" id="{8CCBB935-5B05-FEC5-5C53-1F2055ED35C7}"/>
                </a:ext>
              </a:extLst>
            </p:cNvPr>
            <p:cNvSpPr/>
            <p:nvPr/>
          </p:nvSpPr>
          <p:spPr>
            <a:xfrm>
              <a:off x="3611880" y="5303078"/>
              <a:ext cx="0" cy="4701860"/>
            </a:xfrm>
            <a:prstGeom prst="line">
              <a:avLst/>
            </a:prstGeom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vi-VN"/>
            </a:p>
          </p:txBody>
        </p:sp>
        <p:sp>
          <p:nvSpPr>
            <p:cNvPr id="14" name="AutoShape 14">
              <a:extLst>
                <a:ext uri="{FF2B5EF4-FFF2-40B4-BE49-F238E27FC236}">
                  <a16:creationId xmlns:a16="http://schemas.microsoft.com/office/drawing/2014/main" id="{5DA342A7-FFD4-4FE3-60BB-A6EEB964C5A1}"/>
                </a:ext>
              </a:extLst>
            </p:cNvPr>
            <p:cNvSpPr/>
            <p:nvPr/>
          </p:nvSpPr>
          <p:spPr>
            <a:xfrm flipH="1">
              <a:off x="10296586" y="3738860"/>
              <a:ext cx="0" cy="6266077"/>
            </a:xfrm>
            <a:prstGeom prst="line">
              <a:avLst/>
            </a:prstGeom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vi-VN"/>
            </a:p>
          </p:txBody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5876E85D-EFC2-B26F-AEE3-D6ACE78DEC25}"/>
                </a:ext>
              </a:extLst>
            </p:cNvPr>
            <p:cNvSpPr txBox="1"/>
            <p:nvPr/>
          </p:nvSpPr>
          <p:spPr>
            <a:xfrm>
              <a:off x="1539283" y="5091602"/>
              <a:ext cx="703424" cy="4450246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36571"/>
                </a:lnSpc>
                <a:spcBef>
                  <a:spcPct val="0"/>
                </a:spcBef>
              </a:pPr>
              <a:r>
                <a:rPr lang="en-US" sz="26122">
                  <a:solidFill>
                    <a:srgbClr val="000000"/>
                  </a:solidFill>
                  <a:ea typeface="Cabin"/>
                  <a:cs typeface="Cabin"/>
                  <a:sym typeface="Cabin"/>
                </a:rPr>
                <a:t>i</a:t>
              </a:r>
            </a:p>
          </p:txBody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33FD687C-9097-5DA5-6901-FB97B9299344}"/>
                </a:ext>
              </a:extLst>
            </p:cNvPr>
            <p:cNvSpPr txBox="1"/>
            <p:nvPr/>
          </p:nvSpPr>
          <p:spPr>
            <a:xfrm>
              <a:off x="3611880" y="4036781"/>
              <a:ext cx="2806465" cy="854075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7000"/>
                </a:lnSpc>
                <a:spcBef>
                  <a:spcPct val="0"/>
                </a:spcBef>
              </a:pPr>
              <a:r>
                <a:rPr lang="en-US" sz="5000">
                  <a:solidFill>
                    <a:srgbClr val="000000"/>
                  </a:solidFill>
                  <a:ea typeface="Cabin"/>
                  <a:cs typeface="Cabin"/>
                  <a:sym typeface="Cabin"/>
                </a:rPr>
                <a:t>Vận mẫu</a:t>
              </a:r>
            </a:p>
          </p:txBody>
        </p:sp>
        <p:sp>
          <p:nvSpPr>
            <p:cNvPr id="17" name="TextBox 17">
              <a:extLst>
                <a:ext uri="{FF2B5EF4-FFF2-40B4-BE49-F238E27FC236}">
                  <a16:creationId xmlns:a16="http://schemas.microsoft.com/office/drawing/2014/main" id="{62D7C5EC-E17A-71CD-C96D-3E4486230401}"/>
                </a:ext>
              </a:extLst>
            </p:cNvPr>
            <p:cNvSpPr txBox="1"/>
            <p:nvPr/>
          </p:nvSpPr>
          <p:spPr>
            <a:xfrm>
              <a:off x="12871409" y="4036781"/>
              <a:ext cx="2806465" cy="854075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7000"/>
                </a:lnSpc>
                <a:spcBef>
                  <a:spcPct val="0"/>
                </a:spcBef>
              </a:pPr>
              <a:r>
                <a:rPr lang="en-US" sz="5000">
                  <a:solidFill>
                    <a:srgbClr val="000000"/>
                  </a:solidFill>
                  <a:ea typeface="Cabin"/>
                  <a:cs typeface="Cabin"/>
                  <a:sym typeface="Cabin"/>
                </a:rPr>
                <a:t>Cách viết</a:t>
              </a:r>
            </a:p>
          </p:txBody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87D4474E-1527-F573-F4E1-180B130FCAFE}"/>
                </a:ext>
              </a:extLst>
            </p:cNvPr>
            <p:cNvSpPr txBox="1"/>
            <p:nvPr/>
          </p:nvSpPr>
          <p:spPr>
            <a:xfrm>
              <a:off x="4019364" y="5617403"/>
              <a:ext cx="2806465" cy="854075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7000"/>
                </a:lnSpc>
                <a:spcBef>
                  <a:spcPct val="0"/>
                </a:spcBef>
              </a:pPr>
              <a:r>
                <a:rPr lang="en-US" sz="5000">
                  <a:solidFill>
                    <a:srgbClr val="000000"/>
                  </a:solidFill>
                  <a:ea typeface="Cabin"/>
                  <a:cs typeface="Cabin"/>
                  <a:sym typeface="Cabin"/>
                </a:rPr>
                <a:t>i , in , ing</a:t>
              </a:r>
            </a:p>
          </p:txBody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ABA35115-D511-FC36-1BA5-3E2B75192E29}"/>
                </a:ext>
              </a:extLst>
            </p:cNvPr>
            <p:cNvSpPr txBox="1"/>
            <p:nvPr/>
          </p:nvSpPr>
          <p:spPr>
            <a:xfrm>
              <a:off x="3944041" y="7157648"/>
              <a:ext cx="6604175" cy="854075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7000"/>
                </a:lnSpc>
                <a:spcBef>
                  <a:spcPct val="0"/>
                </a:spcBef>
              </a:pPr>
              <a:r>
                <a:rPr lang="en-US" sz="5000">
                  <a:solidFill>
                    <a:srgbClr val="000000"/>
                  </a:solidFill>
                  <a:ea typeface="Cabin"/>
                  <a:cs typeface="Cabin"/>
                  <a:sym typeface="Cabin"/>
                </a:rPr>
                <a:t>ia , ie, iao, ian, iang,iong </a:t>
              </a:r>
            </a:p>
          </p:txBody>
        </p:sp>
        <p:sp>
          <p:nvSpPr>
            <p:cNvPr id="20" name="TextBox 20">
              <a:extLst>
                <a:ext uri="{FF2B5EF4-FFF2-40B4-BE49-F238E27FC236}">
                  <a16:creationId xmlns:a16="http://schemas.microsoft.com/office/drawing/2014/main" id="{6D9A734B-624F-93BE-7F91-316B46DBB97B}"/>
                </a:ext>
              </a:extLst>
            </p:cNvPr>
            <p:cNvSpPr txBox="1"/>
            <p:nvPr/>
          </p:nvSpPr>
          <p:spPr>
            <a:xfrm>
              <a:off x="3944041" y="8595923"/>
              <a:ext cx="6604175" cy="854075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7000"/>
                </a:lnSpc>
                <a:spcBef>
                  <a:spcPct val="0"/>
                </a:spcBef>
              </a:pPr>
              <a:r>
                <a:rPr lang="en-US" sz="5000">
                  <a:solidFill>
                    <a:srgbClr val="000000"/>
                  </a:solidFill>
                  <a:ea typeface="Cabin"/>
                  <a:cs typeface="Cabin"/>
                  <a:sym typeface="Cabin"/>
                </a:rPr>
                <a:t>iu</a:t>
              </a:r>
            </a:p>
          </p:txBody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66225F3B-C3B2-9E36-294F-47F04612F42D}"/>
                </a:ext>
              </a:extLst>
            </p:cNvPr>
            <p:cNvSpPr txBox="1"/>
            <p:nvPr/>
          </p:nvSpPr>
          <p:spPr>
            <a:xfrm>
              <a:off x="11468176" y="5617403"/>
              <a:ext cx="5791124" cy="854075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7000"/>
                </a:lnSpc>
                <a:spcBef>
                  <a:spcPct val="0"/>
                </a:spcBef>
              </a:pPr>
              <a:r>
                <a:rPr lang="en-US" sz="5000">
                  <a:solidFill>
                    <a:srgbClr val="000000"/>
                  </a:solidFill>
                  <a:ea typeface="Cabin"/>
                  <a:cs typeface="Cabin"/>
                  <a:sym typeface="Cabin"/>
                </a:rPr>
                <a:t>yi, yin, ying</a:t>
              </a:r>
            </a:p>
          </p:txBody>
        </p:sp>
        <p:sp>
          <p:nvSpPr>
            <p:cNvPr id="22" name="TextBox 22">
              <a:extLst>
                <a:ext uri="{FF2B5EF4-FFF2-40B4-BE49-F238E27FC236}">
                  <a16:creationId xmlns:a16="http://schemas.microsoft.com/office/drawing/2014/main" id="{AD5917AC-5920-F9D1-BE52-EC3A7D3C153C}"/>
                </a:ext>
              </a:extLst>
            </p:cNvPr>
            <p:cNvSpPr txBox="1"/>
            <p:nvPr/>
          </p:nvSpPr>
          <p:spPr>
            <a:xfrm>
              <a:off x="10457306" y="7157648"/>
              <a:ext cx="7634672" cy="854075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7000"/>
                </a:lnSpc>
                <a:spcBef>
                  <a:spcPct val="0"/>
                </a:spcBef>
              </a:pPr>
              <a:r>
                <a:rPr lang="en-US" sz="5000">
                  <a:solidFill>
                    <a:srgbClr val="000000"/>
                  </a:solidFill>
                  <a:ea typeface="Cabin"/>
                  <a:cs typeface="Cabin"/>
                  <a:sym typeface="Cabin"/>
                </a:rPr>
                <a:t>ya, ye, yao, yan, yang,yong</a:t>
              </a:r>
            </a:p>
          </p:txBody>
        </p:sp>
        <p:sp>
          <p:nvSpPr>
            <p:cNvPr id="23" name="TextBox 23">
              <a:extLst>
                <a:ext uri="{FF2B5EF4-FFF2-40B4-BE49-F238E27FC236}">
                  <a16:creationId xmlns:a16="http://schemas.microsoft.com/office/drawing/2014/main" id="{B6667178-7595-4C4F-1B95-CD3999CC08F3}"/>
                </a:ext>
              </a:extLst>
            </p:cNvPr>
            <p:cNvSpPr txBox="1"/>
            <p:nvPr/>
          </p:nvSpPr>
          <p:spPr>
            <a:xfrm>
              <a:off x="10862541" y="8719748"/>
              <a:ext cx="5791124" cy="854075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7000"/>
                </a:lnSpc>
                <a:spcBef>
                  <a:spcPct val="0"/>
                </a:spcBef>
              </a:pPr>
              <a:r>
                <a:rPr lang="en-US" sz="5000">
                  <a:solidFill>
                    <a:srgbClr val="000000"/>
                  </a:solidFill>
                  <a:ea typeface="Cabin"/>
                  <a:cs typeface="Cabin"/>
                  <a:sym typeface="Cabin"/>
                </a:rPr>
                <a:t>you</a:t>
              </a:r>
            </a:p>
          </p:txBody>
        </p: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32C0BA-C43C-7B64-D5DF-0555C4BA49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21D25436-1EF6-EB46-6C57-C7B79750365F}"/>
              </a:ext>
            </a:extLst>
          </p:cNvPr>
          <p:cNvGrpSpPr/>
          <p:nvPr/>
        </p:nvGrpSpPr>
        <p:grpSpPr>
          <a:xfrm>
            <a:off x="256513" y="262070"/>
            <a:ext cx="17799702" cy="9762861"/>
            <a:chOff x="0" y="0"/>
            <a:chExt cx="4687987" cy="2571288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DEFA33B8-EFFA-E053-6B65-22823212E161}"/>
                </a:ext>
              </a:extLst>
            </p:cNvPr>
            <p:cNvSpPr/>
            <p:nvPr/>
          </p:nvSpPr>
          <p:spPr>
            <a:xfrm>
              <a:off x="0" y="0"/>
              <a:ext cx="4687987" cy="2571288"/>
            </a:xfrm>
            <a:custGeom>
              <a:avLst/>
              <a:gdLst/>
              <a:ahLst/>
              <a:cxnLst/>
              <a:rect l="l" t="t" r="r" b="b"/>
              <a:pathLst>
                <a:path w="4687987" h="2571288">
                  <a:moveTo>
                    <a:pt x="22182" y="0"/>
                  </a:moveTo>
                  <a:lnTo>
                    <a:pt x="4665805" y="0"/>
                  </a:lnTo>
                  <a:cubicBezTo>
                    <a:pt x="4671688" y="0"/>
                    <a:pt x="4677330" y="2337"/>
                    <a:pt x="4681491" y="6497"/>
                  </a:cubicBezTo>
                  <a:cubicBezTo>
                    <a:pt x="4685650" y="10657"/>
                    <a:pt x="4687987" y="16299"/>
                    <a:pt x="4687987" y="22182"/>
                  </a:cubicBezTo>
                  <a:lnTo>
                    <a:pt x="4687987" y="2549106"/>
                  </a:lnTo>
                  <a:cubicBezTo>
                    <a:pt x="4687987" y="2554989"/>
                    <a:pt x="4685650" y="2560631"/>
                    <a:pt x="4681491" y="2564791"/>
                  </a:cubicBezTo>
                  <a:cubicBezTo>
                    <a:pt x="4677330" y="2568951"/>
                    <a:pt x="4671688" y="2571288"/>
                    <a:pt x="4665805" y="2571288"/>
                  </a:cubicBezTo>
                  <a:lnTo>
                    <a:pt x="22182" y="2571288"/>
                  </a:lnTo>
                  <a:cubicBezTo>
                    <a:pt x="16299" y="2571288"/>
                    <a:pt x="10657" y="2568951"/>
                    <a:pt x="6497" y="2564791"/>
                  </a:cubicBezTo>
                  <a:cubicBezTo>
                    <a:pt x="2337" y="2560631"/>
                    <a:pt x="0" y="2554989"/>
                    <a:pt x="0" y="2549106"/>
                  </a:cubicBezTo>
                  <a:lnTo>
                    <a:pt x="0" y="22182"/>
                  </a:lnTo>
                  <a:cubicBezTo>
                    <a:pt x="0" y="16299"/>
                    <a:pt x="2337" y="10657"/>
                    <a:pt x="6497" y="6497"/>
                  </a:cubicBezTo>
                  <a:cubicBezTo>
                    <a:pt x="10657" y="2337"/>
                    <a:pt x="16299" y="0"/>
                    <a:pt x="22182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vi-VN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05F561DA-E5C0-72A3-7063-4765ECC6E7F6}"/>
                </a:ext>
              </a:extLst>
            </p:cNvPr>
            <p:cNvSpPr txBox="1"/>
            <p:nvPr/>
          </p:nvSpPr>
          <p:spPr>
            <a:xfrm>
              <a:off x="0" y="-38100"/>
              <a:ext cx="4687987" cy="26093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>
            <a:extLst>
              <a:ext uri="{FF2B5EF4-FFF2-40B4-BE49-F238E27FC236}">
                <a16:creationId xmlns:a16="http://schemas.microsoft.com/office/drawing/2014/main" id="{0C2FC7FF-97A9-790F-7CEF-02E4F1AF673D}"/>
              </a:ext>
            </a:extLst>
          </p:cNvPr>
          <p:cNvSpPr/>
          <p:nvPr/>
        </p:nvSpPr>
        <p:spPr>
          <a:xfrm>
            <a:off x="639566" y="560609"/>
            <a:ext cx="3350972" cy="1232927"/>
          </a:xfrm>
          <a:custGeom>
            <a:avLst/>
            <a:gdLst/>
            <a:ahLst/>
            <a:cxnLst/>
            <a:rect l="l" t="t" r="r" b="b"/>
            <a:pathLst>
              <a:path w="3350972" h="1232927">
                <a:moveTo>
                  <a:pt x="0" y="0"/>
                </a:moveTo>
                <a:lnTo>
                  <a:pt x="3350972" y="0"/>
                </a:lnTo>
                <a:lnTo>
                  <a:pt x="3350972" y="1232927"/>
                </a:lnTo>
                <a:lnTo>
                  <a:pt x="0" y="123292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vi-VN"/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9CA8427B-035C-BE44-B90A-ACEADA58B62F}"/>
              </a:ext>
            </a:extLst>
          </p:cNvPr>
          <p:cNvSpPr txBox="1"/>
          <p:nvPr/>
        </p:nvSpPr>
        <p:spPr>
          <a:xfrm>
            <a:off x="1028700" y="1919928"/>
            <a:ext cx="16230600" cy="16517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606"/>
              </a:lnSpc>
            </a:pPr>
            <a:r>
              <a:rPr lang="en-US" sz="4719">
                <a:solidFill>
                  <a:srgbClr val="004AAD"/>
                </a:solidFill>
                <a:latin typeface="Noto Sans"/>
                <a:ea typeface="Noto Sans"/>
                <a:cs typeface="Noto Sans"/>
                <a:sym typeface="Noto Sans"/>
              </a:rPr>
              <a:t>Nếu âm bắt đầu bằng i hoặc ü ( không có thanh mẫu) thì khi viết phiên âm ta phải sử dụng y</a:t>
            </a:r>
          </a:p>
        </p:txBody>
      </p:sp>
      <p:grpSp>
        <p:nvGrpSpPr>
          <p:cNvPr id="25" name="Group 5">
            <a:extLst>
              <a:ext uri="{FF2B5EF4-FFF2-40B4-BE49-F238E27FC236}">
                <a16:creationId xmlns:a16="http://schemas.microsoft.com/office/drawing/2014/main" id="{F1893635-9604-A8AC-D99B-44E70563C0F4}"/>
              </a:ext>
            </a:extLst>
          </p:cNvPr>
          <p:cNvGrpSpPr/>
          <p:nvPr/>
        </p:nvGrpSpPr>
        <p:grpSpPr>
          <a:xfrm>
            <a:off x="318934" y="4762500"/>
            <a:ext cx="17650132" cy="4234911"/>
            <a:chOff x="0" y="0"/>
            <a:chExt cx="4648595" cy="1115368"/>
          </a:xfrm>
        </p:grpSpPr>
        <p:sp>
          <p:nvSpPr>
            <p:cNvPr id="26" name="Freeform 6">
              <a:extLst>
                <a:ext uri="{FF2B5EF4-FFF2-40B4-BE49-F238E27FC236}">
                  <a16:creationId xmlns:a16="http://schemas.microsoft.com/office/drawing/2014/main" id="{8EC9BB43-3F82-C7A9-A3DA-715FBFB166A4}"/>
                </a:ext>
              </a:extLst>
            </p:cNvPr>
            <p:cNvSpPr/>
            <p:nvPr/>
          </p:nvSpPr>
          <p:spPr>
            <a:xfrm>
              <a:off x="0" y="0"/>
              <a:ext cx="4648595" cy="1115368"/>
            </a:xfrm>
            <a:custGeom>
              <a:avLst/>
              <a:gdLst/>
              <a:ahLst/>
              <a:cxnLst/>
              <a:rect l="l" t="t" r="r" b="b"/>
              <a:pathLst>
                <a:path w="4648595" h="1115368">
                  <a:moveTo>
                    <a:pt x="22370" y="0"/>
                  </a:moveTo>
                  <a:lnTo>
                    <a:pt x="4626224" y="0"/>
                  </a:lnTo>
                  <a:cubicBezTo>
                    <a:pt x="4638579" y="0"/>
                    <a:pt x="4648595" y="10016"/>
                    <a:pt x="4648595" y="22370"/>
                  </a:cubicBezTo>
                  <a:lnTo>
                    <a:pt x="4648595" y="1092997"/>
                  </a:lnTo>
                  <a:cubicBezTo>
                    <a:pt x="4648595" y="1105352"/>
                    <a:pt x="4638579" y="1115368"/>
                    <a:pt x="4626224" y="1115368"/>
                  </a:cubicBezTo>
                  <a:lnTo>
                    <a:pt x="22370" y="1115368"/>
                  </a:lnTo>
                  <a:cubicBezTo>
                    <a:pt x="10016" y="1115368"/>
                    <a:pt x="0" y="1105352"/>
                    <a:pt x="0" y="1092997"/>
                  </a:cubicBezTo>
                  <a:lnTo>
                    <a:pt x="0" y="22370"/>
                  </a:lnTo>
                  <a:cubicBezTo>
                    <a:pt x="0" y="10016"/>
                    <a:pt x="10016" y="0"/>
                    <a:pt x="22370" y="0"/>
                  </a:cubicBezTo>
                  <a:close/>
                </a:path>
              </a:pathLst>
            </a:custGeom>
            <a:solidFill>
              <a:srgbClr val="F9C0C4"/>
            </a:solidFill>
            <a:ln w="47625" cap="rnd">
              <a:solidFill>
                <a:srgbClr val="A47C65"/>
              </a:solidFill>
              <a:prstDash val="lgDash"/>
              <a:round/>
            </a:ln>
          </p:spPr>
          <p:txBody>
            <a:bodyPr/>
            <a:lstStyle/>
            <a:p>
              <a:endParaRPr lang="vi-VN"/>
            </a:p>
          </p:txBody>
        </p:sp>
        <p:sp>
          <p:nvSpPr>
            <p:cNvPr id="27" name="TextBox 7">
              <a:extLst>
                <a:ext uri="{FF2B5EF4-FFF2-40B4-BE49-F238E27FC236}">
                  <a16:creationId xmlns:a16="http://schemas.microsoft.com/office/drawing/2014/main" id="{3FEF76C6-8C41-8C3A-2029-C7A77E93F9E1}"/>
                </a:ext>
              </a:extLst>
            </p:cNvPr>
            <p:cNvSpPr txBox="1"/>
            <p:nvPr/>
          </p:nvSpPr>
          <p:spPr>
            <a:xfrm>
              <a:off x="0" y="-38100"/>
              <a:ext cx="4648595" cy="11534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8" name="AutoShape 10">
            <a:extLst>
              <a:ext uri="{FF2B5EF4-FFF2-40B4-BE49-F238E27FC236}">
                <a16:creationId xmlns:a16="http://schemas.microsoft.com/office/drawing/2014/main" id="{05C7D82C-63A9-5C70-7E87-9F884C3B6B5D}"/>
              </a:ext>
            </a:extLst>
          </p:cNvPr>
          <p:cNvSpPr/>
          <p:nvPr/>
        </p:nvSpPr>
        <p:spPr>
          <a:xfrm>
            <a:off x="318934" y="6326718"/>
            <a:ext cx="17650132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29" name="AutoShape 11">
            <a:extLst>
              <a:ext uri="{FF2B5EF4-FFF2-40B4-BE49-F238E27FC236}">
                <a16:creationId xmlns:a16="http://schemas.microsoft.com/office/drawing/2014/main" id="{ACFA69DC-EA3C-5633-46C8-1308A47EC71A}"/>
              </a:ext>
            </a:extLst>
          </p:cNvPr>
          <p:cNvSpPr/>
          <p:nvPr/>
        </p:nvSpPr>
        <p:spPr>
          <a:xfrm flipH="1">
            <a:off x="3639533" y="6326718"/>
            <a:ext cx="0" cy="267069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30" name="AutoShape 12">
            <a:extLst>
              <a:ext uri="{FF2B5EF4-FFF2-40B4-BE49-F238E27FC236}">
                <a16:creationId xmlns:a16="http://schemas.microsoft.com/office/drawing/2014/main" id="{1F643B19-AA93-529F-56FB-65DF4C418D87}"/>
              </a:ext>
            </a:extLst>
          </p:cNvPr>
          <p:cNvSpPr/>
          <p:nvPr/>
        </p:nvSpPr>
        <p:spPr>
          <a:xfrm>
            <a:off x="10908030" y="4762500"/>
            <a:ext cx="0" cy="423491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31" name="TextBox 13">
            <a:extLst>
              <a:ext uri="{FF2B5EF4-FFF2-40B4-BE49-F238E27FC236}">
                <a16:creationId xmlns:a16="http://schemas.microsoft.com/office/drawing/2014/main" id="{E63EA4A5-B688-CC63-2907-07E6F02767E5}"/>
              </a:ext>
            </a:extLst>
          </p:cNvPr>
          <p:cNvSpPr txBox="1"/>
          <p:nvPr/>
        </p:nvSpPr>
        <p:spPr>
          <a:xfrm>
            <a:off x="4450695" y="5093749"/>
            <a:ext cx="2806465" cy="854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00"/>
              </a:lnSpc>
              <a:spcBef>
                <a:spcPct val="0"/>
              </a:spcBef>
            </a:pPr>
            <a:r>
              <a:rPr lang="en-US" sz="5000">
                <a:solidFill>
                  <a:srgbClr val="000000"/>
                </a:solidFill>
                <a:ea typeface="Cabin"/>
                <a:cs typeface="Cabin"/>
                <a:sym typeface="Cabin"/>
              </a:rPr>
              <a:t>Vận mẫu</a:t>
            </a:r>
          </a:p>
        </p:txBody>
      </p:sp>
      <p:sp>
        <p:nvSpPr>
          <p:cNvPr id="32" name="TextBox 14">
            <a:extLst>
              <a:ext uri="{FF2B5EF4-FFF2-40B4-BE49-F238E27FC236}">
                <a16:creationId xmlns:a16="http://schemas.microsoft.com/office/drawing/2014/main" id="{C135A5FF-66CB-53D2-5EF3-ED2FC66CE70B}"/>
              </a:ext>
            </a:extLst>
          </p:cNvPr>
          <p:cNvSpPr txBox="1"/>
          <p:nvPr/>
        </p:nvSpPr>
        <p:spPr>
          <a:xfrm>
            <a:off x="12899062" y="5093749"/>
            <a:ext cx="2806465" cy="854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00"/>
              </a:lnSpc>
              <a:spcBef>
                <a:spcPct val="0"/>
              </a:spcBef>
            </a:pPr>
            <a:r>
              <a:rPr lang="en-US" sz="5000">
                <a:solidFill>
                  <a:srgbClr val="000000"/>
                </a:solidFill>
                <a:ea typeface="Cabin"/>
                <a:cs typeface="Cabin"/>
                <a:sym typeface="Cabin"/>
              </a:rPr>
              <a:t>Cách viết</a:t>
            </a:r>
          </a:p>
        </p:txBody>
      </p:sp>
      <p:sp>
        <p:nvSpPr>
          <p:cNvPr id="33" name="TextBox 15">
            <a:extLst>
              <a:ext uri="{FF2B5EF4-FFF2-40B4-BE49-F238E27FC236}">
                <a16:creationId xmlns:a16="http://schemas.microsoft.com/office/drawing/2014/main" id="{079893B5-52A2-42E4-C775-F00A3D87DD35}"/>
              </a:ext>
            </a:extLst>
          </p:cNvPr>
          <p:cNvSpPr txBox="1"/>
          <p:nvPr/>
        </p:nvSpPr>
        <p:spPr>
          <a:xfrm>
            <a:off x="1028700" y="5519199"/>
            <a:ext cx="1497409" cy="3857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500"/>
              </a:lnSpc>
              <a:spcBef>
                <a:spcPct val="0"/>
              </a:spcBef>
            </a:pPr>
            <a:r>
              <a:rPr lang="en-US" sz="22500">
                <a:solidFill>
                  <a:srgbClr val="000000"/>
                </a:solidFill>
                <a:ea typeface="Cabin"/>
                <a:cs typeface="Cabin"/>
                <a:sym typeface="Cabin"/>
              </a:rPr>
              <a:t>ü</a:t>
            </a:r>
          </a:p>
        </p:txBody>
      </p:sp>
      <p:sp>
        <p:nvSpPr>
          <p:cNvPr id="34" name="TextBox 16">
            <a:extLst>
              <a:ext uri="{FF2B5EF4-FFF2-40B4-BE49-F238E27FC236}">
                <a16:creationId xmlns:a16="http://schemas.microsoft.com/office/drawing/2014/main" id="{E2327F18-9EF5-8187-EFF7-730C80336AAB}"/>
              </a:ext>
            </a:extLst>
          </p:cNvPr>
          <p:cNvSpPr txBox="1"/>
          <p:nvPr/>
        </p:nvSpPr>
        <p:spPr>
          <a:xfrm>
            <a:off x="4019364" y="6784706"/>
            <a:ext cx="3691368" cy="854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00"/>
              </a:lnSpc>
              <a:spcBef>
                <a:spcPct val="0"/>
              </a:spcBef>
            </a:pPr>
            <a:r>
              <a:rPr lang="en-US" sz="5000">
                <a:solidFill>
                  <a:srgbClr val="000000"/>
                </a:solidFill>
                <a:ea typeface="Cabin"/>
                <a:cs typeface="Cabin"/>
                <a:sym typeface="Cabin"/>
              </a:rPr>
              <a:t>ü, üe, üan, ün</a:t>
            </a:r>
          </a:p>
        </p:txBody>
      </p:sp>
      <p:sp>
        <p:nvSpPr>
          <p:cNvPr id="35" name="TextBox 17">
            <a:extLst>
              <a:ext uri="{FF2B5EF4-FFF2-40B4-BE49-F238E27FC236}">
                <a16:creationId xmlns:a16="http://schemas.microsoft.com/office/drawing/2014/main" id="{DAF0C494-ED4A-DE7F-9E61-C2C7DB8D8DD1}"/>
              </a:ext>
            </a:extLst>
          </p:cNvPr>
          <p:cNvSpPr txBox="1"/>
          <p:nvPr/>
        </p:nvSpPr>
        <p:spPr>
          <a:xfrm>
            <a:off x="11289030" y="6808249"/>
            <a:ext cx="4787900" cy="854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  <a:spcBef>
                <a:spcPct val="0"/>
              </a:spcBef>
            </a:pPr>
            <a:r>
              <a:rPr lang="en-US" sz="5000" dirty="0" err="1">
                <a:solidFill>
                  <a:srgbClr val="000000"/>
                </a:solidFill>
                <a:ea typeface="Cabin"/>
                <a:cs typeface="Cabin"/>
                <a:sym typeface="Cabin"/>
              </a:rPr>
              <a:t>yu</a:t>
            </a:r>
            <a:r>
              <a:rPr lang="en-US" sz="5000" dirty="0">
                <a:solidFill>
                  <a:srgbClr val="000000"/>
                </a:solidFill>
                <a:ea typeface="Cabin"/>
                <a:cs typeface="Cabin"/>
                <a:sym typeface="Cabin"/>
              </a:rPr>
              <a:t>, </a:t>
            </a:r>
            <a:r>
              <a:rPr lang="en-US" sz="5000" dirty="0" err="1">
                <a:solidFill>
                  <a:srgbClr val="000000"/>
                </a:solidFill>
                <a:ea typeface="Cabin"/>
                <a:cs typeface="Cabin"/>
                <a:sym typeface="Cabin"/>
              </a:rPr>
              <a:t>yue,yuan</a:t>
            </a:r>
            <a:r>
              <a:rPr lang="en-US" sz="5000" dirty="0">
                <a:solidFill>
                  <a:srgbClr val="000000"/>
                </a:solidFill>
                <a:ea typeface="Cabin"/>
                <a:cs typeface="Cabin"/>
                <a:sym typeface="Cabin"/>
              </a:rPr>
              <a:t>, </a:t>
            </a:r>
            <a:r>
              <a:rPr lang="en-US" sz="5000" dirty="0" err="1">
                <a:solidFill>
                  <a:srgbClr val="000000"/>
                </a:solidFill>
                <a:ea typeface="Cabin"/>
                <a:cs typeface="Cabin"/>
                <a:sym typeface="Cabin"/>
              </a:rPr>
              <a:t>yun</a:t>
            </a:r>
            <a:endParaRPr lang="en-US" sz="5000" dirty="0">
              <a:solidFill>
                <a:srgbClr val="000000"/>
              </a:solidFill>
              <a:ea typeface="Cabin"/>
              <a:cs typeface="Cabin"/>
              <a:sym typeface="Cabin"/>
            </a:endParaRPr>
          </a:p>
        </p:txBody>
      </p:sp>
    </p:spTree>
    <p:extLst>
      <p:ext uri="{BB962C8B-B14F-4D97-AF65-F5344CB8AC3E}">
        <p14:creationId xmlns:p14="http://schemas.microsoft.com/office/powerpoint/2010/main" val="36186149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56513" y="262070"/>
            <a:ext cx="17799702" cy="9762861"/>
            <a:chOff x="0" y="0"/>
            <a:chExt cx="4687987" cy="257128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687987" cy="2571288"/>
            </a:xfrm>
            <a:custGeom>
              <a:avLst/>
              <a:gdLst/>
              <a:ahLst/>
              <a:cxnLst/>
              <a:rect l="l" t="t" r="r" b="b"/>
              <a:pathLst>
                <a:path w="4687987" h="2571288">
                  <a:moveTo>
                    <a:pt x="22182" y="0"/>
                  </a:moveTo>
                  <a:lnTo>
                    <a:pt x="4665805" y="0"/>
                  </a:lnTo>
                  <a:cubicBezTo>
                    <a:pt x="4671688" y="0"/>
                    <a:pt x="4677330" y="2337"/>
                    <a:pt x="4681491" y="6497"/>
                  </a:cubicBezTo>
                  <a:cubicBezTo>
                    <a:pt x="4685650" y="10657"/>
                    <a:pt x="4687987" y="16299"/>
                    <a:pt x="4687987" y="22182"/>
                  </a:cubicBezTo>
                  <a:lnTo>
                    <a:pt x="4687987" y="2549106"/>
                  </a:lnTo>
                  <a:cubicBezTo>
                    <a:pt x="4687987" y="2554989"/>
                    <a:pt x="4685650" y="2560631"/>
                    <a:pt x="4681491" y="2564791"/>
                  </a:cubicBezTo>
                  <a:cubicBezTo>
                    <a:pt x="4677330" y="2568951"/>
                    <a:pt x="4671688" y="2571288"/>
                    <a:pt x="4665805" y="2571288"/>
                  </a:cubicBezTo>
                  <a:lnTo>
                    <a:pt x="22182" y="2571288"/>
                  </a:lnTo>
                  <a:cubicBezTo>
                    <a:pt x="16299" y="2571288"/>
                    <a:pt x="10657" y="2568951"/>
                    <a:pt x="6497" y="2564791"/>
                  </a:cubicBezTo>
                  <a:cubicBezTo>
                    <a:pt x="2337" y="2560631"/>
                    <a:pt x="0" y="2554989"/>
                    <a:pt x="0" y="2549106"/>
                  </a:cubicBezTo>
                  <a:lnTo>
                    <a:pt x="0" y="22182"/>
                  </a:lnTo>
                  <a:cubicBezTo>
                    <a:pt x="0" y="16299"/>
                    <a:pt x="2337" y="10657"/>
                    <a:pt x="6497" y="6497"/>
                  </a:cubicBezTo>
                  <a:cubicBezTo>
                    <a:pt x="10657" y="2337"/>
                    <a:pt x="16299" y="0"/>
                    <a:pt x="22182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vi-V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687987" cy="26093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aphicFrame>
        <p:nvGraphicFramePr>
          <p:cNvPr id="5" name="Table 5"/>
          <p:cNvGraphicFramePr>
            <a:graphicFrameLocks noGrp="1"/>
          </p:cNvGraphicFramePr>
          <p:nvPr/>
        </p:nvGraphicFramePr>
        <p:xfrm>
          <a:off x="256513" y="262070"/>
          <a:ext cx="17799700" cy="9762864"/>
        </p:xfrm>
        <a:graphic>
          <a:graphicData uri="http://schemas.openxmlformats.org/drawingml/2006/table">
            <a:tbl>
              <a:tblPr/>
              <a:tblGrid>
                <a:gridCol w="35599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599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599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599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5599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220358">
                <a:tc>
                  <a:txBody>
                    <a:bodyPr/>
                    <a:lstStyle/>
                    <a:p>
                      <a:pPr algn="ctr">
                        <a:lnSpc>
                          <a:spcPts val="2499"/>
                        </a:lnSpc>
                        <a:defRPr/>
                      </a:pPr>
                      <a:r>
                        <a:rPr lang="en-US" sz="4999">
                          <a:solidFill>
                            <a:srgbClr val="000000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biàn</a:t>
                      </a:r>
                      <a:endParaRPr lang="en-US" sz="1100"/>
                    </a:p>
                  </a:txBody>
                  <a:tcPr marL="0" marR="0" marT="0" marB="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99"/>
                        </a:lnSpc>
                        <a:defRPr/>
                      </a:pPr>
                      <a:r>
                        <a:rPr lang="en-US" sz="4999">
                          <a:solidFill>
                            <a:srgbClr val="000000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gǎn</a:t>
                      </a:r>
                      <a:endParaRPr lang="en-US" sz="1100"/>
                    </a:p>
                  </a:txBody>
                  <a:tcPr marL="0" marR="0" marT="0" marB="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99"/>
                        </a:lnSpc>
                        <a:defRPr/>
                      </a:pPr>
                      <a:r>
                        <a:rPr lang="en-US" sz="4999">
                          <a:solidFill>
                            <a:srgbClr val="000000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liú</a:t>
                      </a:r>
                      <a:endParaRPr lang="en-US" sz="1100"/>
                    </a:p>
                  </a:txBody>
                  <a:tcPr marL="0" marR="0" marT="0" marB="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99"/>
                        </a:lnSpc>
                        <a:defRPr/>
                      </a:pPr>
                      <a:r>
                        <a:rPr lang="en-US" sz="4999">
                          <a:solidFill>
                            <a:srgbClr val="000000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qún</a:t>
                      </a:r>
                      <a:endParaRPr lang="en-US" sz="1100"/>
                    </a:p>
                  </a:txBody>
                  <a:tcPr marL="0" marR="0" marT="0" marB="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99"/>
                        </a:lnSpc>
                        <a:defRPr/>
                      </a:pPr>
                      <a:r>
                        <a:rPr lang="en-US" sz="4999">
                          <a:solidFill>
                            <a:srgbClr val="000000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tìng </a:t>
                      </a:r>
                      <a:endParaRPr lang="en-US" sz="1100"/>
                    </a:p>
                  </a:txBody>
                  <a:tcPr marL="0" marR="0" marT="0" marB="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20358">
                <a:tc>
                  <a:txBody>
                    <a:bodyPr/>
                    <a:lstStyle/>
                    <a:p>
                      <a:pPr algn="ctr">
                        <a:lnSpc>
                          <a:spcPts val="2499"/>
                        </a:lnSpc>
                        <a:defRPr/>
                      </a:pPr>
                      <a:r>
                        <a:rPr lang="en-US" sz="4999">
                          <a:solidFill>
                            <a:srgbClr val="000000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pén</a:t>
                      </a:r>
                      <a:endParaRPr lang="en-US" sz="1100"/>
                    </a:p>
                  </a:txBody>
                  <a:tcPr marL="0" marR="0" marT="0" marB="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99"/>
                        </a:lnSpc>
                        <a:defRPr/>
                      </a:pPr>
                      <a:r>
                        <a:rPr lang="en-US" sz="4999">
                          <a:solidFill>
                            <a:srgbClr val="000000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lüè</a:t>
                      </a:r>
                      <a:endParaRPr lang="en-US" sz="1100"/>
                    </a:p>
                  </a:txBody>
                  <a:tcPr marL="0" marR="0" marT="0" marB="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99"/>
                        </a:lnSpc>
                        <a:defRPr/>
                      </a:pPr>
                      <a:r>
                        <a:rPr lang="en-US" sz="4999">
                          <a:solidFill>
                            <a:srgbClr val="000000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xióng</a:t>
                      </a:r>
                      <a:endParaRPr lang="en-US" sz="1100"/>
                    </a:p>
                  </a:txBody>
                  <a:tcPr marL="0" marR="0" marT="0" marB="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99"/>
                        </a:lnSpc>
                        <a:defRPr/>
                      </a:pPr>
                      <a:r>
                        <a:rPr lang="en-US" sz="4999">
                          <a:solidFill>
                            <a:srgbClr val="000000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xié</a:t>
                      </a:r>
                      <a:endParaRPr lang="en-US" sz="1100"/>
                    </a:p>
                  </a:txBody>
                  <a:tcPr marL="0" marR="0" marT="0" marB="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99"/>
                        </a:lnSpc>
                        <a:defRPr/>
                      </a:pPr>
                      <a:r>
                        <a:rPr lang="en-US" sz="4999">
                          <a:solidFill>
                            <a:srgbClr val="000000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xué</a:t>
                      </a:r>
                      <a:endParaRPr lang="en-US" sz="1100"/>
                    </a:p>
                  </a:txBody>
                  <a:tcPr marL="0" marR="0" marT="0" marB="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20358">
                <a:tc>
                  <a:txBody>
                    <a:bodyPr/>
                    <a:lstStyle/>
                    <a:p>
                      <a:pPr algn="ctr">
                        <a:lnSpc>
                          <a:spcPts val="2499"/>
                        </a:lnSpc>
                        <a:defRPr/>
                      </a:pPr>
                      <a:r>
                        <a:rPr lang="en-US" sz="4999">
                          <a:solidFill>
                            <a:srgbClr val="000000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qián</a:t>
                      </a:r>
                      <a:endParaRPr lang="en-US" sz="1100"/>
                    </a:p>
                  </a:txBody>
                  <a:tcPr marL="0" marR="0" marT="0" marB="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99"/>
                        </a:lnSpc>
                        <a:defRPr/>
                      </a:pPr>
                      <a:r>
                        <a:rPr lang="en-US" sz="4999">
                          <a:solidFill>
                            <a:srgbClr val="000000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nǎi </a:t>
                      </a:r>
                      <a:endParaRPr lang="en-US" sz="1100"/>
                    </a:p>
                  </a:txBody>
                  <a:tcPr marL="0" marR="0" marT="0" marB="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99"/>
                        </a:lnSpc>
                        <a:defRPr/>
                      </a:pPr>
                      <a:r>
                        <a:rPr lang="en-US" sz="4999">
                          <a:solidFill>
                            <a:srgbClr val="000000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jiē</a:t>
                      </a:r>
                      <a:endParaRPr lang="en-US" sz="1100"/>
                    </a:p>
                  </a:txBody>
                  <a:tcPr marL="0" marR="0" marT="0" marB="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99"/>
                        </a:lnSpc>
                        <a:defRPr/>
                      </a:pPr>
                      <a:r>
                        <a:rPr lang="en-US" sz="4999">
                          <a:solidFill>
                            <a:srgbClr val="000000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běn </a:t>
                      </a:r>
                      <a:endParaRPr lang="en-US" sz="1100"/>
                    </a:p>
                  </a:txBody>
                  <a:tcPr marL="0" marR="0" marT="0" marB="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99"/>
                        </a:lnSpc>
                        <a:defRPr/>
                      </a:pPr>
                      <a:r>
                        <a:rPr lang="en-US" sz="4999">
                          <a:solidFill>
                            <a:srgbClr val="000000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lóng </a:t>
                      </a:r>
                      <a:endParaRPr lang="en-US" sz="1100"/>
                    </a:p>
                  </a:txBody>
                  <a:tcPr marL="0" marR="0" marT="0" marB="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20358">
                <a:tc>
                  <a:txBody>
                    <a:bodyPr/>
                    <a:lstStyle/>
                    <a:p>
                      <a:pPr algn="ctr">
                        <a:lnSpc>
                          <a:spcPts val="2499"/>
                        </a:lnSpc>
                        <a:defRPr/>
                      </a:pPr>
                      <a:r>
                        <a:rPr lang="en-US" sz="4999">
                          <a:solidFill>
                            <a:srgbClr val="000000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děng</a:t>
                      </a:r>
                      <a:endParaRPr lang="en-US" sz="1100"/>
                    </a:p>
                  </a:txBody>
                  <a:tcPr marL="0" marR="0" marT="0" marB="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99"/>
                        </a:lnSpc>
                        <a:defRPr/>
                      </a:pPr>
                      <a:r>
                        <a:rPr lang="en-US" sz="4999">
                          <a:solidFill>
                            <a:srgbClr val="000000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liǎo </a:t>
                      </a:r>
                      <a:endParaRPr lang="en-US" sz="1100"/>
                    </a:p>
                  </a:txBody>
                  <a:tcPr marL="0" marR="0" marT="0" marB="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99"/>
                        </a:lnSpc>
                        <a:defRPr/>
                      </a:pPr>
                      <a:r>
                        <a:rPr lang="en-US" sz="4999">
                          <a:solidFill>
                            <a:srgbClr val="000000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juǎn</a:t>
                      </a:r>
                      <a:endParaRPr lang="en-US" sz="1100"/>
                    </a:p>
                  </a:txBody>
                  <a:tcPr marL="0" marR="0" marT="0" marB="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99"/>
                        </a:lnSpc>
                        <a:defRPr/>
                      </a:pPr>
                      <a:r>
                        <a:rPr lang="en-US" sz="4999">
                          <a:solidFill>
                            <a:srgbClr val="000000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pán</a:t>
                      </a:r>
                      <a:endParaRPr lang="en-US" sz="1100"/>
                    </a:p>
                  </a:txBody>
                  <a:tcPr marL="0" marR="0" marT="0" marB="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99"/>
                        </a:lnSpc>
                        <a:defRPr/>
                      </a:pPr>
                      <a:r>
                        <a:rPr lang="en-US" sz="4999">
                          <a:solidFill>
                            <a:srgbClr val="000000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xiǎo </a:t>
                      </a:r>
                      <a:endParaRPr lang="en-US" sz="1100"/>
                    </a:p>
                  </a:txBody>
                  <a:tcPr marL="0" marR="0" marT="0" marB="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20358">
                <a:tc>
                  <a:txBody>
                    <a:bodyPr/>
                    <a:lstStyle/>
                    <a:p>
                      <a:pPr algn="ctr">
                        <a:lnSpc>
                          <a:spcPts val="2499"/>
                        </a:lnSpc>
                        <a:defRPr/>
                      </a:pPr>
                      <a:r>
                        <a:rPr lang="en-US" sz="4999">
                          <a:solidFill>
                            <a:srgbClr val="000000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jué</a:t>
                      </a:r>
                      <a:endParaRPr lang="en-US" sz="1100"/>
                    </a:p>
                  </a:txBody>
                  <a:tcPr marL="0" marR="0" marT="0" marB="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99"/>
                        </a:lnSpc>
                        <a:defRPr/>
                      </a:pPr>
                      <a:r>
                        <a:rPr lang="en-US" sz="4999">
                          <a:solidFill>
                            <a:srgbClr val="000000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péng</a:t>
                      </a:r>
                      <a:endParaRPr lang="en-US" sz="1100"/>
                    </a:p>
                  </a:txBody>
                  <a:tcPr marL="0" marR="0" marT="0" marB="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99"/>
                        </a:lnSpc>
                        <a:defRPr/>
                      </a:pPr>
                      <a:r>
                        <a:rPr lang="en-US" sz="4999">
                          <a:solidFill>
                            <a:srgbClr val="000000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què </a:t>
                      </a:r>
                      <a:endParaRPr lang="en-US" sz="1100"/>
                    </a:p>
                  </a:txBody>
                  <a:tcPr marL="0" marR="0" marT="0" marB="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99"/>
                        </a:lnSpc>
                        <a:defRPr/>
                      </a:pPr>
                      <a:r>
                        <a:rPr lang="en-US" sz="4999">
                          <a:solidFill>
                            <a:srgbClr val="000000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jiǎng </a:t>
                      </a:r>
                      <a:endParaRPr lang="en-US" sz="1100"/>
                    </a:p>
                  </a:txBody>
                  <a:tcPr marL="0" marR="0" marT="0" marB="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99"/>
                        </a:lnSpc>
                        <a:defRPr/>
                      </a:pPr>
                      <a:r>
                        <a:rPr lang="en-US" sz="4999">
                          <a:solidFill>
                            <a:srgbClr val="000000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jìn</a:t>
                      </a:r>
                      <a:endParaRPr lang="en-US" sz="1100"/>
                    </a:p>
                  </a:txBody>
                  <a:tcPr marL="0" marR="0" marT="0" marB="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220358">
                <a:tc>
                  <a:txBody>
                    <a:bodyPr/>
                    <a:lstStyle/>
                    <a:p>
                      <a:pPr algn="ctr">
                        <a:lnSpc>
                          <a:spcPts val="2499"/>
                        </a:lnSpc>
                        <a:defRPr/>
                      </a:pPr>
                      <a:r>
                        <a:rPr lang="en-US" sz="4999">
                          <a:solidFill>
                            <a:srgbClr val="000000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hèn</a:t>
                      </a:r>
                      <a:endParaRPr lang="en-US" sz="1100"/>
                    </a:p>
                  </a:txBody>
                  <a:tcPr marL="0" marR="0" marT="0" marB="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99"/>
                        </a:lnSpc>
                        <a:defRPr/>
                      </a:pPr>
                      <a:r>
                        <a:rPr lang="en-US" sz="4999">
                          <a:solidFill>
                            <a:srgbClr val="000000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hóng </a:t>
                      </a:r>
                      <a:endParaRPr lang="en-US" sz="1100"/>
                    </a:p>
                  </a:txBody>
                  <a:tcPr marL="0" marR="0" marT="0" marB="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99"/>
                        </a:lnSpc>
                        <a:defRPr/>
                      </a:pPr>
                      <a:r>
                        <a:rPr lang="en-US" sz="4999">
                          <a:solidFill>
                            <a:srgbClr val="000000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mén </a:t>
                      </a:r>
                      <a:endParaRPr lang="en-US" sz="1100"/>
                    </a:p>
                  </a:txBody>
                  <a:tcPr marL="0" marR="0" marT="0" marB="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99"/>
                        </a:lnSpc>
                        <a:defRPr/>
                      </a:pPr>
                      <a:r>
                        <a:rPr lang="en-US" sz="4999">
                          <a:solidFill>
                            <a:srgbClr val="000000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lín</a:t>
                      </a:r>
                      <a:endParaRPr lang="en-US" sz="1100"/>
                    </a:p>
                  </a:txBody>
                  <a:tcPr marL="0" marR="0" marT="0" marB="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99"/>
                        </a:lnSpc>
                        <a:defRPr/>
                      </a:pPr>
                      <a:r>
                        <a:rPr lang="en-US" sz="4999">
                          <a:solidFill>
                            <a:srgbClr val="000000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liáng</a:t>
                      </a:r>
                      <a:endParaRPr lang="en-US" sz="1100"/>
                    </a:p>
                  </a:txBody>
                  <a:tcPr marL="0" marR="0" marT="0" marB="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220358">
                <a:tc>
                  <a:txBody>
                    <a:bodyPr/>
                    <a:lstStyle/>
                    <a:p>
                      <a:pPr algn="ctr">
                        <a:lnSpc>
                          <a:spcPts val="2499"/>
                        </a:lnSpc>
                        <a:defRPr/>
                      </a:pPr>
                      <a:r>
                        <a:rPr lang="en-US" sz="4999">
                          <a:solidFill>
                            <a:srgbClr val="000000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gāng</a:t>
                      </a:r>
                      <a:endParaRPr lang="en-US" sz="1100"/>
                    </a:p>
                  </a:txBody>
                  <a:tcPr marL="0" marR="0" marT="0" marB="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99"/>
                        </a:lnSpc>
                        <a:defRPr/>
                      </a:pPr>
                      <a:r>
                        <a:rPr lang="en-US" sz="4999">
                          <a:solidFill>
                            <a:srgbClr val="000000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xīng </a:t>
                      </a:r>
                      <a:endParaRPr lang="en-US" sz="1100"/>
                    </a:p>
                  </a:txBody>
                  <a:tcPr marL="0" marR="0" marT="0" marB="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99"/>
                        </a:lnSpc>
                        <a:defRPr/>
                      </a:pPr>
                      <a:r>
                        <a:rPr lang="en-US" sz="4999">
                          <a:solidFill>
                            <a:srgbClr val="000000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tán</a:t>
                      </a:r>
                      <a:endParaRPr lang="en-US" sz="1100"/>
                    </a:p>
                  </a:txBody>
                  <a:tcPr marL="0" marR="0" marT="0" marB="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99"/>
                        </a:lnSpc>
                        <a:defRPr/>
                      </a:pPr>
                      <a:r>
                        <a:rPr lang="en-US" sz="4999">
                          <a:solidFill>
                            <a:srgbClr val="000000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biàn </a:t>
                      </a:r>
                      <a:endParaRPr lang="en-US" sz="1100"/>
                    </a:p>
                  </a:txBody>
                  <a:tcPr marL="0" marR="0" marT="0" marB="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99"/>
                        </a:lnSpc>
                        <a:defRPr/>
                      </a:pPr>
                      <a:r>
                        <a:rPr lang="en-US" sz="4999">
                          <a:solidFill>
                            <a:srgbClr val="000000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xiù</a:t>
                      </a:r>
                      <a:endParaRPr lang="en-US" sz="1100"/>
                    </a:p>
                  </a:txBody>
                  <a:tcPr marL="0" marR="0" marT="0" marB="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220358">
                <a:tc>
                  <a:txBody>
                    <a:bodyPr/>
                    <a:lstStyle/>
                    <a:p>
                      <a:pPr algn="ctr">
                        <a:lnSpc>
                          <a:spcPts val="2499"/>
                        </a:lnSpc>
                        <a:defRPr/>
                      </a:pPr>
                      <a:r>
                        <a:rPr lang="en-US" sz="4999">
                          <a:solidFill>
                            <a:srgbClr val="000000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xiǎng</a:t>
                      </a:r>
                      <a:endParaRPr lang="en-US" sz="1100"/>
                    </a:p>
                  </a:txBody>
                  <a:tcPr marL="0" marR="0" marT="0" marB="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99"/>
                        </a:lnSpc>
                        <a:defRPr/>
                      </a:pPr>
                      <a:r>
                        <a:rPr lang="en-US" sz="4999">
                          <a:solidFill>
                            <a:srgbClr val="000000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lěng</a:t>
                      </a:r>
                      <a:endParaRPr lang="en-US" sz="1100"/>
                    </a:p>
                  </a:txBody>
                  <a:tcPr marL="0" marR="0" marT="0" marB="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99"/>
                        </a:lnSpc>
                        <a:defRPr/>
                      </a:pPr>
                      <a:r>
                        <a:rPr lang="en-US" sz="4999">
                          <a:solidFill>
                            <a:srgbClr val="000000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fèng </a:t>
                      </a:r>
                      <a:endParaRPr lang="en-US" sz="1100"/>
                    </a:p>
                  </a:txBody>
                  <a:tcPr marL="0" marR="0" marT="0" marB="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99"/>
                        </a:lnSpc>
                        <a:defRPr/>
                      </a:pPr>
                      <a:r>
                        <a:rPr lang="en-US" sz="4999">
                          <a:solidFill>
                            <a:srgbClr val="000000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héng</a:t>
                      </a:r>
                      <a:endParaRPr lang="en-US" sz="1100"/>
                    </a:p>
                  </a:txBody>
                  <a:tcPr marL="0" marR="0" marT="0" marB="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99"/>
                        </a:lnSpc>
                        <a:defRPr/>
                      </a:pPr>
                      <a:r>
                        <a:rPr lang="en-US" sz="4999">
                          <a:solidFill>
                            <a:srgbClr val="000000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téng</a:t>
                      </a:r>
                      <a:endParaRPr lang="en-US" sz="1100"/>
                    </a:p>
                  </a:txBody>
                  <a:tcPr marL="0" marR="0" marT="0" marB="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56513" y="262070"/>
            <a:ext cx="17799702" cy="9762861"/>
            <a:chOff x="0" y="0"/>
            <a:chExt cx="4687987" cy="257128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687987" cy="2571288"/>
            </a:xfrm>
            <a:custGeom>
              <a:avLst/>
              <a:gdLst/>
              <a:ahLst/>
              <a:cxnLst/>
              <a:rect l="l" t="t" r="r" b="b"/>
              <a:pathLst>
                <a:path w="4687987" h="2571288">
                  <a:moveTo>
                    <a:pt x="22182" y="0"/>
                  </a:moveTo>
                  <a:lnTo>
                    <a:pt x="4665805" y="0"/>
                  </a:lnTo>
                  <a:cubicBezTo>
                    <a:pt x="4671688" y="0"/>
                    <a:pt x="4677330" y="2337"/>
                    <a:pt x="4681491" y="6497"/>
                  </a:cubicBezTo>
                  <a:cubicBezTo>
                    <a:pt x="4685650" y="10657"/>
                    <a:pt x="4687987" y="16299"/>
                    <a:pt x="4687987" y="22182"/>
                  </a:cubicBezTo>
                  <a:lnTo>
                    <a:pt x="4687987" y="2549106"/>
                  </a:lnTo>
                  <a:cubicBezTo>
                    <a:pt x="4687987" y="2554989"/>
                    <a:pt x="4685650" y="2560631"/>
                    <a:pt x="4681491" y="2564791"/>
                  </a:cubicBezTo>
                  <a:cubicBezTo>
                    <a:pt x="4677330" y="2568951"/>
                    <a:pt x="4671688" y="2571288"/>
                    <a:pt x="4665805" y="2571288"/>
                  </a:cubicBezTo>
                  <a:lnTo>
                    <a:pt x="22182" y="2571288"/>
                  </a:lnTo>
                  <a:cubicBezTo>
                    <a:pt x="16299" y="2571288"/>
                    <a:pt x="10657" y="2568951"/>
                    <a:pt x="6497" y="2564791"/>
                  </a:cubicBezTo>
                  <a:cubicBezTo>
                    <a:pt x="2337" y="2560631"/>
                    <a:pt x="0" y="2554989"/>
                    <a:pt x="0" y="2549106"/>
                  </a:cubicBezTo>
                  <a:lnTo>
                    <a:pt x="0" y="22182"/>
                  </a:lnTo>
                  <a:cubicBezTo>
                    <a:pt x="0" y="16299"/>
                    <a:pt x="2337" y="10657"/>
                    <a:pt x="6497" y="6497"/>
                  </a:cubicBezTo>
                  <a:cubicBezTo>
                    <a:pt x="10657" y="2337"/>
                    <a:pt x="16299" y="0"/>
                    <a:pt x="22182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vi-V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687987" cy="26093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pic>
        <p:nvPicPr>
          <p:cNvPr id="6" name="Hình ảnh 5" descr="Ảnh có chứa văn bản, hình mẫu, phim hoạt hình&#10;&#10;Nội dung do AI tạo ra có thể không chính xác.">
            <a:extLst>
              <a:ext uri="{FF2B5EF4-FFF2-40B4-BE49-F238E27FC236}">
                <a16:creationId xmlns:a16="http://schemas.microsoft.com/office/drawing/2014/main" id="{1F4838CB-8294-45EF-657C-73A360309C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" y="643"/>
            <a:ext cx="18285714" cy="10285714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BA7BBA-FF51-7EE9-FC3A-554EE7988B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67403C05-09B7-4FE5-C6B7-4C8CBC285C5F}"/>
              </a:ext>
            </a:extLst>
          </p:cNvPr>
          <p:cNvGrpSpPr/>
          <p:nvPr/>
        </p:nvGrpSpPr>
        <p:grpSpPr>
          <a:xfrm>
            <a:off x="256513" y="262070"/>
            <a:ext cx="17799702" cy="9762861"/>
            <a:chOff x="0" y="0"/>
            <a:chExt cx="4687987" cy="2571288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432E9EF-636F-12DE-CC93-0376A21C7583}"/>
                </a:ext>
              </a:extLst>
            </p:cNvPr>
            <p:cNvSpPr/>
            <p:nvPr/>
          </p:nvSpPr>
          <p:spPr>
            <a:xfrm>
              <a:off x="0" y="0"/>
              <a:ext cx="4687987" cy="2571288"/>
            </a:xfrm>
            <a:custGeom>
              <a:avLst/>
              <a:gdLst/>
              <a:ahLst/>
              <a:cxnLst/>
              <a:rect l="l" t="t" r="r" b="b"/>
              <a:pathLst>
                <a:path w="4687987" h="2571288">
                  <a:moveTo>
                    <a:pt x="22182" y="0"/>
                  </a:moveTo>
                  <a:lnTo>
                    <a:pt x="4665805" y="0"/>
                  </a:lnTo>
                  <a:cubicBezTo>
                    <a:pt x="4671688" y="0"/>
                    <a:pt x="4677330" y="2337"/>
                    <a:pt x="4681491" y="6497"/>
                  </a:cubicBezTo>
                  <a:cubicBezTo>
                    <a:pt x="4685650" y="10657"/>
                    <a:pt x="4687987" y="16299"/>
                    <a:pt x="4687987" y="22182"/>
                  </a:cubicBezTo>
                  <a:lnTo>
                    <a:pt x="4687987" y="2549106"/>
                  </a:lnTo>
                  <a:cubicBezTo>
                    <a:pt x="4687987" y="2554989"/>
                    <a:pt x="4685650" y="2560631"/>
                    <a:pt x="4681491" y="2564791"/>
                  </a:cubicBezTo>
                  <a:cubicBezTo>
                    <a:pt x="4677330" y="2568951"/>
                    <a:pt x="4671688" y="2571288"/>
                    <a:pt x="4665805" y="2571288"/>
                  </a:cubicBezTo>
                  <a:lnTo>
                    <a:pt x="22182" y="2571288"/>
                  </a:lnTo>
                  <a:cubicBezTo>
                    <a:pt x="16299" y="2571288"/>
                    <a:pt x="10657" y="2568951"/>
                    <a:pt x="6497" y="2564791"/>
                  </a:cubicBezTo>
                  <a:cubicBezTo>
                    <a:pt x="2337" y="2560631"/>
                    <a:pt x="0" y="2554989"/>
                    <a:pt x="0" y="2549106"/>
                  </a:cubicBezTo>
                  <a:lnTo>
                    <a:pt x="0" y="22182"/>
                  </a:lnTo>
                  <a:cubicBezTo>
                    <a:pt x="0" y="16299"/>
                    <a:pt x="2337" y="10657"/>
                    <a:pt x="6497" y="6497"/>
                  </a:cubicBezTo>
                  <a:cubicBezTo>
                    <a:pt x="10657" y="2337"/>
                    <a:pt x="16299" y="0"/>
                    <a:pt x="22182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vi-VN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6F581A71-B349-F23B-8686-186ED9D6BF9C}"/>
                </a:ext>
              </a:extLst>
            </p:cNvPr>
            <p:cNvSpPr txBox="1"/>
            <p:nvPr/>
          </p:nvSpPr>
          <p:spPr>
            <a:xfrm>
              <a:off x="0" y="-38100"/>
              <a:ext cx="4687987" cy="26093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pic>
        <p:nvPicPr>
          <p:cNvPr id="6" name="Hình ảnh 5" descr="Ảnh có chứa văn bản, trang phục, phim hoạt hình, cậu bé&#10;&#10;Nội dung do AI tạo ra có thể không chính xác.">
            <a:extLst>
              <a:ext uri="{FF2B5EF4-FFF2-40B4-BE49-F238E27FC236}">
                <a16:creationId xmlns:a16="http://schemas.microsoft.com/office/drawing/2014/main" id="{1178626D-7D4B-68C9-81FC-E98D6DD408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" y="643"/>
            <a:ext cx="18285714" cy="10285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619155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ADBFA0-A175-75D0-A849-D619B34ED2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ED5CA2E3-CFC9-CA4F-9511-1AC426F9D12B}"/>
              </a:ext>
            </a:extLst>
          </p:cNvPr>
          <p:cNvGrpSpPr/>
          <p:nvPr/>
        </p:nvGrpSpPr>
        <p:grpSpPr>
          <a:xfrm>
            <a:off x="256513" y="262070"/>
            <a:ext cx="17799702" cy="9762861"/>
            <a:chOff x="0" y="0"/>
            <a:chExt cx="4687987" cy="2571288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BB2E9C5-92C3-7177-48D8-5D3A08EE4BC2}"/>
                </a:ext>
              </a:extLst>
            </p:cNvPr>
            <p:cNvSpPr/>
            <p:nvPr/>
          </p:nvSpPr>
          <p:spPr>
            <a:xfrm>
              <a:off x="0" y="0"/>
              <a:ext cx="4687987" cy="2571288"/>
            </a:xfrm>
            <a:custGeom>
              <a:avLst/>
              <a:gdLst/>
              <a:ahLst/>
              <a:cxnLst/>
              <a:rect l="l" t="t" r="r" b="b"/>
              <a:pathLst>
                <a:path w="4687987" h="2571288">
                  <a:moveTo>
                    <a:pt x="22182" y="0"/>
                  </a:moveTo>
                  <a:lnTo>
                    <a:pt x="4665805" y="0"/>
                  </a:lnTo>
                  <a:cubicBezTo>
                    <a:pt x="4671688" y="0"/>
                    <a:pt x="4677330" y="2337"/>
                    <a:pt x="4681491" y="6497"/>
                  </a:cubicBezTo>
                  <a:cubicBezTo>
                    <a:pt x="4685650" y="10657"/>
                    <a:pt x="4687987" y="16299"/>
                    <a:pt x="4687987" y="22182"/>
                  </a:cubicBezTo>
                  <a:lnTo>
                    <a:pt x="4687987" y="2549106"/>
                  </a:lnTo>
                  <a:cubicBezTo>
                    <a:pt x="4687987" y="2554989"/>
                    <a:pt x="4685650" y="2560631"/>
                    <a:pt x="4681491" y="2564791"/>
                  </a:cubicBezTo>
                  <a:cubicBezTo>
                    <a:pt x="4677330" y="2568951"/>
                    <a:pt x="4671688" y="2571288"/>
                    <a:pt x="4665805" y="2571288"/>
                  </a:cubicBezTo>
                  <a:lnTo>
                    <a:pt x="22182" y="2571288"/>
                  </a:lnTo>
                  <a:cubicBezTo>
                    <a:pt x="16299" y="2571288"/>
                    <a:pt x="10657" y="2568951"/>
                    <a:pt x="6497" y="2564791"/>
                  </a:cubicBezTo>
                  <a:cubicBezTo>
                    <a:pt x="2337" y="2560631"/>
                    <a:pt x="0" y="2554989"/>
                    <a:pt x="0" y="2549106"/>
                  </a:cubicBezTo>
                  <a:lnTo>
                    <a:pt x="0" y="22182"/>
                  </a:lnTo>
                  <a:cubicBezTo>
                    <a:pt x="0" y="16299"/>
                    <a:pt x="2337" y="10657"/>
                    <a:pt x="6497" y="6497"/>
                  </a:cubicBezTo>
                  <a:cubicBezTo>
                    <a:pt x="10657" y="2337"/>
                    <a:pt x="16299" y="0"/>
                    <a:pt x="22182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vi-VN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7E409939-F3C2-F919-33A8-23E72A98B87A}"/>
                </a:ext>
              </a:extLst>
            </p:cNvPr>
            <p:cNvSpPr txBox="1"/>
            <p:nvPr/>
          </p:nvSpPr>
          <p:spPr>
            <a:xfrm>
              <a:off x="0" y="-38100"/>
              <a:ext cx="4687987" cy="26093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pic>
        <p:nvPicPr>
          <p:cNvPr id="6" name="Hình ảnh 5" descr="Ảnh có chứa Mặt người, văn bản, trang phục, người&#10;&#10;Nội dung do AI tạo ra có thể không chính xác.">
            <a:extLst>
              <a:ext uri="{FF2B5EF4-FFF2-40B4-BE49-F238E27FC236}">
                <a16:creationId xmlns:a16="http://schemas.microsoft.com/office/drawing/2014/main" id="{A0AE330B-C045-A84F-C042-394A03CB97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" y="643"/>
            <a:ext cx="18285714" cy="10285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929904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56513" y="262070"/>
            <a:ext cx="17799702" cy="9762861"/>
            <a:chOff x="0" y="0"/>
            <a:chExt cx="4687987" cy="257128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687987" cy="2571288"/>
            </a:xfrm>
            <a:custGeom>
              <a:avLst/>
              <a:gdLst/>
              <a:ahLst/>
              <a:cxnLst/>
              <a:rect l="l" t="t" r="r" b="b"/>
              <a:pathLst>
                <a:path w="4687987" h="2571288">
                  <a:moveTo>
                    <a:pt x="22182" y="0"/>
                  </a:moveTo>
                  <a:lnTo>
                    <a:pt x="4665805" y="0"/>
                  </a:lnTo>
                  <a:cubicBezTo>
                    <a:pt x="4671688" y="0"/>
                    <a:pt x="4677330" y="2337"/>
                    <a:pt x="4681491" y="6497"/>
                  </a:cubicBezTo>
                  <a:cubicBezTo>
                    <a:pt x="4685650" y="10657"/>
                    <a:pt x="4687987" y="16299"/>
                    <a:pt x="4687987" y="22182"/>
                  </a:cubicBezTo>
                  <a:lnTo>
                    <a:pt x="4687987" y="2549106"/>
                  </a:lnTo>
                  <a:cubicBezTo>
                    <a:pt x="4687987" y="2554989"/>
                    <a:pt x="4685650" y="2560631"/>
                    <a:pt x="4681491" y="2564791"/>
                  </a:cubicBezTo>
                  <a:cubicBezTo>
                    <a:pt x="4677330" y="2568951"/>
                    <a:pt x="4671688" y="2571288"/>
                    <a:pt x="4665805" y="2571288"/>
                  </a:cubicBezTo>
                  <a:lnTo>
                    <a:pt x="22182" y="2571288"/>
                  </a:lnTo>
                  <a:cubicBezTo>
                    <a:pt x="16299" y="2571288"/>
                    <a:pt x="10657" y="2568951"/>
                    <a:pt x="6497" y="2564791"/>
                  </a:cubicBezTo>
                  <a:cubicBezTo>
                    <a:pt x="2337" y="2560631"/>
                    <a:pt x="0" y="2554989"/>
                    <a:pt x="0" y="2549106"/>
                  </a:cubicBezTo>
                  <a:lnTo>
                    <a:pt x="0" y="22182"/>
                  </a:lnTo>
                  <a:cubicBezTo>
                    <a:pt x="0" y="16299"/>
                    <a:pt x="2337" y="10657"/>
                    <a:pt x="6497" y="6497"/>
                  </a:cubicBezTo>
                  <a:cubicBezTo>
                    <a:pt x="10657" y="2337"/>
                    <a:pt x="16299" y="0"/>
                    <a:pt x="22182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vi-V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687987" cy="26093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pic>
        <p:nvPicPr>
          <p:cNvPr id="5" name="Picture 5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/>
          <a:stretch>
            <a:fillRect/>
          </a:stretch>
        </p:blipFill>
        <p:spPr>
          <a:xfrm>
            <a:off x="608937" y="2228044"/>
            <a:ext cx="6337851" cy="6337851"/>
          </a:xfrm>
          <a:prstGeom prst="rect">
            <a:avLst/>
          </a:prstGeom>
        </p:spPr>
      </p:pic>
      <p:sp>
        <p:nvSpPr>
          <p:cNvPr id="6" name="Freeform 6"/>
          <p:cNvSpPr/>
          <p:nvPr/>
        </p:nvSpPr>
        <p:spPr>
          <a:xfrm>
            <a:off x="11551321" y="763587"/>
            <a:ext cx="5880849" cy="8759825"/>
          </a:xfrm>
          <a:custGeom>
            <a:avLst/>
            <a:gdLst/>
            <a:ahLst/>
            <a:cxnLst/>
            <a:rect l="l" t="t" r="r" b="b"/>
            <a:pathLst>
              <a:path w="5880849" h="8759825">
                <a:moveTo>
                  <a:pt x="0" y="0"/>
                </a:moveTo>
                <a:lnTo>
                  <a:pt x="5880849" y="0"/>
                </a:lnTo>
                <a:lnTo>
                  <a:pt x="5880849" y="8759826"/>
                </a:lnTo>
                <a:lnTo>
                  <a:pt x="0" y="875982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4535" t="-1880" b="-4798"/>
            </a:stretch>
          </a:blipFill>
        </p:spPr>
        <p:txBody>
          <a:bodyPr/>
          <a:lstStyle/>
          <a:p>
            <a:endParaRPr lang="vi-VN"/>
          </a:p>
        </p:txBody>
      </p:sp>
      <p:sp>
        <p:nvSpPr>
          <p:cNvPr id="7" name="TextBox 7"/>
          <p:cNvSpPr txBox="1"/>
          <p:nvPr/>
        </p:nvSpPr>
        <p:spPr>
          <a:xfrm>
            <a:off x="1155572" y="365125"/>
            <a:ext cx="8293227" cy="11938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799"/>
              </a:lnSpc>
              <a:spcBef>
                <a:spcPct val="0"/>
              </a:spcBef>
            </a:pPr>
            <a:r>
              <a:rPr lang="en-US" sz="6999" b="1" dirty="0">
                <a:solidFill>
                  <a:srgbClr val="D86666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III. </a:t>
            </a:r>
            <a:r>
              <a:rPr lang="en-US" sz="6999" b="1" dirty="0" err="1">
                <a:solidFill>
                  <a:srgbClr val="D86666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Chữ</a:t>
            </a:r>
            <a:r>
              <a:rPr lang="en-US" sz="6999" b="1" dirty="0">
                <a:solidFill>
                  <a:srgbClr val="D86666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Hán （2）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590924" y="2194317"/>
            <a:ext cx="3960397" cy="1170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373"/>
              </a:lnSpc>
            </a:pPr>
            <a:r>
              <a:rPr lang="en-US" sz="6695" b="1" dirty="0" err="1">
                <a:solidFill>
                  <a:srgbClr val="C55354"/>
                </a:solidFill>
                <a:latin typeface="DejaVu Serif Bold"/>
                <a:ea typeface="DejaVu Serif Bold"/>
                <a:cs typeface="DejaVu Serif Bold"/>
                <a:sym typeface="DejaVu Serif Bold"/>
              </a:rPr>
              <a:t>Bộ</a:t>
            </a:r>
            <a:r>
              <a:rPr lang="en-US" sz="6695" b="1" dirty="0">
                <a:solidFill>
                  <a:srgbClr val="C55354"/>
                </a:solidFill>
                <a:latin typeface="DejaVu Serif Bold"/>
                <a:ea typeface="DejaVu Serif Bold"/>
                <a:cs typeface="DejaVu Serif Bold"/>
                <a:sym typeface="DejaVu Serif Bold"/>
              </a:rPr>
              <a:t> </a:t>
            </a:r>
            <a:r>
              <a:rPr lang="en-US" sz="6695" b="1" dirty="0" err="1">
                <a:solidFill>
                  <a:srgbClr val="C55354"/>
                </a:solidFill>
                <a:latin typeface="DejaVu Serif Bold"/>
                <a:ea typeface="DejaVu Serif Bold"/>
                <a:cs typeface="DejaVu Serif Bold"/>
                <a:sym typeface="DejaVu Serif Bold"/>
              </a:rPr>
              <a:t>thủ</a:t>
            </a:r>
            <a:endParaRPr lang="en-US" sz="6695" b="1" dirty="0">
              <a:solidFill>
                <a:srgbClr val="C55354"/>
              </a:solidFill>
              <a:latin typeface="DejaVu Serif Bold"/>
              <a:ea typeface="DejaVu Serif Bold"/>
              <a:cs typeface="DejaVu Serif Bold"/>
              <a:sym typeface="DejaVu Serif Bold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7425343" y="4050756"/>
            <a:ext cx="3647424" cy="33281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06"/>
              </a:lnSpc>
            </a:pPr>
            <a:r>
              <a:rPr lang="en-US" sz="4719">
                <a:solidFill>
                  <a:srgbClr val="004AAD"/>
                </a:solidFill>
                <a:latin typeface="Noto Sans"/>
                <a:ea typeface="Noto Sans"/>
                <a:cs typeface="Noto Sans"/>
                <a:sym typeface="Noto Sans"/>
              </a:rPr>
              <a:t>là một bộ phận để cấu tạo nên chữ Hán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400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0">
                <p:cTn id="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56513" y="262070"/>
            <a:ext cx="17799702" cy="9762861"/>
            <a:chOff x="0" y="0"/>
            <a:chExt cx="4687987" cy="257128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687987" cy="2571288"/>
            </a:xfrm>
            <a:custGeom>
              <a:avLst/>
              <a:gdLst/>
              <a:ahLst/>
              <a:cxnLst/>
              <a:rect l="l" t="t" r="r" b="b"/>
              <a:pathLst>
                <a:path w="4687987" h="2571288">
                  <a:moveTo>
                    <a:pt x="22182" y="0"/>
                  </a:moveTo>
                  <a:lnTo>
                    <a:pt x="4665805" y="0"/>
                  </a:lnTo>
                  <a:cubicBezTo>
                    <a:pt x="4671688" y="0"/>
                    <a:pt x="4677330" y="2337"/>
                    <a:pt x="4681491" y="6497"/>
                  </a:cubicBezTo>
                  <a:cubicBezTo>
                    <a:pt x="4685650" y="10657"/>
                    <a:pt x="4687987" y="16299"/>
                    <a:pt x="4687987" y="22182"/>
                  </a:cubicBezTo>
                  <a:lnTo>
                    <a:pt x="4687987" y="2549106"/>
                  </a:lnTo>
                  <a:cubicBezTo>
                    <a:pt x="4687987" y="2554989"/>
                    <a:pt x="4685650" y="2560631"/>
                    <a:pt x="4681491" y="2564791"/>
                  </a:cubicBezTo>
                  <a:cubicBezTo>
                    <a:pt x="4677330" y="2568951"/>
                    <a:pt x="4671688" y="2571288"/>
                    <a:pt x="4665805" y="2571288"/>
                  </a:cubicBezTo>
                  <a:lnTo>
                    <a:pt x="22182" y="2571288"/>
                  </a:lnTo>
                  <a:cubicBezTo>
                    <a:pt x="16299" y="2571288"/>
                    <a:pt x="10657" y="2568951"/>
                    <a:pt x="6497" y="2564791"/>
                  </a:cubicBezTo>
                  <a:cubicBezTo>
                    <a:pt x="2337" y="2560631"/>
                    <a:pt x="0" y="2554989"/>
                    <a:pt x="0" y="2549106"/>
                  </a:cubicBezTo>
                  <a:lnTo>
                    <a:pt x="0" y="22182"/>
                  </a:lnTo>
                  <a:cubicBezTo>
                    <a:pt x="0" y="16299"/>
                    <a:pt x="2337" y="10657"/>
                    <a:pt x="6497" y="6497"/>
                  </a:cubicBezTo>
                  <a:cubicBezTo>
                    <a:pt x="10657" y="2337"/>
                    <a:pt x="16299" y="0"/>
                    <a:pt x="22182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vi-V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687987" cy="26093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pic>
        <p:nvPicPr>
          <p:cNvPr id="5" name="Picture 5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/>
          <a:stretch>
            <a:fillRect/>
          </a:stretch>
        </p:blipFill>
        <p:spPr>
          <a:xfrm>
            <a:off x="635009" y="1558925"/>
            <a:ext cx="3131022" cy="3131022"/>
          </a:xfrm>
          <a:prstGeom prst="rect">
            <a:avLst/>
          </a:prstGeom>
        </p:spPr>
      </p:pic>
      <p:sp>
        <p:nvSpPr>
          <p:cNvPr id="6" name="Freeform 6"/>
          <p:cNvSpPr/>
          <p:nvPr/>
        </p:nvSpPr>
        <p:spPr>
          <a:xfrm>
            <a:off x="918117" y="4689947"/>
            <a:ext cx="2564805" cy="5334984"/>
          </a:xfrm>
          <a:custGeom>
            <a:avLst/>
            <a:gdLst/>
            <a:ahLst/>
            <a:cxnLst/>
            <a:rect l="l" t="t" r="r" b="b"/>
            <a:pathLst>
              <a:path w="2564805" h="5334984">
                <a:moveTo>
                  <a:pt x="0" y="0"/>
                </a:moveTo>
                <a:lnTo>
                  <a:pt x="2564805" y="0"/>
                </a:lnTo>
                <a:lnTo>
                  <a:pt x="2564805" y="5334983"/>
                </a:lnTo>
                <a:lnTo>
                  <a:pt x="0" y="533498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6333" t="-1880" r="-39644" b="-4798"/>
            </a:stretch>
          </a:blipFill>
        </p:spPr>
        <p:txBody>
          <a:bodyPr/>
          <a:lstStyle/>
          <a:p>
            <a:endParaRPr lang="vi-VN"/>
          </a:p>
        </p:txBody>
      </p:sp>
      <p:sp>
        <p:nvSpPr>
          <p:cNvPr id="7" name="Freeform 7"/>
          <p:cNvSpPr/>
          <p:nvPr/>
        </p:nvSpPr>
        <p:spPr>
          <a:xfrm>
            <a:off x="4079421" y="1558925"/>
            <a:ext cx="1546303" cy="8466005"/>
          </a:xfrm>
          <a:custGeom>
            <a:avLst/>
            <a:gdLst/>
            <a:ahLst/>
            <a:cxnLst/>
            <a:rect l="l" t="t" r="r" b="b"/>
            <a:pathLst>
              <a:path w="1546303" h="8466005">
                <a:moveTo>
                  <a:pt x="0" y="0"/>
                </a:moveTo>
                <a:lnTo>
                  <a:pt x="1546302" y="0"/>
                </a:lnTo>
                <a:lnTo>
                  <a:pt x="1546302" y="8466005"/>
                </a:lnTo>
                <a:lnTo>
                  <a:pt x="0" y="846600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284230" t="-1880" b="-4798"/>
            </a:stretch>
          </a:blipFill>
        </p:spPr>
        <p:txBody>
          <a:bodyPr/>
          <a:lstStyle/>
          <a:p>
            <a:endParaRPr lang="vi-VN"/>
          </a:p>
        </p:txBody>
      </p:sp>
      <p:sp>
        <p:nvSpPr>
          <p:cNvPr id="8" name="TextBox 8"/>
          <p:cNvSpPr txBox="1"/>
          <p:nvPr/>
        </p:nvSpPr>
        <p:spPr>
          <a:xfrm>
            <a:off x="6002872" y="5481340"/>
            <a:ext cx="12053344" cy="2089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       Khi ghép lại, hình ảnh người mẹ ôm con, hay người phụ nữ và đứa trẻ → biểu trưng cho sự tốt đẹp, hạnh phúc, êm ấm.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6213909" y="5557540"/>
            <a:ext cx="535743" cy="468775"/>
            <a:chOff x="0" y="0"/>
            <a:chExt cx="812800" cy="7112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C55354"/>
            </a:solidFill>
          </p:spPr>
          <p:txBody>
            <a:bodyPr/>
            <a:lstStyle/>
            <a:p>
              <a:endParaRPr lang="vi-VN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155572" y="365125"/>
            <a:ext cx="8293227" cy="11938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799"/>
              </a:lnSpc>
              <a:spcBef>
                <a:spcPct val="0"/>
              </a:spcBef>
            </a:pPr>
            <a:r>
              <a:rPr lang="en-US" sz="6999" b="1" dirty="0">
                <a:solidFill>
                  <a:srgbClr val="D86666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III. </a:t>
            </a:r>
            <a:r>
              <a:rPr lang="en-US" sz="6999" b="1" dirty="0" err="1">
                <a:solidFill>
                  <a:srgbClr val="D86666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Chữ</a:t>
            </a:r>
            <a:r>
              <a:rPr lang="en-US" sz="6999" b="1" dirty="0">
                <a:solidFill>
                  <a:srgbClr val="D86666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Hán （2）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749653" y="1801806"/>
            <a:ext cx="9912648" cy="762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99"/>
              </a:lnSpc>
              <a:spcBef>
                <a:spcPct val="0"/>
              </a:spcBef>
            </a:pPr>
            <a:r>
              <a:rPr lang="en-US" sz="4500" b="1">
                <a:solidFill>
                  <a:srgbClr val="C55354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好 (hǎo)</a:t>
            </a:r>
            <a:r>
              <a:rPr lang="en-US" sz="45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 nghĩa cơ bản là </a:t>
            </a:r>
            <a:r>
              <a:rPr lang="en-US" sz="4500">
                <a:solidFill>
                  <a:srgbClr val="C55354"/>
                </a:solidFill>
                <a:latin typeface="Noto Sans"/>
                <a:ea typeface="Noto Sans"/>
                <a:cs typeface="Noto Sans"/>
                <a:sym typeface="Noto Sans"/>
              </a:rPr>
              <a:t>tốt, hay, đẹp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625723" y="2800586"/>
            <a:ext cx="12023924" cy="20698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33362" lvl="1" indent="-466681" algn="l">
              <a:lnSpc>
                <a:spcPts val="8689"/>
              </a:lnSpc>
              <a:buFont typeface="Arial"/>
              <a:buChar char="•"/>
            </a:pPr>
            <a:r>
              <a:rPr lang="en-US" sz="4323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Bộ </a:t>
            </a:r>
            <a:r>
              <a:rPr lang="en-US" sz="4323" b="1">
                <a:solidFill>
                  <a:srgbClr val="C55354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女 (nǚ)</a:t>
            </a:r>
            <a:r>
              <a:rPr lang="en-US" sz="4323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: nghĩa là người phụ nữ, con gái. </a:t>
            </a:r>
          </a:p>
          <a:p>
            <a:pPr marL="933362" lvl="1" indent="-466681" algn="l">
              <a:lnSpc>
                <a:spcPts val="8689"/>
              </a:lnSpc>
              <a:buFont typeface="Arial"/>
              <a:buChar char="•"/>
            </a:pPr>
            <a:r>
              <a:rPr lang="en-US" sz="4323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Bộ </a:t>
            </a:r>
            <a:r>
              <a:rPr lang="en-US" sz="4323" b="1">
                <a:solidFill>
                  <a:srgbClr val="C55354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子 (zǐ)</a:t>
            </a:r>
            <a:r>
              <a:rPr lang="en-US" sz="4323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: nghĩa là con, đứa trẻ, con trai.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002872" y="7874000"/>
            <a:ext cx="11646776" cy="1384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      Một gia đình tốt đẹp là khi họ có cả con trai và con gái.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6225798" y="7950200"/>
            <a:ext cx="535743" cy="468775"/>
            <a:chOff x="0" y="0"/>
            <a:chExt cx="812800" cy="7112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C55354"/>
            </a:solidFill>
          </p:spPr>
          <p:txBody>
            <a:bodyPr/>
            <a:lstStyle/>
            <a:p>
              <a:endParaRPr lang="vi-VN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9" name="TextBox 8">
            <a:extLst>
              <a:ext uri="{FF2B5EF4-FFF2-40B4-BE49-F238E27FC236}">
                <a16:creationId xmlns:a16="http://schemas.microsoft.com/office/drawing/2014/main" id="{14BEE089-7523-57F5-7B55-034D5911EDDB}"/>
              </a:ext>
            </a:extLst>
          </p:cNvPr>
          <p:cNvSpPr txBox="1"/>
          <p:nvPr/>
        </p:nvSpPr>
        <p:spPr>
          <a:xfrm>
            <a:off x="10668000" y="329816"/>
            <a:ext cx="3960397" cy="1170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373"/>
              </a:lnSpc>
            </a:pPr>
            <a:r>
              <a:rPr lang="en-US" sz="6695" b="1" dirty="0" err="1">
                <a:solidFill>
                  <a:srgbClr val="C55354"/>
                </a:solidFill>
                <a:latin typeface="DejaVu Serif Bold"/>
                <a:ea typeface="DejaVu Serif Bold"/>
                <a:cs typeface="DejaVu Serif Bold"/>
                <a:sym typeface="DejaVu Serif Bold"/>
              </a:rPr>
              <a:t>Bộ</a:t>
            </a:r>
            <a:r>
              <a:rPr lang="en-US" sz="6695" b="1" dirty="0">
                <a:solidFill>
                  <a:srgbClr val="C55354"/>
                </a:solidFill>
                <a:latin typeface="DejaVu Serif Bold"/>
                <a:ea typeface="DejaVu Serif Bold"/>
                <a:cs typeface="DejaVu Serif Bold"/>
                <a:sym typeface="DejaVu Serif Bold"/>
              </a:rPr>
              <a:t> </a:t>
            </a:r>
            <a:r>
              <a:rPr lang="en-US" sz="6695" b="1" dirty="0" err="1">
                <a:solidFill>
                  <a:srgbClr val="C55354"/>
                </a:solidFill>
                <a:latin typeface="DejaVu Serif Bold"/>
                <a:ea typeface="DejaVu Serif Bold"/>
                <a:cs typeface="DejaVu Serif Bold"/>
                <a:sym typeface="DejaVu Serif Bold"/>
              </a:rPr>
              <a:t>thủ</a:t>
            </a:r>
            <a:endParaRPr lang="en-US" sz="6695" b="1" dirty="0">
              <a:solidFill>
                <a:srgbClr val="C55354"/>
              </a:solidFill>
              <a:latin typeface="DejaVu Serif Bold"/>
              <a:ea typeface="DejaVu Serif Bold"/>
              <a:cs typeface="DejaVu Serif Bold"/>
              <a:sym typeface="DejaVu Serif Bold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0">
                <p:cTn id="2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56513" y="262070"/>
            <a:ext cx="17799702" cy="9762861"/>
            <a:chOff x="0" y="0"/>
            <a:chExt cx="4687987" cy="257128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687987" cy="2571288"/>
            </a:xfrm>
            <a:custGeom>
              <a:avLst/>
              <a:gdLst/>
              <a:ahLst/>
              <a:cxnLst/>
              <a:rect l="l" t="t" r="r" b="b"/>
              <a:pathLst>
                <a:path w="4687987" h="2571288">
                  <a:moveTo>
                    <a:pt x="22182" y="0"/>
                  </a:moveTo>
                  <a:lnTo>
                    <a:pt x="4665805" y="0"/>
                  </a:lnTo>
                  <a:cubicBezTo>
                    <a:pt x="4671688" y="0"/>
                    <a:pt x="4677330" y="2337"/>
                    <a:pt x="4681491" y="6497"/>
                  </a:cubicBezTo>
                  <a:cubicBezTo>
                    <a:pt x="4685650" y="10657"/>
                    <a:pt x="4687987" y="16299"/>
                    <a:pt x="4687987" y="22182"/>
                  </a:cubicBezTo>
                  <a:lnTo>
                    <a:pt x="4687987" y="2549106"/>
                  </a:lnTo>
                  <a:cubicBezTo>
                    <a:pt x="4687987" y="2554989"/>
                    <a:pt x="4685650" y="2560631"/>
                    <a:pt x="4681491" y="2564791"/>
                  </a:cubicBezTo>
                  <a:cubicBezTo>
                    <a:pt x="4677330" y="2568951"/>
                    <a:pt x="4671688" y="2571288"/>
                    <a:pt x="4665805" y="2571288"/>
                  </a:cubicBezTo>
                  <a:lnTo>
                    <a:pt x="22182" y="2571288"/>
                  </a:lnTo>
                  <a:cubicBezTo>
                    <a:pt x="16299" y="2571288"/>
                    <a:pt x="10657" y="2568951"/>
                    <a:pt x="6497" y="2564791"/>
                  </a:cubicBezTo>
                  <a:cubicBezTo>
                    <a:pt x="2337" y="2560631"/>
                    <a:pt x="0" y="2554989"/>
                    <a:pt x="0" y="2549106"/>
                  </a:cubicBezTo>
                  <a:lnTo>
                    <a:pt x="0" y="22182"/>
                  </a:lnTo>
                  <a:cubicBezTo>
                    <a:pt x="0" y="16299"/>
                    <a:pt x="2337" y="10657"/>
                    <a:pt x="6497" y="6497"/>
                  </a:cubicBezTo>
                  <a:cubicBezTo>
                    <a:pt x="10657" y="2337"/>
                    <a:pt x="16299" y="0"/>
                    <a:pt x="22182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vi-V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687987" cy="26093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028700" y="1537818"/>
            <a:ext cx="15719596" cy="7211365"/>
          </a:xfrm>
          <a:custGeom>
            <a:avLst/>
            <a:gdLst/>
            <a:ahLst/>
            <a:cxnLst/>
            <a:rect l="l" t="t" r="r" b="b"/>
            <a:pathLst>
              <a:path w="15719596" h="7211365">
                <a:moveTo>
                  <a:pt x="0" y="0"/>
                </a:moveTo>
                <a:lnTo>
                  <a:pt x="15719596" y="0"/>
                </a:lnTo>
                <a:lnTo>
                  <a:pt x="15719596" y="7211364"/>
                </a:lnTo>
                <a:lnTo>
                  <a:pt x="0" y="72113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vi-VN"/>
          </a:p>
        </p:txBody>
      </p:sp>
      <p:sp>
        <p:nvSpPr>
          <p:cNvPr id="6" name="TextBox 6"/>
          <p:cNvSpPr txBox="1"/>
          <p:nvPr/>
        </p:nvSpPr>
        <p:spPr>
          <a:xfrm>
            <a:off x="2625984" y="2373361"/>
            <a:ext cx="13667752" cy="54059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735"/>
              </a:lnSpc>
              <a:spcBef>
                <a:spcPct val="0"/>
              </a:spcBef>
            </a:pPr>
            <a:r>
              <a:rPr lang="en-US" sz="7668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Bộ thủ cấu tạo nên chữ Hán nhưng không phải chữ Hán nào cũng đều có thể phân tích nghĩa theo bộ thủ</a:t>
            </a:r>
          </a:p>
        </p:txBody>
      </p:sp>
      <p:sp>
        <p:nvSpPr>
          <p:cNvPr id="7" name="Freeform 7"/>
          <p:cNvSpPr/>
          <p:nvPr/>
        </p:nvSpPr>
        <p:spPr>
          <a:xfrm>
            <a:off x="512304" y="468361"/>
            <a:ext cx="1589341" cy="2057400"/>
          </a:xfrm>
          <a:custGeom>
            <a:avLst/>
            <a:gdLst/>
            <a:ahLst/>
            <a:cxnLst/>
            <a:rect l="l" t="t" r="r" b="b"/>
            <a:pathLst>
              <a:path w="1589341" h="2057400">
                <a:moveTo>
                  <a:pt x="0" y="0"/>
                </a:moveTo>
                <a:lnTo>
                  <a:pt x="1589341" y="0"/>
                </a:lnTo>
                <a:lnTo>
                  <a:pt x="1589341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vi-VN"/>
          </a:p>
        </p:txBody>
      </p:sp>
      <p:sp>
        <p:nvSpPr>
          <p:cNvPr id="8" name="Freeform 8"/>
          <p:cNvSpPr/>
          <p:nvPr/>
        </p:nvSpPr>
        <p:spPr>
          <a:xfrm rot="6461006">
            <a:off x="15427547" y="7920355"/>
            <a:ext cx="2641499" cy="1700165"/>
          </a:xfrm>
          <a:custGeom>
            <a:avLst/>
            <a:gdLst/>
            <a:ahLst/>
            <a:cxnLst/>
            <a:rect l="l" t="t" r="r" b="b"/>
            <a:pathLst>
              <a:path w="2641499" h="1700165">
                <a:moveTo>
                  <a:pt x="0" y="0"/>
                </a:moveTo>
                <a:lnTo>
                  <a:pt x="2641499" y="0"/>
                </a:lnTo>
                <a:lnTo>
                  <a:pt x="2641499" y="1700165"/>
                </a:lnTo>
                <a:lnTo>
                  <a:pt x="0" y="170016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vi-VN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56513" y="262070"/>
            <a:ext cx="17799702" cy="9762861"/>
            <a:chOff x="0" y="0"/>
            <a:chExt cx="4687987" cy="257128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687987" cy="2571288"/>
            </a:xfrm>
            <a:custGeom>
              <a:avLst/>
              <a:gdLst/>
              <a:ahLst/>
              <a:cxnLst/>
              <a:rect l="l" t="t" r="r" b="b"/>
              <a:pathLst>
                <a:path w="4687987" h="2571288">
                  <a:moveTo>
                    <a:pt x="22182" y="0"/>
                  </a:moveTo>
                  <a:lnTo>
                    <a:pt x="4665805" y="0"/>
                  </a:lnTo>
                  <a:cubicBezTo>
                    <a:pt x="4671688" y="0"/>
                    <a:pt x="4677330" y="2337"/>
                    <a:pt x="4681491" y="6497"/>
                  </a:cubicBezTo>
                  <a:cubicBezTo>
                    <a:pt x="4685650" y="10657"/>
                    <a:pt x="4687987" y="16299"/>
                    <a:pt x="4687987" y="22182"/>
                  </a:cubicBezTo>
                  <a:lnTo>
                    <a:pt x="4687987" y="2549106"/>
                  </a:lnTo>
                  <a:cubicBezTo>
                    <a:pt x="4687987" y="2554989"/>
                    <a:pt x="4685650" y="2560631"/>
                    <a:pt x="4681491" y="2564791"/>
                  </a:cubicBezTo>
                  <a:cubicBezTo>
                    <a:pt x="4677330" y="2568951"/>
                    <a:pt x="4671688" y="2571288"/>
                    <a:pt x="4665805" y="2571288"/>
                  </a:cubicBezTo>
                  <a:lnTo>
                    <a:pt x="22182" y="2571288"/>
                  </a:lnTo>
                  <a:cubicBezTo>
                    <a:pt x="16299" y="2571288"/>
                    <a:pt x="10657" y="2568951"/>
                    <a:pt x="6497" y="2564791"/>
                  </a:cubicBezTo>
                  <a:cubicBezTo>
                    <a:pt x="2337" y="2560631"/>
                    <a:pt x="0" y="2554989"/>
                    <a:pt x="0" y="2549106"/>
                  </a:cubicBezTo>
                  <a:lnTo>
                    <a:pt x="0" y="22182"/>
                  </a:lnTo>
                  <a:cubicBezTo>
                    <a:pt x="0" y="16299"/>
                    <a:pt x="2337" y="10657"/>
                    <a:pt x="6497" y="6497"/>
                  </a:cubicBezTo>
                  <a:cubicBezTo>
                    <a:pt x="10657" y="2337"/>
                    <a:pt x="16299" y="0"/>
                    <a:pt x="22182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vi-V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687987" cy="26093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pic>
        <p:nvPicPr>
          <p:cNvPr id="5" name="Picture 5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/>
          <a:stretch>
            <a:fillRect/>
          </a:stretch>
        </p:blipFill>
        <p:spPr>
          <a:xfrm>
            <a:off x="2290692" y="1507197"/>
            <a:ext cx="4685122" cy="4685122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1155572" y="365125"/>
            <a:ext cx="8369427" cy="11938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799"/>
              </a:lnSpc>
              <a:spcBef>
                <a:spcPct val="0"/>
              </a:spcBef>
            </a:pPr>
            <a:r>
              <a:rPr lang="en-US" sz="6999" b="1" dirty="0">
                <a:solidFill>
                  <a:srgbClr val="D86666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III. </a:t>
            </a:r>
            <a:r>
              <a:rPr lang="en-US" sz="6999" b="1" dirty="0" err="1">
                <a:solidFill>
                  <a:srgbClr val="D86666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Chữ</a:t>
            </a:r>
            <a:r>
              <a:rPr lang="en-US" sz="6999" b="1" dirty="0">
                <a:solidFill>
                  <a:srgbClr val="D86666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Hán （3）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876473" y="1571287"/>
            <a:ext cx="3960397" cy="1170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373"/>
              </a:lnSpc>
            </a:pPr>
            <a:r>
              <a:rPr lang="en-US" sz="6695" b="1">
                <a:solidFill>
                  <a:srgbClr val="C55354"/>
                </a:solidFill>
                <a:latin typeface="DejaVu Serif Bold"/>
                <a:ea typeface="DejaVu Serif Bold"/>
                <a:cs typeface="DejaVu Serif Bold"/>
                <a:sym typeface="DejaVu Serif Bold"/>
              </a:rPr>
              <a:t>Lục thư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425343" y="2799076"/>
            <a:ext cx="10862657" cy="8135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06"/>
              </a:lnSpc>
            </a:pPr>
            <a:r>
              <a:rPr lang="en-US" sz="4719">
                <a:solidFill>
                  <a:srgbClr val="004AAD"/>
                </a:solidFill>
                <a:latin typeface="Noto Sans"/>
                <a:ea typeface="Noto Sans"/>
                <a:cs typeface="Noto Sans"/>
                <a:sym typeface="Noto Sans"/>
              </a:rPr>
              <a:t>Chữ Hán được hình thành từ 6 cách</a:t>
            </a:r>
          </a:p>
        </p:txBody>
      </p:sp>
      <p:grpSp>
        <p:nvGrpSpPr>
          <p:cNvPr id="15" name="Nhóm 14">
            <a:extLst>
              <a:ext uri="{FF2B5EF4-FFF2-40B4-BE49-F238E27FC236}">
                <a16:creationId xmlns:a16="http://schemas.microsoft.com/office/drawing/2014/main" id="{EE3935F3-B621-0E13-8F4A-4F783E8333A2}"/>
              </a:ext>
            </a:extLst>
          </p:cNvPr>
          <p:cNvGrpSpPr/>
          <p:nvPr/>
        </p:nvGrpSpPr>
        <p:grpSpPr>
          <a:xfrm>
            <a:off x="8265442" y="3390900"/>
            <a:ext cx="10501113" cy="6134359"/>
            <a:chOff x="-298176" y="1355726"/>
            <a:chExt cx="9958370" cy="9037902"/>
          </a:xfrm>
        </p:grpSpPr>
        <p:sp>
          <p:nvSpPr>
            <p:cNvPr id="9" name="TextBox 3">
              <a:extLst>
                <a:ext uri="{FF2B5EF4-FFF2-40B4-BE49-F238E27FC236}">
                  <a16:creationId xmlns:a16="http://schemas.microsoft.com/office/drawing/2014/main" id="{6655ABA3-201A-7852-10E9-82A1AD678171}"/>
                </a:ext>
              </a:extLst>
            </p:cNvPr>
            <p:cNvSpPr txBox="1"/>
            <p:nvPr/>
          </p:nvSpPr>
          <p:spPr>
            <a:xfrm>
              <a:off x="-298176" y="1355726"/>
              <a:ext cx="8999725" cy="1886373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1727205" lvl="1" indent="-863603" algn="l">
                <a:lnSpc>
                  <a:spcPts val="11200"/>
                </a:lnSpc>
                <a:spcBef>
                  <a:spcPct val="0"/>
                </a:spcBef>
                <a:buAutoNum type="arabicPeriod"/>
              </a:pPr>
              <a:r>
                <a:rPr lang="en-US" sz="6000" dirty="0">
                  <a:solidFill>
                    <a:srgbClr val="B63F3D"/>
                  </a:solidFill>
                  <a:latin typeface="+mj-lt"/>
                  <a:ea typeface="Cabin"/>
                  <a:cs typeface="Cabin"/>
                  <a:sym typeface="Cabin"/>
                </a:rPr>
                <a:t> </a:t>
              </a:r>
              <a:r>
                <a:rPr lang="en-US" sz="6000" dirty="0" err="1">
                  <a:solidFill>
                    <a:srgbClr val="B63F3D"/>
                  </a:solidFill>
                  <a:latin typeface="+mj-lt"/>
                  <a:ea typeface="Cabin"/>
                  <a:cs typeface="Cabin"/>
                  <a:sym typeface="Cabin"/>
                </a:rPr>
                <a:t>Chữ</a:t>
              </a:r>
              <a:r>
                <a:rPr lang="en-US" sz="6000" dirty="0">
                  <a:solidFill>
                    <a:srgbClr val="B63F3D"/>
                  </a:solidFill>
                  <a:latin typeface="+mj-lt"/>
                  <a:ea typeface="Cabin"/>
                  <a:cs typeface="Cabin"/>
                  <a:sym typeface="Cabin"/>
                </a:rPr>
                <a:t> </a:t>
              </a:r>
              <a:r>
                <a:rPr lang="en-US" sz="6000" dirty="0" err="1">
                  <a:solidFill>
                    <a:srgbClr val="B63F3D"/>
                  </a:solidFill>
                  <a:latin typeface="+mj-lt"/>
                  <a:ea typeface="Cabin"/>
                  <a:cs typeface="Cabin"/>
                  <a:sym typeface="Cabin"/>
                </a:rPr>
                <a:t>tượng</a:t>
              </a:r>
              <a:r>
                <a:rPr lang="en-US" sz="6000" dirty="0">
                  <a:solidFill>
                    <a:srgbClr val="B63F3D"/>
                  </a:solidFill>
                  <a:latin typeface="+mj-lt"/>
                  <a:ea typeface="Cabin"/>
                  <a:cs typeface="Cabin"/>
                  <a:sym typeface="Cabin"/>
                </a:rPr>
                <a:t> </a:t>
              </a:r>
              <a:r>
                <a:rPr lang="en-US" sz="6000" dirty="0" err="1">
                  <a:solidFill>
                    <a:srgbClr val="B63F3D"/>
                  </a:solidFill>
                  <a:latin typeface="+mj-lt"/>
                  <a:ea typeface="Cabin"/>
                  <a:cs typeface="Cabin"/>
                  <a:sym typeface="Cabin"/>
                </a:rPr>
                <a:t>hình</a:t>
              </a:r>
              <a:endParaRPr lang="en-US" sz="6000" dirty="0">
                <a:solidFill>
                  <a:srgbClr val="B63F3D"/>
                </a:solidFill>
                <a:latin typeface="+mj-lt"/>
                <a:ea typeface="Cabin"/>
                <a:cs typeface="Cabin"/>
                <a:sym typeface="Cabin"/>
              </a:endParaRPr>
            </a:p>
          </p:txBody>
        </p:sp>
        <p:sp>
          <p:nvSpPr>
            <p:cNvPr id="10" name="TextBox 4">
              <a:extLst>
                <a:ext uri="{FF2B5EF4-FFF2-40B4-BE49-F238E27FC236}">
                  <a16:creationId xmlns:a16="http://schemas.microsoft.com/office/drawing/2014/main" id="{D95EB874-03E4-DFE3-CABF-73184EA8A8B9}"/>
                </a:ext>
              </a:extLst>
            </p:cNvPr>
            <p:cNvSpPr txBox="1"/>
            <p:nvPr/>
          </p:nvSpPr>
          <p:spPr>
            <a:xfrm>
              <a:off x="516194" y="2786032"/>
              <a:ext cx="9144000" cy="188637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1200"/>
                </a:lnSpc>
                <a:spcBef>
                  <a:spcPct val="0"/>
                </a:spcBef>
              </a:pPr>
              <a:r>
                <a:rPr lang="en-US" sz="6000" dirty="0">
                  <a:solidFill>
                    <a:srgbClr val="B63F3D"/>
                  </a:solidFill>
                  <a:latin typeface="+mj-lt"/>
                  <a:ea typeface="Cabin"/>
                  <a:cs typeface="Cabin"/>
                  <a:sym typeface="Cabin"/>
                </a:rPr>
                <a:t>2.  </a:t>
              </a:r>
              <a:r>
                <a:rPr lang="en-US" sz="6000" dirty="0" err="1">
                  <a:solidFill>
                    <a:srgbClr val="B63F3D"/>
                  </a:solidFill>
                  <a:latin typeface="+mj-lt"/>
                  <a:ea typeface="Cabin"/>
                  <a:cs typeface="Cabin"/>
                  <a:sym typeface="Cabin"/>
                </a:rPr>
                <a:t>Chữ</a:t>
              </a:r>
              <a:r>
                <a:rPr lang="en-US" sz="6000" dirty="0">
                  <a:solidFill>
                    <a:srgbClr val="B63F3D"/>
                  </a:solidFill>
                  <a:latin typeface="+mj-lt"/>
                  <a:ea typeface="Cabin"/>
                  <a:cs typeface="Cabin"/>
                  <a:sym typeface="Cabin"/>
                </a:rPr>
                <a:t> </a:t>
              </a:r>
              <a:r>
                <a:rPr lang="en-US" sz="6000" dirty="0" err="1">
                  <a:solidFill>
                    <a:srgbClr val="B63F3D"/>
                  </a:solidFill>
                  <a:latin typeface="+mj-lt"/>
                  <a:ea typeface="Cabin"/>
                  <a:cs typeface="Cabin"/>
                  <a:sym typeface="Cabin"/>
                </a:rPr>
                <a:t>chỉ</a:t>
              </a:r>
              <a:r>
                <a:rPr lang="en-US" sz="6000" dirty="0">
                  <a:solidFill>
                    <a:srgbClr val="B63F3D"/>
                  </a:solidFill>
                  <a:latin typeface="+mj-lt"/>
                  <a:ea typeface="Cabin"/>
                  <a:cs typeface="Cabin"/>
                  <a:sym typeface="Cabin"/>
                </a:rPr>
                <a:t> </a:t>
              </a:r>
              <a:r>
                <a:rPr lang="en-US" sz="6000" dirty="0" err="1">
                  <a:solidFill>
                    <a:srgbClr val="B63F3D"/>
                  </a:solidFill>
                  <a:latin typeface="+mj-lt"/>
                  <a:ea typeface="Cabin"/>
                  <a:cs typeface="Cabin"/>
                  <a:sym typeface="Cabin"/>
                </a:rPr>
                <a:t>sự</a:t>
              </a:r>
              <a:endParaRPr lang="en-US" sz="6000" dirty="0">
                <a:solidFill>
                  <a:srgbClr val="B63F3D"/>
                </a:solidFill>
                <a:latin typeface="+mj-lt"/>
                <a:ea typeface="Cabin"/>
                <a:cs typeface="Cabin"/>
                <a:sym typeface="Cabin"/>
              </a:endParaRPr>
            </a:p>
          </p:txBody>
        </p:sp>
        <p:sp>
          <p:nvSpPr>
            <p:cNvPr id="11" name="TextBox 5">
              <a:extLst>
                <a:ext uri="{FF2B5EF4-FFF2-40B4-BE49-F238E27FC236}">
                  <a16:creationId xmlns:a16="http://schemas.microsoft.com/office/drawing/2014/main" id="{3585E8E7-47FD-FA2F-C97A-74A71C7C2627}"/>
                </a:ext>
              </a:extLst>
            </p:cNvPr>
            <p:cNvSpPr txBox="1"/>
            <p:nvPr/>
          </p:nvSpPr>
          <p:spPr>
            <a:xfrm>
              <a:off x="516194" y="4216339"/>
              <a:ext cx="9144000" cy="188637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1200"/>
                </a:lnSpc>
                <a:spcBef>
                  <a:spcPct val="0"/>
                </a:spcBef>
              </a:pPr>
              <a:r>
                <a:rPr lang="en-US" sz="6000" dirty="0">
                  <a:solidFill>
                    <a:srgbClr val="B63F3D"/>
                  </a:solidFill>
                  <a:latin typeface="+mj-lt"/>
                  <a:ea typeface="Cabin"/>
                  <a:cs typeface="Cabin"/>
                  <a:sym typeface="Cabin"/>
                </a:rPr>
                <a:t>3.   </a:t>
              </a:r>
              <a:r>
                <a:rPr lang="en-US" sz="6000" dirty="0" err="1">
                  <a:solidFill>
                    <a:srgbClr val="B63F3D"/>
                  </a:solidFill>
                  <a:latin typeface="+mj-lt"/>
                  <a:ea typeface="Cabin"/>
                  <a:cs typeface="Cabin"/>
                  <a:sym typeface="Cabin"/>
                </a:rPr>
                <a:t>Chữ</a:t>
              </a:r>
              <a:r>
                <a:rPr lang="en-US" sz="6000" dirty="0">
                  <a:solidFill>
                    <a:srgbClr val="B63F3D"/>
                  </a:solidFill>
                  <a:latin typeface="+mj-lt"/>
                  <a:ea typeface="Cabin"/>
                  <a:cs typeface="Cabin"/>
                  <a:sym typeface="Cabin"/>
                </a:rPr>
                <a:t> </a:t>
              </a:r>
              <a:r>
                <a:rPr lang="en-US" sz="6000" dirty="0" err="1">
                  <a:solidFill>
                    <a:srgbClr val="B63F3D"/>
                  </a:solidFill>
                  <a:latin typeface="+mj-lt"/>
                  <a:ea typeface="Cabin"/>
                  <a:cs typeface="Cabin"/>
                  <a:sym typeface="Cabin"/>
                </a:rPr>
                <a:t>hội</a:t>
              </a:r>
              <a:r>
                <a:rPr lang="en-US" sz="6000" dirty="0">
                  <a:solidFill>
                    <a:srgbClr val="B63F3D"/>
                  </a:solidFill>
                  <a:latin typeface="+mj-lt"/>
                  <a:ea typeface="Cabin"/>
                  <a:cs typeface="Cabin"/>
                  <a:sym typeface="Cabin"/>
                </a:rPr>
                <a:t> ý</a:t>
              </a:r>
            </a:p>
          </p:txBody>
        </p:sp>
        <p:sp>
          <p:nvSpPr>
            <p:cNvPr id="12" name="TextBox 6">
              <a:extLst>
                <a:ext uri="{FF2B5EF4-FFF2-40B4-BE49-F238E27FC236}">
                  <a16:creationId xmlns:a16="http://schemas.microsoft.com/office/drawing/2014/main" id="{2929B1E0-62F6-D5CE-1187-1C17A04D4AF0}"/>
                </a:ext>
              </a:extLst>
            </p:cNvPr>
            <p:cNvSpPr txBox="1"/>
            <p:nvPr/>
          </p:nvSpPr>
          <p:spPr>
            <a:xfrm>
              <a:off x="516194" y="5646645"/>
              <a:ext cx="9144000" cy="188637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1200"/>
                </a:lnSpc>
                <a:spcBef>
                  <a:spcPct val="0"/>
                </a:spcBef>
              </a:pPr>
              <a:r>
                <a:rPr lang="en-US" sz="6000">
                  <a:solidFill>
                    <a:srgbClr val="B63F3D"/>
                  </a:solidFill>
                  <a:latin typeface="+mj-lt"/>
                  <a:ea typeface="Cabin"/>
                  <a:cs typeface="Cabin"/>
                  <a:sym typeface="Cabin"/>
                </a:rPr>
                <a:t>4.   Chữ hình thanh</a:t>
              </a:r>
            </a:p>
          </p:txBody>
        </p:sp>
        <p:sp>
          <p:nvSpPr>
            <p:cNvPr id="13" name="TextBox 7">
              <a:extLst>
                <a:ext uri="{FF2B5EF4-FFF2-40B4-BE49-F238E27FC236}">
                  <a16:creationId xmlns:a16="http://schemas.microsoft.com/office/drawing/2014/main" id="{4E44CC4A-EE27-1981-23F9-9B0F2AF0119F}"/>
                </a:ext>
              </a:extLst>
            </p:cNvPr>
            <p:cNvSpPr txBox="1"/>
            <p:nvPr/>
          </p:nvSpPr>
          <p:spPr>
            <a:xfrm>
              <a:off x="516194" y="7076951"/>
              <a:ext cx="9144000" cy="188637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1200"/>
                </a:lnSpc>
                <a:spcBef>
                  <a:spcPct val="0"/>
                </a:spcBef>
              </a:pPr>
              <a:r>
                <a:rPr lang="en-US" sz="6000">
                  <a:solidFill>
                    <a:srgbClr val="000000"/>
                  </a:solidFill>
                  <a:latin typeface="+mj-lt"/>
                  <a:ea typeface="Cabin"/>
                  <a:cs typeface="Cabin"/>
                  <a:sym typeface="Cabin"/>
                </a:rPr>
                <a:t>5.   Chữ chuyển chú</a:t>
              </a:r>
            </a:p>
          </p:txBody>
        </p:sp>
        <p:sp>
          <p:nvSpPr>
            <p:cNvPr id="14" name="TextBox 8">
              <a:extLst>
                <a:ext uri="{FF2B5EF4-FFF2-40B4-BE49-F238E27FC236}">
                  <a16:creationId xmlns:a16="http://schemas.microsoft.com/office/drawing/2014/main" id="{E607BB87-1362-E703-852E-BAC93B5614F0}"/>
                </a:ext>
              </a:extLst>
            </p:cNvPr>
            <p:cNvSpPr txBox="1"/>
            <p:nvPr/>
          </p:nvSpPr>
          <p:spPr>
            <a:xfrm>
              <a:off x="516194" y="8507256"/>
              <a:ext cx="9144000" cy="188637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1200"/>
                </a:lnSpc>
                <a:spcBef>
                  <a:spcPct val="0"/>
                </a:spcBef>
              </a:pPr>
              <a:r>
                <a:rPr lang="en-US" sz="6000">
                  <a:solidFill>
                    <a:srgbClr val="000000"/>
                  </a:solidFill>
                  <a:latin typeface="+mj-lt"/>
                  <a:ea typeface="Cabin"/>
                  <a:cs typeface="Cabin"/>
                  <a:sym typeface="Cabin"/>
                </a:rPr>
                <a:t>6.   Chữ giả tá</a:t>
              </a:r>
            </a:p>
          </p:txBody>
        </p:sp>
      </p:grpSp>
      <p:pic>
        <p:nvPicPr>
          <p:cNvPr id="16" name="Hình ảnh 15">
            <a:extLst>
              <a:ext uri="{FF2B5EF4-FFF2-40B4-BE49-F238E27FC236}">
                <a16:creationId xmlns:a16="http://schemas.microsoft.com/office/drawing/2014/main" id="{7A126C9A-B2A6-8BFF-8A28-E9629A50319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3146"/>
          <a:stretch/>
        </p:blipFill>
        <p:spPr>
          <a:xfrm>
            <a:off x="1271363" y="6333831"/>
            <a:ext cx="6837983" cy="354958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400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0">
                <p:cTn id="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56513" y="117409"/>
            <a:ext cx="17799702" cy="9907522"/>
            <a:chOff x="0" y="-38100"/>
            <a:chExt cx="4687987" cy="260938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687987" cy="2571288"/>
            </a:xfrm>
            <a:custGeom>
              <a:avLst/>
              <a:gdLst/>
              <a:ahLst/>
              <a:cxnLst/>
              <a:rect l="l" t="t" r="r" b="b"/>
              <a:pathLst>
                <a:path w="4687987" h="2571288">
                  <a:moveTo>
                    <a:pt x="22182" y="0"/>
                  </a:moveTo>
                  <a:lnTo>
                    <a:pt x="4665805" y="0"/>
                  </a:lnTo>
                  <a:cubicBezTo>
                    <a:pt x="4671688" y="0"/>
                    <a:pt x="4677330" y="2337"/>
                    <a:pt x="4681491" y="6497"/>
                  </a:cubicBezTo>
                  <a:cubicBezTo>
                    <a:pt x="4685650" y="10657"/>
                    <a:pt x="4687987" y="16299"/>
                    <a:pt x="4687987" y="22182"/>
                  </a:cubicBezTo>
                  <a:lnTo>
                    <a:pt x="4687987" y="2549106"/>
                  </a:lnTo>
                  <a:cubicBezTo>
                    <a:pt x="4687987" y="2554989"/>
                    <a:pt x="4685650" y="2560631"/>
                    <a:pt x="4681491" y="2564791"/>
                  </a:cubicBezTo>
                  <a:cubicBezTo>
                    <a:pt x="4677330" y="2568951"/>
                    <a:pt x="4671688" y="2571288"/>
                    <a:pt x="4665805" y="2571288"/>
                  </a:cubicBezTo>
                  <a:lnTo>
                    <a:pt x="22182" y="2571288"/>
                  </a:lnTo>
                  <a:cubicBezTo>
                    <a:pt x="16299" y="2571288"/>
                    <a:pt x="10657" y="2568951"/>
                    <a:pt x="6497" y="2564791"/>
                  </a:cubicBezTo>
                  <a:cubicBezTo>
                    <a:pt x="2337" y="2560631"/>
                    <a:pt x="0" y="2554989"/>
                    <a:pt x="0" y="2549106"/>
                  </a:cubicBezTo>
                  <a:lnTo>
                    <a:pt x="0" y="22182"/>
                  </a:lnTo>
                  <a:cubicBezTo>
                    <a:pt x="0" y="16299"/>
                    <a:pt x="2337" y="10657"/>
                    <a:pt x="6497" y="6497"/>
                  </a:cubicBezTo>
                  <a:cubicBezTo>
                    <a:pt x="10657" y="2337"/>
                    <a:pt x="16299" y="0"/>
                    <a:pt x="22182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vi-V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687987" cy="26093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TextBox 3">
            <a:extLst>
              <a:ext uri="{FF2B5EF4-FFF2-40B4-BE49-F238E27FC236}">
                <a16:creationId xmlns:a16="http://schemas.microsoft.com/office/drawing/2014/main" id="{E85D4AF7-A182-74A5-F364-A768A1AF5D8F}"/>
              </a:ext>
            </a:extLst>
          </p:cNvPr>
          <p:cNvSpPr txBox="1"/>
          <p:nvPr/>
        </p:nvSpPr>
        <p:spPr>
          <a:xfrm>
            <a:off x="-190885" y="206375"/>
            <a:ext cx="9144000" cy="13779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727205" lvl="1" indent="-863603" algn="ctr">
              <a:lnSpc>
                <a:spcPts val="11200"/>
              </a:lnSpc>
              <a:spcBef>
                <a:spcPct val="0"/>
              </a:spcBef>
              <a:buAutoNum type="arabicPeriod"/>
            </a:pPr>
            <a:r>
              <a:rPr lang="en-US" sz="8000" dirty="0">
                <a:solidFill>
                  <a:srgbClr val="B63F3D"/>
                </a:solidFill>
                <a:ea typeface="Cabin"/>
                <a:cs typeface="Cabin"/>
                <a:sym typeface="Cabin"/>
              </a:rPr>
              <a:t> </a:t>
            </a:r>
            <a:r>
              <a:rPr lang="en-US" sz="8000" dirty="0" err="1">
                <a:solidFill>
                  <a:srgbClr val="B63F3D"/>
                </a:solidFill>
                <a:ea typeface="Cabin"/>
                <a:cs typeface="Cabin"/>
                <a:sym typeface="Cabin"/>
              </a:rPr>
              <a:t>Chữ</a:t>
            </a:r>
            <a:r>
              <a:rPr lang="en-US" sz="8000" dirty="0">
                <a:solidFill>
                  <a:srgbClr val="B63F3D"/>
                </a:solidFill>
                <a:ea typeface="Cabin"/>
                <a:cs typeface="Cabin"/>
                <a:sym typeface="Cabin"/>
              </a:rPr>
              <a:t> </a:t>
            </a:r>
            <a:r>
              <a:rPr lang="en-US" sz="8000" dirty="0" err="1">
                <a:solidFill>
                  <a:srgbClr val="B63F3D"/>
                </a:solidFill>
                <a:ea typeface="Cabin"/>
                <a:cs typeface="Cabin"/>
                <a:sym typeface="Cabin"/>
              </a:rPr>
              <a:t>tượng</a:t>
            </a:r>
            <a:r>
              <a:rPr lang="en-US" sz="8000" dirty="0">
                <a:solidFill>
                  <a:srgbClr val="B63F3D"/>
                </a:solidFill>
                <a:ea typeface="Cabin"/>
                <a:cs typeface="Cabin"/>
                <a:sym typeface="Cabin"/>
              </a:rPr>
              <a:t> </a:t>
            </a:r>
            <a:r>
              <a:rPr lang="en-US" sz="8000" dirty="0" err="1">
                <a:solidFill>
                  <a:srgbClr val="B63F3D"/>
                </a:solidFill>
                <a:ea typeface="Cabin"/>
                <a:cs typeface="Cabin"/>
                <a:sym typeface="Cabin"/>
              </a:rPr>
              <a:t>hình</a:t>
            </a:r>
            <a:endParaRPr lang="en-US" sz="8000" dirty="0">
              <a:solidFill>
                <a:srgbClr val="B63F3D"/>
              </a:solidFill>
              <a:ea typeface="Cabin"/>
              <a:cs typeface="Cabin"/>
              <a:sym typeface="Cabin"/>
            </a:endParaRPr>
          </a:p>
        </p:txBody>
      </p:sp>
      <p:sp>
        <p:nvSpPr>
          <p:cNvPr id="6" name="TextBox 4">
            <a:extLst>
              <a:ext uri="{FF2B5EF4-FFF2-40B4-BE49-F238E27FC236}">
                <a16:creationId xmlns:a16="http://schemas.microsoft.com/office/drawing/2014/main" id="{617A92AC-2264-ABC5-2BA1-362C55800D8B}"/>
              </a:ext>
            </a:extLst>
          </p:cNvPr>
          <p:cNvSpPr txBox="1"/>
          <p:nvPr/>
        </p:nvSpPr>
        <p:spPr>
          <a:xfrm>
            <a:off x="1560944" y="1536973"/>
            <a:ext cx="15190839" cy="1739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00"/>
              </a:lnSpc>
              <a:spcBef>
                <a:spcPct val="0"/>
              </a:spcBef>
            </a:pPr>
            <a:r>
              <a:rPr lang="en-US" sz="5000" dirty="0" err="1">
                <a:solidFill>
                  <a:srgbClr val="000000"/>
                </a:solidFill>
                <a:ea typeface="Cabin"/>
                <a:cs typeface="Cabin"/>
                <a:sym typeface="Cabin"/>
              </a:rPr>
              <a:t>Chữ</a:t>
            </a:r>
            <a:r>
              <a:rPr lang="en-US" sz="5000" dirty="0">
                <a:solidFill>
                  <a:srgbClr val="000000"/>
                </a:solidFill>
                <a:ea typeface="Cabin"/>
                <a:cs typeface="Cabin"/>
                <a:sym typeface="Cabin"/>
              </a:rPr>
              <a:t> </a:t>
            </a:r>
            <a:r>
              <a:rPr lang="en-US" sz="5000" dirty="0" err="1">
                <a:solidFill>
                  <a:srgbClr val="000000"/>
                </a:solidFill>
                <a:ea typeface="Cabin"/>
                <a:cs typeface="Cabin"/>
                <a:sym typeface="Cabin"/>
              </a:rPr>
              <a:t>mô</a:t>
            </a:r>
            <a:r>
              <a:rPr lang="en-US" sz="5000" dirty="0">
                <a:solidFill>
                  <a:srgbClr val="000000"/>
                </a:solidFill>
                <a:ea typeface="Cabin"/>
                <a:cs typeface="Cabin"/>
                <a:sym typeface="Cabin"/>
              </a:rPr>
              <a:t> </a:t>
            </a:r>
            <a:r>
              <a:rPr lang="en-US" sz="5000" dirty="0" err="1">
                <a:solidFill>
                  <a:srgbClr val="000000"/>
                </a:solidFill>
                <a:ea typeface="Cabin"/>
                <a:cs typeface="Cabin"/>
                <a:sym typeface="Cabin"/>
              </a:rPr>
              <a:t>phỏng</a:t>
            </a:r>
            <a:r>
              <a:rPr lang="en-US" sz="5000" dirty="0">
                <a:solidFill>
                  <a:srgbClr val="000000"/>
                </a:solidFill>
                <a:ea typeface="Cabin"/>
                <a:cs typeface="Cabin"/>
                <a:sym typeface="Cabin"/>
              </a:rPr>
              <a:t> </a:t>
            </a:r>
            <a:r>
              <a:rPr lang="en-US" sz="5000" dirty="0" err="1">
                <a:solidFill>
                  <a:srgbClr val="000000"/>
                </a:solidFill>
                <a:ea typeface="Cabin"/>
                <a:cs typeface="Cabin"/>
                <a:sym typeface="Cabin"/>
              </a:rPr>
              <a:t>hình</a:t>
            </a:r>
            <a:r>
              <a:rPr lang="en-US" sz="5000" dirty="0">
                <a:solidFill>
                  <a:srgbClr val="000000"/>
                </a:solidFill>
                <a:ea typeface="Cabin"/>
                <a:cs typeface="Cabin"/>
                <a:sym typeface="Cabin"/>
              </a:rPr>
              <a:t> </a:t>
            </a:r>
            <a:r>
              <a:rPr lang="en-US" sz="5000" dirty="0" err="1">
                <a:solidFill>
                  <a:srgbClr val="000000"/>
                </a:solidFill>
                <a:ea typeface="Cabin"/>
                <a:cs typeface="Cabin"/>
                <a:sym typeface="Cabin"/>
              </a:rPr>
              <a:t>dạng</a:t>
            </a:r>
            <a:r>
              <a:rPr lang="en-US" sz="5000" dirty="0">
                <a:solidFill>
                  <a:srgbClr val="000000"/>
                </a:solidFill>
                <a:ea typeface="Cabin"/>
                <a:cs typeface="Cabin"/>
                <a:sym typeface="Cabin"/>
              </a:rPr>
              <a:t> </a:t>
            </a:r>
            <a:r>
              <a:rPr lang="en-US" sz="5000" dirty="0" err="1">
                <a:solidFill>
                  <a:srgbClr val="000000"/>
                </a:solidFill>
                <a:ea typeface="Cabin"/>
                <a:cs typeface="Cabin"/>
                <a:sym typeface="Cabin"/>
              </a:rPr>
              <a:t>của</a:t>
            </a:r>
            <a:r>
              <a:rPr lang="en-US" sz="5000" dirty="0">
                <a:solidFill>
                  <a:srgbClr val="000000"/>
                </a:solidFill>
                <a:ea typeface="Cabin"/>
                <a:cs typeface="Cabin"/>
                <a:sym typeface="Cabin"/>
              </a:rPr>
              <a:t> </a:t>
            </a:r>
            <a:r>
              <a:rPr lang="en-US" sz="5000" dirty="0" err="1">
                <a:solidFill>
                  <a:srgbClr val="000000"/>
                </a:solidFill>
                <a:ea typeface="Cabin"/>
                <a:cs typeface="Cabin"/>
                <a:sym typeface="Cabin"/>
              </a:rPr>
              <a:t>vật</a:t>
            </a:r>
            <a:r>
              <a:rPr lang="en-US" sz="5000" dirty="0">
                <a:solidFill>
                  <a:srgbClr val="000000"/>
                </a:solidFill>
                <a:ea typeface="Cabin"/>
                <a:cs typeface="Cabin"/>
                <a:sym typeface="Cabin"/>
              </a:rPr>
              <a:t> </a:t>
            </a:r>
            <a:r>
              <a:rPr lang="en-US" sz="5000" dirty="0" err="1">
                <a:solidFill>
                  <a:srgbClr val="000000"/>
                </a:solidFill>
                <a:ea typeface="Cabin"/>
                <a:cs typeface="Cabin"/>
                <a:sym typeface="Cabin"/>
              </a:rPr>
              <a:t>thể</a:t>
            </a:r>
            <a:r>
              <a:rPr lang="en-US" sz="5000" dirty="0">
                <a:solidFill>
                  <a:srgbClr val="000000"/>
                </a:solidFill>
                <a:ea typeface="Cabin"/>
                <a:cs typeface="Cabin"/>
                <a:sym typeface="Cabin"/>
              </a:rPr>
              <a:t> </a:t>
            </a:r>
            <a:r>
              <a:rPr lang="en-US" sz="5000" dirty="0" err="1">
                <a:solidFill>
                  <a:srgbClr val="000000"/>
                </a:solidFill>
                <a:ea typeface="Cabin"/>
                <a:cs typeface="Cabin"/>
                <a:sym typeface="Cabin"/>
              </a:rPr>
              <a:t>trong</a:t>
            </a:r>
            <a:r>
              <a:rPr lang="en-US" sz="5000" dirty="0">
                <a:solidFill>
                  <a:srgbClr val="000000"/>
                </a:solidFill>
                <a:ea typeface="Cabin"/>
                <a:cs typeface="Cabin"/>
                <a:sym typeface="Cabin"/>
              </a:rPr>
              <a:t> </a:t>
            </a:r>
            <a:r>
              <a:rPr lang="en-US" sz="5000" dirty="0" err="1">
                <a:solidFill>
                  <a:srgbClr val="000000"/>
                </a:solidFill>
                <a:ea typeface="Cabin"/>
                <a:cs typeface="Cabin"/>
                <a:sym typeface="Cabin"/>
              </a:rPr>
              <a:t>thực</a:t>
            </a:r>
            <a:r>
              <a:rPr lang="en-US" sz="5000" dirty="0">
                <a:solidFill>
                  <a:srgbClr val="000000"/>
                </a:solidFill>
                <a:ea typeface="Cabin"/>
                <a:cs typeface="Cabin"/>
                <a:sym typeface="Cabin"/>
              </a:rPr>
              <a:t> </a:t>
            </a:r>
            <a:r>
              <a:rPr lang="en-US" sz="5000" dirty="0" err="1">
                <a:solidFill>
                  <a:srgbClr val="000000"/>
                </a:solidFill>
                <a:ea typeface="Cabin"/>
                <a:cs typeface="Cabin"/>
                <a:sym typeface="Cabin"/>
              </a:rPr>
              <a:t>tế</a:t>
            </a:r>
            <a:r>
              <a:rPr lang="en-US" sz="5000" dirty="0">
                <a:solidFill>
                  <a:srgbClr val="000000"/>
                </a:solidFill>
                <a:ea typeface="Cabin"/>
                <a:cs typeface="Cabin"/>
                <a:sym typeface="Cabin"/>
              </a:rPr>
              <a:t>. </a:t>
            </a:r>
            <a:r>
              <a:rPr lang="en-US" sz="5000" dirty="0" err="1">
                <a:solidFill>
                  <a:srgbClr val="000000"/>
                </a:solidFill>
                <a:ea typeface="Cabin"/>
                <a:cs typeface="Cabin"/>
                <a:sym typeface="Cabin"/>
              </a:rPr>
              <a:t>Đây</a:t>
            </a:r>
            <a:r>
              <a:rPr lang="en-US" sz="5000" dirty="0">
                <a:solidFill>
                  <a:srgbClr val="000000"/>
                </a:solidFill>
                <a:ea typeface="Cabin"/>
                <a:cs typeface="Cabin"/>
                <a:sym typeface="Cabin"/>
              </a:rPr>
              <a:t> </a:t>
            </a:r>
            <a:r>
              <a:rPr lang="en-US" sz="5000" dirty="0" err="1">
                <a:solidFill>
                  <a:srgbClr val="000000"/>
                </a:solidFill>
                <a:ea typeface="Cabin"/>
                <a:cs typeface="Cabin"/>
                <a:sym typeface="Cabin"/>
              </a:rPr>
              <a:t>là</a:t>
            </a:r>
            <a:r>
              <a:rPr lang="en-US" sz="5000" dirty="0">
                <a:solidFill>
                  <a:srgbClr val="000000"/>
                </a:solidFill>
                <a:ea typeface="Cabin"/>
                <a:cs typeface="Cabin"/>
                <a:sym typeface="Cabin"/>
              </a:rPr>
              <a:t> </a:t>
            </a:r>
            <a:r>
              <a:rPr lang="en-US" sz="5000" dirty="0" err="1">
                <a:solidFill>
                  <a:srgbClr val="000000"/>
                </a:solidFill>
                <a:ea typeface="Cabin"/>
                <a:cs typeface="Cabin"/>
                <a:sym typeface="Cabin"/>
              </a:rPr>
              <a:t>những</a:t>
            </a:r>
            <a:r>
              <a:rPr lang="en-US" sz="5000" dirty="0">
                <a:solidFill>
                  <a:srgbClr val="000000"/>
                </a:solidFill>
                <a:ea typeface="Cabin"/>
                <a:cs typeface="Cabin"/>
                <a:sym typeface="Cabin"/>
              </a:rPr>
              <a:t> </a:t>
            </a:r>
            <a:r>
              <a:rPr lang="en-US" sz="5000" dirty="0" err="1">
                <a:solidFill>
                  <a:srgbClr val="000000"/>
                </a:solidFill>
                <a:ea typeface="Cabin"/>
                <a:cs typeface="Cabin"/>
                <a:sym typeface="Cabin"/>
              </a:rPr>
              <a:t>chữ</a:t>
            </a:r>
            <a:r>
              <a:rPr lang="en-US" sz="5000" dirty="0">
                <a:solidFill>
                  <a:srgbClr val="000000"/>
                </a:solidFill>
                <a:ea typeface="Cabin"/>
                <a:cs typeface="Cabin"/>
                <a:sym typeface="Cabin"/>
              </a:rPr>
              <a:t> </a:t>
            </a:r>
            <a:r>
              <a:rPr lang="en-US" sz="5000" dirty="0" err="1">
                <a:solidFill>
                  <a:srgbClr val="000000"/>
                </a:solidFill>
                <a:ea typeface="Cabin"/>
                <a:cs typeface="Cabin"/>
                <a:sym typeface="Cabin"/>
              </a:rPr>
              <a:t>nguyên</a:t>
            </a:r>
            <a:r>
              <a:rPr lang="en-US" sz="5000" dirty="0">
                <a:solidFill>
                  <a:srgbClr val="000000"/>
                </a:solidFill>
                <a:ea typeface="Cabin"/>
                <a:cs typeface="Cabin"/>
                <a:sym typeface="Cabin"/>
              </a:rPr>
              <a:t> </a:t>
            </a:r>
            <a:r>
              <a:rPr lang="en-US" sz="5000" dirty="0" err="1">
                <a:solidFill>
                  <a:srgbClr val="000000"/>
                </a:solidFill>
                <a:ea typeface="Cabin"/>
                <a:cs typeface="Cabin"/>
                <a:sym typeface="Cabin"/>
              </a:rPr>
              <a:t>thủy</a:t>
            </a:r>
            <a:r>
              <a:rPr lang="en-US" sz="5000" dirty="0">
                <a:solidFill>
                  <a:srgbClr val="000000"/>
                </a:solidFill>
                <a:ea typeface="Cabin"/>
                <a:cs typeface="Cabin"/>
                <a:sym typeface="Cabin"/>
              </a:rPr>
              <a:t> </a:t>
            </a:r>
            <a:r>
              <a:rPr lang="en-US" sz="5000" dirty="0" err="1">
                <a:solidFill>
                  <a:srgbClr val="000000"/>
                </a:solidFill>
                <a:ea typeface="Cabin"/>
                <a:cs typeface="Cabin"/>
                <a:sym typeface="Cabin"/>
              </a:rPr>
              <a:t>của</a:t>
            </a:r>
            <a:r>
              <a:rPr lang="en-US" sz="5000" dirty="0">
                <a:solidFill>
                  <a:srgbClr val="000000"/>
                </a:solidFill>
                <a:ea typeface="Cabin"/>
                <a:cs typeface="Cabin"/>
                <a:sym typeface="Cabin"/>
              </a:rPr>
              <a:t> Hán </a:t>
            </a:r>
            <a:r>
              <a:rPr lang="en-US" sz="5000" dirty="0" err="1">
                <a:solidFill>
                  <a:srgbClr val="000000"/>
                </a:solidFill>
                <a:ea typeface="Cabin"/>
                <a:cs typeface="Cabin"/>
                <a:sym typeface="Cabin"/>
              </a:rPr>
              <a:t>tự</a:t>
            </a:r>
            <a:r>
              <a:rPr lang="en-US" sz="5000" dirty="0">
                <a:solidFill>
                  <a:srgbClr val="000000"/>
                </a:solidFill>
                <a:ea typeface="Cabin"/>
                <a:cs typeface="Cabin"/>
                <a:sym typeface="Cabin"/>
              </a:rPr>
              <a:t>.</a:t>
            </a:r>
          </a:p>
        </p:txBody>
      </p:sp>
      <p:pic>
        <p:nvPicPr>
          <p:cNvPr id="7" name="Hình ảnh 6" descr="Ảnh có chứa văn bản, Phông chữ, đen và trắng, màu trắng&#10;&#10;Nội dung do AI tạo ra có thể không chính xác.">
            <a:extLst>
              <a:ext uri="{FF2B5EF4-FFF2-40B4-BE49-F238E27FC236}">
                <a16:creationId xmlns:a16="http://schemas.microsoft.com/office/drawing/2014/main" id="{1DEBFF76-8A1A-1904-1245-032A4BFD1B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302" b="14152"/>
          <a:stretch/>
        </p:blipFill>
        <p:spPr>
          <a:xfrm>
            <a:off x="761230" y="3421534"/>
            <a:ext cx="16383769" cy="56070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56513" y="262070"/>
            <a:ext cx="17799702" cy="9762861"/>
            <a:chOff x="0" y="0"/>
            <a:chExt cx="4687987" cy="257128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687987" cy="2571288"/>
            </a:xfrm>
            <a:custGeom>
              <a:avLst/>
              <a:gdLst/>
              <a:ahLst/>
              <a:cxnLst/>
              <a:rect l="l" t="t" r="r" b="b"/>
              <a:pathLst>
                <a:path w="4687987" h="2571288">
                  <a:moveTo>
                    <a:pt x="22182" y="0"/>
                  </a:moveTo>
                  <a:lnTo>
                    <a:pt x="4665805" y="0"/>
                  </a:lnTo>
                  <a:cubicBezTo>
                    <a:pt x="4671688" y="0"/>
                    <a:pt x="4677330" y="2337"/>
                    <a:pt x="4681491" y="6497"/>
                  </a:cubicBezTo>
                  <a:cubicBezTo>
                    <a:pt x="4685650" y="10657"/>
                    <a:pt x="4687987" y="16299"/>
                    <a:pt x="4687987" y="22182"/>
                  </a:cubicBezTo>
                  <a:lnTo>
                    <a:pt x="4687987" y="2549106"/>
                  </a:lnTo>
                  <a:cubicBezTo>
                    <a:pt x="4687987" y="2554989"/>
                    <a:pt x="4685650" y="2560631"/>
                    <a:pt x="4681491" y="2564791"/>
                  </a:cubicBezTo>
                  <a:cubicBezTo>
                    <a:pt x="4677330" y="2568951"/>
                    <a:pt x="4671688" y="2571288"/>
                    <a:pt x="4665805" y="2571288"/>
                  </a:cubicBezTo>
                  <a:lnTo>
                    <a:pt x="22182" y="2571288"/>
                  </a:lnTo>
                  <a:cubicBezTo>
                    <a:pt x="16299" y="2571288"/>
                    <a:pt x="10657" y="2568951"/>
                    <a:pt x="6497" y="2564791"/>
                  </a:cubicBezTo>
                  <a:cubicBezTo>
                    <a:pt x="2337" y="2560631"/>
                    <a:pt x="0" y="2554989"/>
                    <a:pt x="0" y="2549106"/>
                  </a:cubicBezTo>
                  <a:lnTo>
                    <a:pt x="0" y="22182"/>
                  </a:lnTo>
                  <a:cubicBezTo>
                    <a:pt x="0" y="16299"/>
                    <a:pt x="2337" y="10657"/>
                    <a:pt x="6497" y="6497"/>
                  </a:cubicBezTo>
                  <a:cubicBezTo>
                    <a:pt x="10657" y="2337"/>
                    <a:pt x="16299" y="0"/>
                    <a:pt x="22182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vi-V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687987" cy="26093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TextBox 3">
            <a:extLst>
              <a:ext uri="{FF2B5EF4-FFF2-40B4-BE49-F238E27FC236}">
                <a16:creationId xmlns:a16="http://schemas.microsoft.com/office/drawing/2014/main" id="{2E3E6131-CB1C-0A76-19D6-0CA8180B6AB0}"/>
              </a:ext>
            </a:extLst>
          </p:cNvPr>
          <p:cNvSpPr txBox="1"/>
          <p:nvPr/>
        </p:nvSpPr>
        <p:spPr>
          <a:xfrm>
            <a:off x="-533400" y="281713"/>
            <a:ext cx="9144000" cy="13779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200"/>
              </a:lnSpc>
              <a:spcBef>
                <a:spcPct val="0"/>
              </a:spcBef>
            </a:pPr>
            <a:r>
              <a:rPr lang="en-US" sz="8000" dirty="0">
                <a:solidFill>
                  <a:srgbClr val="B63F3D"/>
                </a:solidFill>
                <a:ea typeface="Cabin"/>
                <a:cs typeface="Cabin"/>
                <a:sym typeface="Cabin"/>
              </a:rPr>
              <a:t>2.  </a:t>
            </a:r>
            <a:r>
              <a:rPr lang="en-US" sz="8000" dirty="0" err="1">
                <a:solidFill>
                  <a:srgbClr val="B63F3D"/>
                </a:solidFill>
                <a:ea typeface="Cabin"/>
                <a:cs typeface="Cabin"/>
                <a:sym typeface="Cabin"/>
              </a:rPr>
              <a:t>Chữ</a:t>
            </a:r>
            <a:r>
              <a:rPr lang="en-US" sz="8000" dirty="0">
                <a:solidFill>
                  <a:srgbClr val="B63F3D"/>
                </a:solidFill>
                <a:ea typeface="Cabin"/>
                <a:cs typeface="Cabin"/>
                <a:sym typeface="Cabin"/>
              </a:rPr>
              <a:t> </a:t>
            </a:r>
            <a:r>
              <a:rPr lang="en-US" sz="8000" dirty="0" err="1">
                <a:solidFill>
                  <a:srgbClr val="B63F3D"/>
                </a:solidFill>
                <a:ea typeface="Cabin"/>
                <a:cs typeface="Cabin"/>
                <a:sym typeface="Cabin"/>
              </a:rPr>
              <a:t>chỉ</a:t>
            </a:r>
            <a:r>
              <a:rPr lang="en-US" sz="8000" dirty="0">
                <a:solidFill>
                  <a:srgbClr val="B63F3D"/>
                </a:solidFill>
                <a:ea typeface="Cabin"/>
                <a:cs typeface="Cabin"/>
                <a:sym typeface="Cabin"/>
              </a:rPr>
              <a:t> </a:t>
            </a:r>
            <a:r>
              <a:rPr lang="en-US" sz="8000" dirty="0" err="1">
                <a:solidFill>
                  <a:srgbClr val="B63F3D"/>
                </a:solidFill>
                <a:ea typeface="Cabin"/>
                <a:cs typeface="Cabin"/>
                <a:sym typeface="Cabin"/>
              </a:rPr>
              <a:t>sự</a:t>
            </a:r>
            <a:endParaRPr lang="en-US" sz="8000" dirty="0">
              <a:solidFill>
                <a:srgbClr val="B63F3D"/>
              </a:solidFill>
              <a:ea typeface="Cabin"/>
              <a:cs typeface="Cabin"/>
              <a:sym typeface="Cabin"/>
            </a:endParaRPr>
          </a:p>
        </p:txBody>
      </p:sp>
      <p:sp>
        <p:nvSpPr>
          <p:cNvPr id="6" name="TextBox 4">
            <a:extLst>
              <a:ext uri="{FF2B5EF4-FFF2-40B4-BE49-F238E27FC236}">
                <a16:creationId xmlns:a16="http://schemas.microsoft.com/office/drawing/2014/main" id="{C518ED1E-2FD7-2AA3-5B6D-FB338FBD79CC}"/>
              </a:ext>
            </a:extLst>
          </p:cNvPr>
          <p:cNvSpPr txBox="1"/>
          <p:nvPr/>
        </p:nvSpPr>
        <p:spPr>
          <a:xfrm>
            <a:off x="1548580" y="1659662"/>
            <a:ext cx="15190839" cy="1739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00"/>
              </a:lnSpc>
              <a:spcBef>
                <a:spcPct val="0"/>
              </a:spcBef>
            </a:pPr>
            <a:r>
              <a:rPr lang="en-US" sz="5000" dirty="0" err="1">
                <a:solidFill>
                  <a:srgbClr val="000000"/>
                </a:solidFill>
                <a:ea typeface="Cabin"/>
                <a:cs typeface="Cabin"/>
                <a:sym typeface="Cabin"/>
              </a:rPr>
              <a:t>Chữ</a:t>
            </a:r>
            <a:r>
              <a:rPr lang="en-US" sz="5000" dirty="0">
                <a:solidFill>
                  <a:srgbClr val="000000"/>
                </a:solidFill>
                <a:ea typeface="Cabin"/>
                <a:cs typeface="Cabin"/>
                <a:sym typeface="Cabin"/>
              </a:rPr>
              <a:t> </a:t>
            </a:r>
            <a:r>
              <a:rPr lang="en-US" sz="5000" dirty="0" err="1">
                <a:solidFill>
                  <a:srgbClr val="000000"/>
                </a:solidFill>
                <a:ea typeface="Cabin"/>
                <a:cs typeface="Cabin"/>
                <a:sym typeface="Cabin"/>
              </a:rPr>
              <a:t>biểu</a:t>
            </a:r>
            <a:r>
              <a:rPr lang="en-US" sz="5000" dirty="0">
                <a:solidFill>
                  <a:srgbClr val="000000"/>
                </a:solidFill>
                <a:ea typeface="Cabin"/>
                <a:cs typeface="Cabin"/>
                <a:sym typeface="Cabin"/>
              </a:rPr>
              <a:t> </a:t>
            </a:r>
            <a:r>
              <a:rPr lang="en-US" sz="5000" dirty="0" err="1">
                <a:solidFill>
                  <a:srgbClr val="000000"/>
                </a:solidFill>
                <a:ea typeface="Cabin"/>
                <a:cs typeface="Cabin"/>
                <a:sym typeface="Cabin"/>
              </a:rPr>
              <a:t>đạt</a:t>
            </a:r>
            <a:r>
              <a:rPr lang="en-US" sz="5000" dirty="0">
                <a:solidFill>
                  <a:srgbClr val="000000"/>
                </a:solidFill>
                <a:ea typeface="Cabin"/>
                <a:cs typeface="Cabin"/>
                <a:sym typeface="Cabin"/>
              </a:rPr>
              <a:t> </a:t>
            </a:r>
            <a:r>
              <a:rPr lang="en-US" sz="5000" dirty="0" err="1">
                <a:solidFill>
                  <a:srgbClr val="000000"/>
                </a:solidFill>
                <a:ea typeface="Cabin"/>
                <a:cs typeface="Cabin"/>
                <a:sym typeface="Cabin"/>
              </a:rPr>
              <a:t>những</a:t>
            </a:r>
            <a:r>
              <a:rPr lang="en-US" sz="5000" dirty="0">
                <a:solidFill>
                  <a:srgbClr val="000000"/>
                </a:solidFill>
                <a:ea typeface="Cabin"/>
                <a:cs typeface="Cabin"/>
                <a:sym typeface="Cabin"/>
              </a:rPr>
              <a:t> </a:t>
            </a:r>
            <a:r>
              <a:rPr lang="en-US" sz="5000" dirty="0" err="1">
                <a:solidFill>
                  <a:srgbClr val="000000"/>
                </a:solidFill>
                <a:ea typeface="Cabin"/>
                <a:cs typeface="Cabin"/>
                <a:sym typeface="Cabin"/>
              </a:rPr>
              <a:t>khái</a:t>
            </a:r>
            <a:r>
              <a:rPr lang="en-US" sz="5000" dirty="0">
                <a:solidFill>
                  <a:srgbClr val="000000"/>
                </a:solidFill>
                <a:ea typeface="Cabin"/>
                <a:cs typeface="Cabin"/>
                <a:sym typeface="Cabin"/>
              </a:rPr>
              <a:t> </a:t>
            </a:r>
            <a:r>
              <a:rPr lang="en-US" sz="5000" dirty="0" err="1">
                <a:solidFill>
                  <a:srgbClr val="000000"/>
                </a:solidFill>
                <a:ea typeface="Cabin"/>
                <a:cs typeface="Cabin"/>
                <a:sym typeface="Cabin"/>
              </a:rPr>
              <a:t>niệm</a:t>
            </a:r>
            <a:r>
              <a:rPr lang="en-US" sz="5000" dirty="0">
                <a:solidFill>
                  <a:srgbClr val="000000"/>
                </a:solidFill>
                <a:ea typeface="Cabin"/>
                <a:cs typeface="Cabin"/>
                <a:sym typeface="Cabin"/>
              </a:rPr>
              <a:t> </a:t>
            </a:r>
            <a:r>
              <a:rPr lang="en-US" sz="5000" dirty="0" err="1">
                <a:solidFill>
                  <a:srgbClr val="000000"/>
                </a:solidFill>
                <a:ea typeface="Cabin"/>
                <a:cs typeface="Cabin"/>
                <a:sym typeface="Cabin"/>
              </a:rPr>
              <a:t>trừu</a:t>
            </a:r>
            <a:r>
              <a:rPr lang="en-US" sz="5000" dirty="0">
                <a:solidFill>
                  <a:srgbClr val="000000"/>
                </a:solidFill>
                <a:ea typeface="Cabin"/>
                <a:cs typeface="Cabin"/>
                <a:sym typeface="Cabin"/>
              </a:rPr>
              <a:t> </a:t>
            </a:r>
            <a:r>
              <a:rPr lang="en-US" sz="5000" dirty="0" err="1">
                <a:solidFill>
                  <a:srgbClr val="000000"/>
                </a:solidFill>
                <a:ea typeface="Cabin"/>
                <a:cs typeface="Cabin"/>
                <a:sym typeface="Cabin"/>
              </a:rPr>
              <a:t>tượng</a:t>
            </a:r>
            <a:r>
              <a:rPr lang="en-US" sz="5000" dirty="0">
                <a:solidFill>
                  <a:srgbClr val="000000"/>
                </a:solidFill>
                <a:ea typeface="Cabin"/>
                <a:cs typeface="Cabin"/>
                <a:sym typeface="Cabin"/>
              </a:rPr>
              <a:t> </a:t>
            </a:r>
            <a:r>
              <a:rPr lang="en-US" sz="5000" dirty="0" err="1">
                <a:solidFill>
                  <a:srgbClr val="000000"/>
                </a:solidFill>
                <a:ea typeface="Cabin"/>
                <a:cs typeface="Cabin"/>
                <a:sym typeface="Cabin"/>
              </a:rPr>
              <a:t>bằng</a:t>
            </a:r>
            <a:r>
              <a:rPr lang="en-US" sz="5000" dirty="0">
                <a:solidFill>
                  <a:srgbClr val="000000"/>
                </a:solidFill>
                <a:ea typeface="Cabin"/>
                <a:cs typeface="Cabin"/>
                <a:sym typeface="Cabin"/>
              </a:rPr>
              <a:t> </a:t>
            </a:r>
            <a:r>
              <a:rPr lang="en-US" sz="5000" dirty="0" err="1">
                <a:solidFill>
                  <a:srgbClr val="000000"/>
                </a:solidFill>
                <a:ea typeface="Cabin"/>
                <a:cs typeface="Cabin"/>
                <a:sym typeface="Cabin"/>
              </a:rPr>
              <a:t>cách</a:t>
            </a:r>
            <a:r>
              <a:rPr lang="en-US" sz="5000" dirty="0">
                <a:solidFill>
                  <a:srgbClr val="000000"/>
                </a:solidFill>
                <a:ea typeface="Cabin"/>
                <a:cs typeface="Cabin"/>
                <a:sym typeface="Cabin"/>
              </a:rPr>
              <a:t> </a:t>
            </a:r>
            <a:r>
              <a:rPr lang="en-US" sz="5000" dirty="0" err="1">
                <a:solidFill>
                  <a:srgbClr val="000000"/>
                </a:solidFill>
                <a:ea typeface="Cabin"/>
                <a:cs typeface="Cabin"/>
                <a:sym typeface="Cabin"/>
              </a:rPr>
              <a:t>dùng</a:t>
            </a:r>
            <a:r>
              <a:rPr lang="en-US" sz="5000" dirty="0">
                <a:solidFill>
                  <a:srgbClr val="000000"/>
                </a:solidFill>
                <a:ea typeface="Cabin"/>
                <a:cs typeface="Cabin"/>
                <a:sym typeface="Cabin"/>
              </a:rPr>
              <a:t> </a:t>
            </a:r>
            <a:r>
              <a:rPr lang="en-US" sz="5000" dirty="0" err="1">
                <a:solidFill>
                  <a:srgbClr val="000000"/>
                </a:solidFill>
                <a:ea typeface="Cabin"/>
                <a:cs typeface="Cabin"/>
                <a:sym typeface="Cabin"/>
              </a:rPr>
              <a:t>nét</a:t>
            </a:r>
            <a:r>
              <a:rPr lang="en-US" sz="5000" dirty="0">
                <a:solidFill>
                  <a:srgbClr val="000000"/>
                </a:solidFill>
                <a:ea typeface="Cabin"/>
                <a:cs typeface="Cabin"/>
                <a:sym typeface="Cabin"/>
              </a:rPr>
              <a:t> </a:t>
            </a:r>
            <a:r>
              <a:rPr lang="en-US" sz="5000" dirty="0" err="1">
                <a:solidFill>
                  <a:srgbClr val="000000"/>
                </a:solidFill>
                <a:ea typeface="Cabin"/>
                <a:cs typeface="Cabin"/>
                <a:sym typeface="Cabin"/>
              </a:rPr>
              <a:t>đơn</a:t>
            </a:r>
            <a:r>
              <a:rPr lang="en-US" sz="5000" dirty="0">
                <a:solidFill>
                  <a:srgbClr val="000000"/>
                </a:solidFill>
                <a:ea typeface="Cabin"/>
                <a:cs typeface="Cabin"/>
                <a:sym typeface="Cabin"/>
              </a:rPr>
              <a:t> </a:t>
            </a:r>
            <a:r>
              <a:rPr lang="en-US" sz="5000" dirty="0" err="1">
                <a:solidFill>
                  <a:srgbClr val="000000"/>
                </a:solidFill>
                <a:ea typeface="Cabin"/>
                <a:cs typeface="Cabin"/>
                <a:sym typeface="Cabin"/>
              </a:rPr>
              <a:t>giản</a:t>
            </a:r>
            <a:r>
              <a:rPr lang="en-US" sz="5000" dirty="0">
                <a:solidFill>
                  <a:srgbClr val="000000"/>
                </a:solidFill>
                <a:ea typeface="Cabin"/>
                <a:cs typeface="Cabin"/>
                <a:sym typeface="Cabin"/>
              </a:rPr>
              <a:t> </a:t>
            </a:r>
            <a:r>
              <a:rPr lang="en-US" sz="5000" dirty="0" err="1">
                <a:solidFill>
                  <a:srgbClr val="000000"/>
                </a:solidFill>
                <a:ea typeface="Cabin"/>
                <a:cs typeface="Cabin"/>
                <a:sym typeface="Cabin"/>
              </a:rPr>
              <a:t>để</a:t>
            </a:r>
            <a:r>
              <a:rPr lang="en-US" sz="5000" dirty="0">
                <a:solidFill>
                  <a:srgbClr val="000000"/>
                </a:solidFill>
                <a:ea typeface="Cabin"/>
                <a:cs typeface="Cabin"/>
                <a:sym typeface="Cabin"/>
              </a:rPr>
              <a:t> </a:t>
            </a:r>
            <a:r>
              <a:rPr lang="en-US" sz="5000" dirty="0" err="1">
                <a:solidFill>
                  <a:srgbClr val="000000"/>
                </a:solidFill>
                <a:ea typeface="Cabin"/>
                <a:cs typeface="Cabin"/>
                <a:sym typeface="Cabin"/>
              </a:rPr>
              <a:t>chỉ</a:t>
            </a:r>
            <a:r>
              <a:rPr lang="en-US" sz="5000" dirty="0">
                <a:solidFill>
                  <a:srgbClr val="000000"/>
                </a:solidFill>
                <a:ea typeface="Cabin"/>
                <a:cs typeface="Cabin"/>
                <a:sym typeface="Cabin"/>
              </a:rPr>
              <a:t> </a:t>
            </a:r>
            <a:r>
              <a:rPr lang="en-US" sz="5000" dirty="0" err="1">
                <a:solidFill>
                  <a:srgbClr val="000000"/>
                </a:solidFill>
                <a:ea typeface="Cabin"/>
                <a:cs typeface="Cabin"/>
                <a:sym typeface="Cabin"/>
              </a:rPr>
              <a:t>rõ</a:t>
            </a:r>
            <a:r>
              <a:rPr lang="en-US" sz="5000" dirty="0">
                <a:solidFill>
                  <a:srgbClr val="000000"/>
                </a:solidFill>
                <a:ea typeface="Cabin"/>
                <a:cs typeface="Cabin"/>
                <a:sym typeface="Cabin"/>
              </a:rPr>
              <a:t> </a:t>
            </a:r>
            <a:r>
              <a:rPr lang="en-US" sz="5000" dirty="0" err="1">
                <a:solidFill>
                  <a:srgbClr val="000000"/>
                </a:solidFill>
                <a:ea typeface="Cabin"/>
                <a:cs typeface="Cabin"/>
                <a:sym typeface="Cabin"/>
              </a:rPr>
              <a:t>đặc</a:t>
            </a:r>
            <a:r>
              <a:rPr lang="en-US" sz="5000" dirty="0">
                <a:solidFill>
                  <a:srgbClr val="000000"/>
                </a:solidFill>
                <a:ea typeface="Cabin"/>
                <a:cs typeface="Cabin"/>
                <a:sym typeface="Cabin"/>
              </a:rPr>
              <a:t> </a:t>
            </a:r>
            <a:r>
              <a:rPr lang="en-US" sz="5000" dirty="0" err="1">
                <a:solidFill>
                  <a:srgbClr val="000000"/>
                </a:solidFill>
                <a:ea typeface="Cabin"/>
                <a:cs typeface="Cabin"/>
                <a:sym typeface="Cabin"/>
              </a:rPr>
              <a:t>điểm</a:t>
            </a:r>
            <a:r>
              <a:rPr lang="en-US" sz="5000" dirty="0">
                <a:solidFill>
                  <a:srgbClr val="000000"/>
                </a:solidFill>
                <a:ea typeface="Cabin"/>
                <a:cs typeface="Cabin"/>
                <a:sym typeface="Cabin"/>
              </a:rPr>
              <a:t> </a:t>
            </a:r>
            <a:r>
              <a:rPr lang="en-US" sz="5000" dirty="0" err="1">
                <a:solidFill>
                  <a:srgbClr val="000000"/>
                </a:solidFill>
                <a:ea typeface="Cabin"/>
                <a:cs typeface="Cabin"/>
                <a:sym typeface="Cabin"/>
              </a:rPr>
              <a:t>của</a:t>
            </a:r>
            <a:r>
              <a:rPr lang="en-US" sz="5000" dirty="0">
                <a:solidFill>
                  <a:srgbClr val="000000"/>
                </a:solidFill>
                <a:ea typeface="Cabin"/>
                <a:cs typeface="Cabin"/>
                <a:sym typeface="Cabin"/>
              </a:rPr>
              <a:t> </a:t>
            </a:r>
            <a:r>
              <a:rPr lang="en-US" sz="5000" dirty="0" err="1">
                <a:solidFill>
                  <a:srgbClr val="000000"/>
                </a:solidFill>
                <a:ea typeface="Cabin"/>
                <a:cs typeface="Cabin"/>
                <a:sym typeface="Cabin"/>
              </a:rPr>
              <a:t>sự</a:t>
            </a:r>
            <a:r>
              <a:rPr lang="en-US" sz="5000" dirty="0">
                <a:solidFill>
                  <a:srgbClr val="000000"/>
                </a:solidFill>
                <a:ea typeface="Cabin"/>
                <a:cs typeface="Cabin"/>
                <a:sym typeface="Cabin"/>
              </a:rPr>
              <a:t> </a:t>
            </a:r>
            <a:r>
              <a:rPr lang="en-US" sz="5000" dirty="0" err="1">
                <a:solidFill>
                  <a:srgbClr val="000000"/>
                </a:solidFill>
                <a:ea typeface="Cabin"/>
                <a:cs typeface="Cabin"/>
                <a:sym typeface="Cabin"/>
              </a:rPr>
              <a:t>vật</a:t>
            </a:r>
            <a:r>
              <a:rPr lang="en-US" sz="5000" dirty="0">
                <a:solidFill>
                  <a:srgbClr val="000000"/>
                </a:solidFill>
                <a:ea typeface="Cabin"/>
                <a:cs typeface="Cabin"/>
                <a:sym typeface="Cabin"/>
              </a:rPr>
              <a:t>.</a:t>
            </a:r>
          </a:p>
        </p:txBody>
      </p:sp>
      <p:pic>
        <p:nvPicPr>
          <p:cNvPr id="7" name="Hình ảnh 6" descr="Ảnh có chứa văn bản, ảnh chụp màn hình, Phông chữ, số&#10;&#10;Nội dung do AI tạo ra có thể không chính xác.">
            <a:extLst>
              <a:ext uri="{FF2B5EF4-FFF2-40B4-BE49-F238E27FC236}">
                <a16:creationId xmlns:a16="http://schemas.microsoft.com/office/drawing/2014/main" id="{63437404-8A9B-0C5C-EEDB-0DC7138F20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5400" y="3771900"/>
            <a:ext cx="16002000" cy="526624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56513" y="262070"/>
            <a:ext cx="17799702" cy="9762861"/>
            <a:chOff x="0" y="0"/>
            <a:chExt cx="4687987" cy="257128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687987" cy="2571288"/>
            </a:xfrm>
            <a:custGeom>
              <a:avLst/>
              <a:gdLst/>
              <a:ahLst/>
              <a:cxnLst/>
              <a:rect l="l" t="t" r="r" b="b"/>
              <a:pathLst>
                <a:path w="4687987" h="2571288">
                  <a:moveTo>
                    <a:pt x="22182" y="0"/>
                  </a:moveTo>
                  <a:lnTo>
                    <a:pt x="4665805" y="0"/>
                  </a:lnTo>
                  <a:cubicBezTo>
                    <a:pt x="4671688" y="0"/>
                    <a:pt x="4677330" y="2337"/>
                    <a:pt x="4681491" y="6497"/>
                  </a:cubicBezTo>
                  <a:cubicBezTo>
                    <a:pt x="4685650" y="10657"/>
                    <a:pt x="4687987" y="16299"/>
                    <a:pt x="4687987" y="22182"/>
                  </a:cubicBezTo>
                  <a:lnTo>
                    <a:pt x="4687987" y="2549106"/>
                  </a:lnTo>
                  <a:cubicBezTo>
                    <a:pt x="4687987" y="2554989"/>
                    <a:pt x="4685650" y="2560631"/>
                    <a:pt x="4681491" y="2564791"/>
                  </a:cubicBezTo>
                  <a:cubicBezTo>
                    <a:pt x="4677330" y="2568951"/>
                    <a:pt x="4671688" y="2571288"/>
                    <a:pt x="4665805" y="2571288"/>
                  </a:cubicBezTo>
                  <a:lnTo>
                    <a:pt x="22182" y="2571288"/>
                  </a:lnTo>
                  <a:cubicBezTo>
                    <a:pt x="16299" y="2571288"/>
                    <a:pt x="10657" y="2568951"/>
                    <a:pt x="6497" y="2564791"/>
                  </a:cubicBezTo>
                  <a:cubicBezTo>
                    <a:pt x="2337" y="2560631"/>
                    <a:pt x="0" y="2554989"/>
                    <a:pt x="0" y="2549106"/>
                  </a:cubicBezTo>
                  <a:lnTo>
                    <a:pt x="0" y="22182"/>
                  </a:lnTo>
                  <a:cubicBezTo>
                    <a:pt x="0" y="16299"/>
                    <a:pt x="2337" y="10657"/>
                    <a:pt x="6497" y="6497"/>
                  </a:cubicBezTo>
                  <a:cubicBezTo>
                    <a:pt x="10657" y="2337"/>
                    <a:pt x="16299" y="0"/>
                    <a:pt x="22182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vi-V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687987" cy="26093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TextBox 3">
            <a:extLst>
              <a:ext uri="{FF2B5EF4-FFF2-40B4-BE49-F238E27FC236}">
                <a16:creationId xmlns:a16="http://schemas.microsoft.com/office/drawing/2014/main" id="{112A4AC3-CED9-273C-CC81-B074875C426B}"/>
              </a:ext>
            </a:extLst>
          </p:cNvPr>
          <p:cNvSpPr txBox="1"/>
          <p:nvPr/>
        </p:nvSpPr>
        <p:spPr>
          <a:xfrm>
            <a:off x="-1219200" y="207236"/>
            <a:ext cx="9144000" cy="13779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200"/>
              </a:lnSpc>
              <a:spcBef>
                <a:spcPct val="0"/>
              </a:spcBef>
            </a:pPr>
            <a:r>
              <a:rPr lang="en-US" sz="8000" dirty="0">
                <a:solidFill>
                  <a:srgbClr val="B63F3D"/>
                </a:solidFill>
                <a:ea typeface="Cabin"/>
                <a:cs typeface="Cabin"/>
                <a:sym typeface="Cabin"/>
              </a:rPr>
              <a:t>3.   </a:t>
            </a:r>
            <a:r>
              <a:rPr lang="en-US" sz="8000" dirty="0" err="1">
                <a:solidFill>
                  <a:srgbClr val="B63F3D"/>
                </a:solidFill>
                <a:ea typeface="Cabin"/>
                <a:cs typeface="Cabin"/>
                <a:sym typeface="Cabin"/>
              </a:rPr>
              <a:t>Chữ</a:t>
            </a:r>
            <a:r>
              <a:rPr lang="en-US" sz="8000" dirty="0">
                <a:solidFill>
                  <a:srgbClr val="B63F3D"/>
                </a:solidFill>
                <a:ea typeface="Cabin"/>
                <a:cs typeface="Cabin"/>
                <a:sym typeface="Cabin"/>
              </a:rPr>
              <a:t> </a:t>
            </a:r>
            <a:r>
              <a:rPr lang="en-US" sz="8000" dirty="0" err="1">
                <a:solidFill>
                  <a:srgbClr val="B63F3D"/>
                </a:solidFill>
                <a:ea typeface="Cabin"/>
                <a:cs typeface="Cabin"/>
                <a:sym typeface="Cabin"/>
              </a:rPr>
              <a:t>hội</a:t>
            </a:r>
            <a:r>
              <a:rPr lang="en-US" sz="8000" dirty="0">
                <a:solidFill>
                  <a:srgbClr val="B63F3D"/>
                </a:solidFill>
                <a:ea typeface="Cabin"/>
                <a:cs typeface="Cabin"/>
                <a:sym typeface="Cabin"/>
              </a:rPr>
              <a:t> ý</a:t>
            </a:r>
          </a:p>
        </p:txBody>
      </p:sp>
      <p:sp>
        <p:nvSpPr>
          <p:cNvPr id="6" name="TextBox 4">
            <a:extLst>
              <a:ext uri="{FF2B5EF4-FFF2-40B4-BE49-F238E27FC236}">
                <a16:creationId xmlns:a16="http://schemas.microsoft.com/office/drawing/2014/main" id="{6B25E3E9-979A-2493-D730-B5A1C65B49E3}"/>
              </a:ext>
            </a:extLst>
          </p:cNvPr>
          <p:cNvSpPr txBox="1"/>
          <p:nvPr/>
        </p:nvSpPr>
        <p:spPr>
          <a:xfrm>
            <a:off x="889908" y="2400300"/>
            <a:ext cx="4925784" cy="44332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000"/>
              </a:lnSpc>
              <a:spcBef>
                <a:spcPct val="0"/>
              </a:spcBef>
            </a:pPr>
            <a:r>
              <a:rPr lang="en-US" sz="5000" dirty="0" err="1">
                <a:solidFill>
                  <a:srgbClr val="000000"/>
                </a:solidFill>
                <a:ea typeface="Cabin"/>
                <a:cs typeface="Cabin"/>
                <a:sym typeface="Cabin"/>
              </a:rPr>
              <a:t>Kết</a:t>
            </a:r>
            <a:r>
              <a:rPr lang="en-US" sz="5000" dirty="0">
                <a:solidFill>
                  <a:srgbClr val="000000"/>
                </a:solidFill>
                <a:ea typeface="Cabin"/>
                <a:cs typeface="Cabin"/>
                <a:sym typeface="Cabin"/>
              </a:rPr>
              <a:t> </a:t>
            </a:r>
            <a:r>
              <a:rPr lang="en-US" sz="5000" dirty="0" err="1">
                <a:solidFill>
                  <a:srgbClr val="000000"/>
                </a:solidFill>
                <a:ea typeface="Cabin"/>
                <a:cs typeface="Cabin"/>
                <a:sym typeface="Cabin"/>
              </a:rPr>
              <a:t>hợp</a:t>
            </a:r>
            <a:r>
              <a:rPr lang="en-US" sz="5000" dirty="0">
                <a:solidFill>
                  <a:srgbClr val="000000"/>
                </a:solidFill>
                <a:ea typeface="Cabin"/>
                <a:cs typeface="Cabin"/>
                <a:sym typeface="Cabin"/>
              </a:rPr>
              <a:t> </a:t>
            </a:r>
            <a:r>
              <a:rPr lang="en-US" sz="5000" dirty="0" err="1">
                <a:solidFill>
                  <a:srgbClr val="000000"/>
                </a:solidFill>
                <a:ea typeface="Cabin"/>
                <a:cs typeface="Cabin"/>
                <a:sym typeface="Cabin"/>
              </a:rPr>
              <a:t>hai</a:t>
            </a:r>
            <a:r>
              <a:rPr lang="en-US" sz="5000" dirty="0">
                <a:solidFill>
                  <a:srgbClr val="000000"/>
                </a:solidFill>
                <a:ea typeface="Cabin"/>
                <a:cs typeface="Cabin"/>
                <a:sym typeface="Cabin"/>
              </a:rPr>
              <a:t> </a:t>
            </a:r>
            <a:r>
              <a:rPr lang="en-US" sz="5000" dirty="0" err="1">
                <a:solidFill>
                  <a:srgbClr val="000000"/>
                </a:solidFill>
                <a:ea typeface="Cabin"/>
                <a:cs typeface="Cabin"/>
                <a:sym typeface="Cabin"/>
              </a:rPr>
              <a:t>hoặc</a:t>
            </a:r>
            <a:r>
              <a:rPr lang="en-US" sz="5000" dirty="0">
                <a:solidFill>
                  <a:srgbClr val="000000"/>
                </a:solidFill>
                <a:ea typeface="Cabin"/>
                <a:cs typeface="Cabin"/>
                <a:sym typeface="Cabin"/>
              </a:rPr>
              <a:t> </a:t>
            </a:r>
            <a:r>
              <a:rPr lang="en-US" sz="5000" dirty="0" err="1">
                <a:solidFill>
                  <a:srgbClr val="000000"/>
                </a:solidFill>
                <a:ea typeface="Cabin"/>
                <a:cs typeface="Cabin"/>
                <a:sym typeface="Cabin"/>
              </a:rPr>
              <a:t>nhiều</a:t>
            </a:r>
            <a:r>
              <a:rPr lang="en-US" sz="5000" dirty="0">
                <a:solidFill>
                  <a:srgbClr val="000000"/>
                </a:solidFill>
                <a:ea typeface="Cabin"/>
                <a:cs typeface="Cabin"/>
                <a:sym typeface="Cabin"/>
              </a:rPr>
              <a:t> </a:t>
            </a:r>
            <a:r>
              <a:rPr lang="en-US" sz="5000" dirty="0" err="1">
                <a:solidFill>
                  <a:srgbClr val="000000"/>
                </a:solidFill>
                <a:ea typeface="Cabin"/>
                <a:cs typeface="Cabin"/>
                <a:sym typeface="Cabin"/>
              </a:rPr>
              <a:t>bộ</a:t>
            </a:r>
            <a:r>
              <a:rPr lang="en-US" sz="5000" dirty="0">
                <a:solidFill>
                  <a:srgbClr val="000000"/>
                </a:solidFill>
                <a:ea typeface="Cabin"/>
                <a:cs typeface="Cabin"/>
                <a:sym typeface="Cabin"/>
              </a:rPr>
              <a:t> </a:t>
            </a:r>
            <a:r>
              <a:rPr lang="en-US" sz="5000" dirty="0" err="1">
                <a:solidFill>
                  <a:srgbClr val="000000"/>
                </a:solidFill>
                <a:ea typeface="Cabin"/>
                <a:cs typeface="Cabin"/>
                <a:sym typeface="Cabin"/>
              </a:rPr>
              <a:t>phận</a:t>
            </a:r>
            <a:r>
              <a:rPr lang="en-US" sz="5000" dirty="0">
                <a:solidFill>
                  <a:srgbClr val="000000"/>
                </a:solidFill>
                <a:ea typeface="Cabin"/>
                <a:cs typeface="Cabin"/>
                <a:sym typeface="Cabin"/>
              </a:rPr>
              <a:t> </a:t>
            </a:r>
            <a:r>
              <a:rPr lang="en-US" sz="5000" dirty="0" err="1">
                <a:solidFill>
                  <a:srgbClr val="000000"/>
                </a:solidFill>
                <a:ea typeface="Cabin"/>
                <a:cs typeface="Cabin"/>
                <a:sym typeface="Cabin"/>
              </a:rPr>
              <a:t>có</a:t>
            </a:r>
            <a:r>
              <a:rPr lang="en-US" sz="5000" dirty="0">
                <a:solidFill>
                  <a:srgbClr val="000000"/>
                </a:solidFill>
                <a:ea typeface="Cabin"/>
                <a:cs typeface="Cabin"/>
                <a:sym typeface="Cabin"/>
              </a:rPr>
              <a:t> </a:t>
            </a:r>
            <a:r>
              <a:rPr lang="en-US" sz="5000" dirty="0" err="1">
                <a:solidFill>
                  <a:srgbClr val="000000"/>
                </a:solidFill>
                <a:ea typeface="Cabin"/>
                <a:cs typeface="Cabin"/>
                <a:sym typeface="Cabin"/>
              </a:rPr>
              <a:t>liên</a:t>
            </a:r>
            <a:r>
              <a:rPr lang="en-US" sz="5000" dirty="0">
                <a:solidFill>
                  <a:srgbClr val="000000"/>
                </a:solidFill>
                <a:ea typeface="Cabin"/>
                <a:cs typeface="Cabin"/>
                <a:sym typeface="Cabin"/>
              </a:rPr>
              <a:t> </a:t>
            </a:r>
            <a:r>
              <a:rPr lang="en-US" sz="5000" dirty="0" err="1">
                <a:solidFill>
                  <a:srgbClr val="000000"/>
                </a:solidFill>
                <a:ea typeface="Cabin"/>
                <a:cs typeface="Cabin"/>
                <a:sym typeface="Cabin"/>
              </a:rPr>
              <a:t>quan</a:t>
            </a:r>
            <a:r>
              <a:rPr lang="en-US" sz="5000" dirty="0">
                <a:solidFill>
                  <a:srgbClr val="000000"/>
                </a:solidFill>
                <a:ea typeface="Cabin"/>
                <a:cs typeface="Cabin"/>
                <a:sym typeface="Cabin"/>
              </a:rPr>
              <a:t> </a:t>
            </a:r>
            <a:r>
              <a:rPr lang="en-US" sz="5000" dirty="0" err="1">
                <a:solidFill>
                  <a:srgbClr val="000000"/>
                </a:solidFill>
                <a:ea typeface="Cabin"/>
                <a:cs typeface="Cabin"/>
                <a:sym typeface="Cabin"/>
              </a:rPr>
              <a:t>để</a:t>
            </a:r>
            <a:r>
              <a:rPr lang="en-US" sz="5000" dirty="0">
                <a:solidFill>
                  <a:srgbClr val="000000"/>
                </a:solidFill>
                <a:ea typeface="Cabin"/>
                <a:cs typeface="Cabin"/>
                <a:sym typeface="Cabin"/>
              </a:rPr>
              <a:t> </a:t>
            </a:r>
            <a:r>
              <a:rPr lang="en-US" sz="5000" dirty="0" err="1">
                <a:solidFill>
                  <a:srgbClr val="000000"/>
                </a:solidFill>
                <a:ea typeface="Cabin"/>
                <a:cs typeface="Cabin"/>
                <a:sym typeface="Cabin"/>
              </a:rPr>
              <a:t>tạo</a:t>
            </a:r>
            <a:r>
              <a:rPr lang="en-US" sz="5000" dirty="0">
                <a:solidFill>
                  <a:srgbClr val="000000"/>
                </a:solidFill>
                <a:ea typeface="Cabin"/>
                <a:cs typeface="Cabin"/>
                <a:sym typeface="Cabin"/>
              </a:rPr>
              <a:t> </a:t>
            </a:r>
            <a:r>
              <a:rPr lang="en-US" sz="5000" dirty="0" err="1">
                <a:solidFill>
                  <a:srgbClr val="000000"/>
                </a:solidFill>
                <a:ea typeface="Cabin"/>
                <a:cs typeface="Cabin"/>
                <a:sym typeface="Cabin"/>
              </a:rPr>
              <a:t>ra</a:t>
            </a:r>
            <a:r>
              <a:rPr lang="en-US" sz="5000" dirty="0">
                <a:solidFill>
                  <a:srgbClr val="000000"/>
                </a:solidFill>
                <a:ea typeface="Cabin"/>
                <a:cs typeface="Cabin"/>
                <a:sym typeface="Cabin"/>
              </a:rPr>
              <a:t> </a:t>
            </a:r>
            <a:r>
              <a:rPr lang="en-US" sz="5000" dirty="0" err="1">
                <a:solidFill>
                  <a:srgbClr val="000000"/>
                </a:solidFill>
                <a:ea typeface="Cabin"/>
                <a:cs typeface="Cabin"/>
                <a:sym typeface="Cabin"/>
              </a:rPr>
              <a:t>một</a:t>
            </a:r>
            <a:r>
              <a:rPr lang="en-US" sz="5000" dirty="0">
                <a:solidFill>
                  <a:srgbClr val="000000"/>
                </a:solidFill>
                <a:ea typeface="Cabin"/>
                <a:cs typeface="Cabin"/>
                <a:sym typeface="Cabin"/>
              </a:rPr>
              <a:t> </a:t>
            </a:r>
            <a:r>
              <a:rPr lang="en-US" sz="5000" dirty="0" err="1">
                <a:solidFill>
                  <a:srgbClr val="000000"/>
                </a:solidFill>
                <a:ea typeface="Cabin"/>
                <a:cs typeface="Cabin"/>
                <a:sym typeface="Cabin"/>
              </a:rPr>
              <a:t>chữ</a:t>
            </a:r>
            <a:r>
              <a:rPr lang="en-US" sz="5000" dirty="0">
                <a:solidFill>
                  <a:srgbClr val="000000"/>
                </a:solidFill>
                <a:ea typeface="Cabin"/>
                <a:cs typeface="Cabin"/>
                <a:sym typeface="Cabin"/>
              </a:rPr>
              <a:t> </a:t>
            </a:r>
            <a:r>
              <a:rPr lang="en-US" sz="5000" dirty="0" err="1">
                <a:solidFill>
                  <a:srgbClr val="000000"/>
                </a:solidFill>
                <a:ea typeface="Cabin"/>
                <a:cs typeface="Cabin"/>
                <a:sym typeface="Cabin"/>
              </a:rPr>
              <a:t>mang</a:t>
            </a:r>
            <a:r>
              <a:rPr lang="en-US" sz="5000" dirty="0">
                <a:solidFill>
                  <a:srgbClr val="000000"/>
                </a:solidFill>
                <a:ea typeface="Cabin"/>
                <a:cs typeface="Cabin"/>
                <a:sym typeface="Cabin"/>
              </a:rPr>
              <a:t> ý </a:t>
            </a:r>
            <a:r>
              <a:rPr lang="en-US" sz="5000" dirty="0" err="1">
                <a:solidFill>
                  <a:srgbClr val="000000"/>
                </a:solidFill>
                <a:ea typeface="Cabin"/>
                <a:cs typeface="Cabin"/>
                <a:sym typeface="Cabin"/>
              </a:rPr>
              <a:t>nghĩa</a:t>
            </a:r>
            <a:r>
              <a:rPr lang="en-US" sz="5000" dirty="0">
                <a:solidFill>
                  <a:srgbClr val="000000"/>
                </a:solidFill>
                <a:ea typeface="Cabin"/>
                <a:cs typeface="Cabin"/>
                <a:sym typeface="Cabin"/>
              </a:rPr>
              <a:t> </a:t>
            </a:r>
            <a:r>
              <a:rPr lang="en-US" sz="5000" dirty="0" err="1">
                <a:solidFill>
                  <a:srgbClr val="000000"/>
                </a:solidFill>
                <a:ea typeface="Cabin"/>
                <a:cs typeface="Cabin"/>
                <a:sym typeface="Cabin"/>
              </a:rPr>
              <a:t>mới</a:t>
            </a:r>
            <a:r>
              <a:rPr lang="en-US" sz="5000" dirty="0">
                <a:solidFill>
                  <a:srgbClr val="000000"/>
                </a:solidFill>
                <a:ea typeface="Cabin"/>
                <a:cs typeface="Cabin"/>
                <a:sym typeface="Cabin"/>
              </a:rPr>
              <a:t>.</a:t>
            </a:r>
          </a:p>
        </p:txBody>
      </p:sp>
      <p:pic>
        <p:nvPicPr>
          <p:cNvPr id="7" name="Hình ảnh 6" descr="Ảnh có chứa văn bản, ảnh chụp màn hình, Phông chữ, số&#10;&#10;Nội dung do AI tạo ra có thể không chính xác.">
            <a:extLst>
              <a:ext uri="{FF2B5EF4-FFF2-40B4-BE49-F238E27FC236}">
                <a16:creationId xmlns:a16="http://schemas.microsoft.com/office/drawing/2014/main" id="{42316C45-0F3A-3460-E307-6CCD99B8E5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7074" y="1333500"/>
            <a:ext cx="11881756" cy="841465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59FC3A-BBD4-89EA-CA8C-44636CC8F3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01215697-CEC6-A1C2-DC64-BAD820035912}"/>
              </a:ext>
            </a:extLst>
          </p:cNvPr>
          <p:cNvGrpSpPr/>
          <p:nvPr/>
        </p:nvGrpSpPr>
        <p:grpSpPr>
          <a:xfrm>
            <a:off x="256513" y="117409"/>
            <a:ext cx="17799702" cy="9907522"/>
            <a:chOff x="0" y="-38100"/>
            <a:chExt cx="4687987" cy="2609388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D44E5ABB-2160-5E35-F591-33B1FF245A14}"/>
                </a:ext>
              </a:extLst>
            </p:cNvPr>
            <p:cNvSpPr/>
            <p:nvPr/>
          </p:nvSpPr>
          <p:spPr>
            <a:xfrm>
              <a:off x="0" y="0"/>
              <a:ext cx="4687987" cy="2571288"/>
            </a:xfrm>
            <a:custGeom>
              <a:avLst/>
              <a:gdLst/>
              <a:ahLst/>
              <a:cxnLst/>
              <a:rect l="l" t="t" r="r" b="b"/>
              <a:pathLst>
                <a:path w="4687987" h="2571288">
                  <a:moveTo>
                    <a:pt x="22182" y="0"/>
                  </a:moveTo>
                  <a:lnTo>
                    <a:pt x="4665805" y="0"/>
                  </a:lnTo>
                  <a:cubicBezTo>
                    <a:pt x="4671688" y="0"/>
                    <a:pt x="4677330" y="2337"/>
                    <a:pt x="4681491" y="6497"/>
                  </a:cubicBezTo>
                  <a:cubicBezTo>
                    <a:pt x="4685650" y="10657"/>
                    <a:pt x="4687987" y="16299"/>
                    <a:pt x="4687987" y="22182"/>
                  </a:cubicBezTo>
                  <a:lnTo>
                    <a:pt x="4687987" y="2549106"/>
                  </a:lnTo>
                  <a:cubicBezTo>
                    <a:pt x="4687987" y="2554989"/>
                    <a:pt x="4685650" y="2560631"/>
                    <a:pt x="4681491" y="2564791"/>
                  </a:cubicBezTo>
                  <a:cubicBezTo>
                    <a:pt x="4677330" y="2568951"/>
                    <a:pt x="4671688" y="2571288"/>
                    <a:pt x="4665805" y="2571288"/>
                  </a:cubicBezTo>
                  <a:lnTo>
                    <a:pt x="22182" y="2571288"/>
                  </a:lnTo>
                  <a:cubicBezTo>
                    <a:pt x="16299" y="2571288"/>
                    <a:pt x="10657" y="2568951"/>
                    <a:pt x="6497" y="2564791"/>
                  </a:cubicBezTo>
                  <a:cubicBezTo>
                    <a:pt x="2337" y="2560631"/>
                    <a:pt x="0" y="2554989"/>
                    <a:pt x="0" y="2549106"/>
                  </a:cubicBezTo>
                  <a:lnTo>
                    <a:pt x="0" y="22182"/>
                  </a:lnTo>
                  <a:cubicBezTo>
                    <a:pt x="0" y="16299"/>
                    <a:pt x="2337" y="10657"/>
                    <a:pt x="6497" y="6497"/>
                  </a:cubicBezTo>
                  <a:cubicBezTo>
                    <a:pt x="10657" y="2337"/>
                    <a:pt x="16299" y="0"/>
                    <a:pt x="22182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vi-VN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36B443D3-3B35-1BBB-8D2D-4AE194D52E8E}"/>
                </a:ext>
              </a:extLst>
            </p:cNvPr>
            <p:cNvSpPr txBox="1"/>
            <p:nvPr/>
          </p:nvSpPr>
          <p:spPr>
            <a:xfrm>
              <a:off x="0" y="-38100"/>
              <a:ext cx="4687987" cy="26093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TextBox 3">
            <a:extLst>
              <a:ext uri="{FF2B5EF4-FFF2-40B4-BE49-F238E27FC236}">
                <a16:creationId xmlns:a16="http://schemas.microsoft.com/office/drawing/2014/main" id="{A60B65A0-6E62-3CE7-4347-857690B242FB}"/>
              </a:ext>
            </a:extLst>
          </p:cNvPr>
          <p:cNvSpPr txBox="1"/>
          <p:nvPr/>
        </p:nvSpPr>
        <p:spPr>
          <a:xfrm>
            <a:off x="533400" y="214061"/>
            <a:ext cx="9144000" cy="13779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200"/>
              </a:lnSpc>
              <a:spcBef>
                <a:spcPct val="0"/>
              </a:spcBef>
            </a:pPr>
            <a:r>
              <a:rPr lang="en-US" sz="8000" dirty="0">
                <a:solidFill>
                  <a:srgbClr val="B63F3D"/>
                </a:solidFill>
                <a:ea typeface="Cabin"/>
                <a:cs typeface="Cabin"/>
                <a:sym typeface="Cabin"/>
              </a:rPr>
              <a:t>4.   </a:t>
            </a:r>
            <a:r>
              <a:rPr lang="en-US" sz="8000" dirty="0" err="1">
                <a:solidFill>
                  <a:srgbClr val="B63F3D"/>
                </a:solidFill>
                <a:ea typeface="Cabin"/>
                <a:cs typeface="Cabin"/>
                <a:sym typeface="Cabin"/>
              </a:rPr>
              <a:t>Chữ</a:t>
            </a:r>
            <a:r>
              <a:rPr lang="en-US" sz="8000" dirty="0">
                <a:solidFill>
                  <a:srgbClr val="B63F3D"/>
                </a:solidFill>
                <a:ea typeface="Cabin"/>
                <a:cs typeface="Cabin"/>
                <a:sym typeface="Cabin"/>
              </a:rPr>
              <a:t> </a:t>
            </a:r>
            <a:r>
              <a:rPr lang="en-US" sz="8000" dirty="0" err="1">
                <a:solidFill>
                  <a:srgbClr val="B63F3D"/>
                </a:solidFill>
                <a:ea typeface="Cabin"/>
                <a:cs typeface="Cabin"/>
                <a:sym typeface="Cabin"/>
              </a:rPr>
              <a:t>hình</a:t>
            </a:r>
            <a:r>
              <a:rPr lang="en-US" sz="8000" dirty="0">
                <a:solidFill>
                  <a:srgbClr val="B63F3D"/>
                </a:solidFill>
                <a:ea typeface="Cabin"/>
                <a:cs typeface="Cabin"/>
                <a:sym typeface="Cabin"/>
              </a:rPr>
              <a:t> </a:t>
            </a:r>
            <a:r>
              <a:rPr lang="en-US" sz="8000" dirty="0" err="1">
                <a:solidFill>
                  <a:srgbClr val="B63F3D"/>
                </a:solidFill>
                <a:ea typeface="Cabin"/>
                <a:cs typeface="Cabin"/>
                <a:sym typeface="Cabin"/>
              </a:rPr>
              <a:t>thanh</a:t>
            </a:r>
            <a:endParaRPr lang="en-US" sz="8000" dirty="0">
              <a:solidFill>
                <a:srgbClr val="B63F3D"/>
              </a:solidFill>
              <a:ea typeface="Cabin"/>
              <a:cs typeface="Cabin"/>
              <a:sym typeface="Cabin"/>
            </a:endParaRPr>
          </a:p>
        </p:txBody>
      </p:sp>
      <p:sp>
        <p:nvSpPr>
          <p:cNvPr id="6" name="TextBox 4">
            <a:extLst>
              <a:ext uri="{FF2B5EF4-FFF2-40B4-BE49-F238E27FC236}">
                <a16:creationId xmlns:a16="http://schemas.microsoft.com/office/drawing/2014/main" id="{F6B6FB1E-743A-31DF-CA34-B7BC1A27D300}"/>
              </a:ext>
            </a:extLst>
          </p:cNvPr>
          <p:cNvSpPr txBox="1"/>
          <p:nvPr/>
        </p:nvSpPr>
        <p:spPr>
          <a:xfrm>
            <a:off x="1143000" y="1310184"/>
            <a:ext cx="17983200" cy="35087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000"/>
              </a:lnSpc>
              <a:spcBef>
                <a:spcPct val="0"/>
              </a:spcBef>
            </a:pPr>
            <a:r>
              <a:rPr lang="en-US" sz="4500" dirty="0" err="1">
                <a:solidFill>
                  <a:srgbClr val="000000"/>
                </a:solidFill>
                <a:ea typeface="Cabin"/>
                <a:cs typeface="Cabin"/>
                <a:sym typeface="Cabin"/>
              </a:rPr>
              <a:t>Chữ</a:t>
            </a:r>
            <a:r>
              <a:rPr lang="en-US" sz="4500" dirty="0">
                <a:solidFill>
                  <a:srgbClr val="000000"/>
                </a:solidFill>
                <a:ea typeface="Cabin"/>
                <a:cs typeface="Cabin"/>
                <a:sym typeface="Cabin"/>
              </a:rPr>
              <a:t> </a:t>
            </a:r>
            <a:r>
              <a:rPr lang="en-US" sz="4500" dirty="0" err="1">
                <a:solidFill>
                  <a:srgbClr val="000000"/>
                </a:solidFill>
                <a:ea typeface="Cabin"/>
                <a:cs typeface="Cabin"/>
                <a:sym typeface="Cabin"/>
              </a:rPr>
              <a:t>gồm</a:t>
            </a:r>
            <a:r>
              <a:rPr lang="en-US" sz="4500" dirty="0">
                <a:solidFill>
                  <a:srgbClr val="000000"/>
                </a:solidFill>
                <a:ea typeface="Cabin"/>
                <a:cs typeface="Cabin"/>
                <a:sym typeface="Cabin"/>
              </a:rPr>
              <a:t> </a:t>
            </a:r>
            <a:r>
              <a:rPr lang="en-US" sz="4500" dirty="0" err="1">
                <a:solidFill>
                  <a:srgbClr val="000000"/>
                </a:solidFill>
                <a:ea typeface="Cabin"/>
                <a:cs typeface="Cabin"/>
                <a:sym typeface="Cabin"/>
              </a:rPr>
              <a:t>hai</a:t>
            </a:r>
            <a:r>
              <a:rPr lang="en-US" sz="4500" dirty="0">
                <a:solidFill>
                  <a:srgbClr val="000000"/>
                </a:solidFill>
                <a:ea typeface="Cabin"/>
                <a:cs typeface="Cabin"/>
                <a:sym typeface="Cabin"/>
              </a:rPr>
              <a:t> </a:t>
            </a:r>
            <a:r>
              <a:rPr lang="en-US" sz="4500" dirty="0" err="1">
                <a:solidFill>
                  <a:srgbClr val="000000"/>
                </a:solidFill>
                <a:ea typeface="Cabin"/>
                <a:cs typeface="Cabin"/>
                <a:sym typeface="Cabin"/>
              </a:rPr>
              <a:t>phần</a:t>
            </a:r>
            <a:r>
              <a:rPr lang="en-US" sz="4500" dirty="0">
                <a:solidFill>
                  <a:srgbClr val="000000"/>
                </a:solidFill>
                <a:ea typeface="Cabin"/>
                <a:cs typeface="Cabin"/>
                <a:sym typeface="Cabin"/>
              </a:rPr>
              <a:t>:</a:t>
            </a:r>
          </a:p>
          <a:p>
            <a:pPr marL="1079501" lvl="1" indent="-539750" algn="l">
              <a:lnSpc>
                <a:spcPts val="7000"/>
              </a:lnSpc>
              <a:buFont typeface="Arial"/>
              <a:buChar char="•"/>
            </a:pPr>
            <a:r>
              <a:rPr lang="en-US" sz="4500" dirty="0" err="1">
                <a:solidFill>
                  <a:srgbClr val="000000"/>
                </a:solidFill>
                <a:ea typeface="Cabin"/>
                <a:cs typeface="Cabin"/>
                <a:sym typeface="Cabin"/>
              </a:rPr>
              <a:t>Bộ</a:t>
            </a:r>
            <a:r>
              <a:rPr lang="en-US" sz="4500" dirty="0">
                <a:solidFill>
                  <a:srgbClr val="000000"/>
                </a:solidFill>
                <a:ea typeface="Cabin"/>
                <a:cs typeface="Cabin"/>
                <a:sym typeface="Cabin"/>
              </a:rPr>
              <a:t> </a:t>
            </a:r>
            <a:r>
              <a:rPr lang="en-US" sz="4500" dirty="0" err="1">
                <a:solidFill>
                  <a:srgbClr val="000000"/>
                </a:solidFill>
                <a:ea typeface="Cabin"/>
                <a:cs typeface="Cabin"/>
                <a:sym typeface="Cabin"/>
              </a:rPr>
              <a:t>thủ</a:t>
            </a:r>
            <a:r>
              <a:rPr lang="en-US" sz="4500" dirty="0">
                <a:solidFill>
                  <a:srgbClr val="000000"/>
                </a:solidFill>
                <a:ea typeface="Cabin"/>
                <a:cs typeface="Cabin"/>
                <a:sym typeface="Cabin"/>
              </a:rPr>
              <a:t> (</a:t>
            </a:r>
            <a:r>
              <a:rPr lang="en-US" sz="4500" dirty="0" err="1">
                <a:solidFill>
                  <a:srgbClr val="000000"/>
                </a:solidFill>
                <a:ea typeface="Cabin"/>
                <a:cs typeface="Cabin"/>
                <a:sym typeface="Cabin"/>
              </a:rPr>
              <a:t>chỉ</a:t>
            </a:r>
            <a:r>
              <a:rPr lang="en-US" sz="4500" dirty="0">
                <a:solidFill>
                  <a:srgbClr val="000000"/>
                </a:solidFill>
                <a:ea typeface="Cabin"/>
                <a:cs typeface="Cabin"/>
                <a:sym typeface="Cabin"/>
              </a:rPr>
              <a:t> </a:t>
            </a:r>
            <a:r>
              <a:rPr lang="en-US" sz="4500" dirty="0" err="1">
                <a:solidFill>
                  <a:srgbClr val="000000"/>
                </a:solidFill>
                <a:ea typeface="Cabin"/>
                <a:cs typeface="Cabin"/>
                <a:sym typeface="Cabin"/>
              </a:rPr>
              <a:t>nghĩa</a:t>
            </a:r>
            <a:r>
              <a:rPr lang="en-US" sz="4500" dirty="0">
                <a:solidFill>
                  <a:srgbClr val="000000"/>
                </a:solidFill>
                <a:ea typeface="Cabin"/>
                <a:cs typeface="Cabin"/>
                <a:sym typeface="Cabin"/>
              </a:rPr>
              <a:t>) – </a:t>
            </a:r>
            <a:r>
              <a:rPr lang="en-US" sz="4500" dirty="0" err="1">
                <a:solidFill>
                  <a:srgbClr val="000000"/>
                </a:solidFill>
                <a:ea typeface="Cabin"/>
                <a:cs typeface="Cabin"/>
                <a:sym typeface="Cabin"/>
              </a:rPr>
              <a:t>xác</a:t>
            </a:r>
            <a:r>
              <a:rPr lang="en-US" sz="4500" dirty="0">
                <a:solidFill>
                  <a:srgbClr val="000000"/>
                </a:solidFill>
                <a:ea typeface="Cabin"/>
                <a:cs typeface="Cabin"/>
                <a:sym typeface="Cabin"/>
              </a:rPr>
              <a:t> </a:t>
            </a:r>
            <a:r>
              <a:rPr lang="en-US" sz="4500" dirty="0" err="1">
                <a:solidFill>
                  <a:srgbClr val="000000"/>
                </a:solidFill>
                <a:ea typeface="Cabin"/>
                <a:cs typeface="Cabin"/>
                <a:sym typeface="Cabin"/>
              </a:rPr>
              <a:t>định</a:t>
            </a:r>
            <a:r>
              <a:rPr lang="en-US" sz="4500" dirty="0">
                <a:solidFill>
                  <a:srgbClr val="000000"/>
                </a:solidFill>
                <a:ea typeface="Cabin"/>
                <a:cs typeface="Cabin"/>
                <a:sym typeface="Cabin"/>
              </a:rPr>
              <a:t> </a:t>
            </a:r>
            <a:r>
              <a:rPr lang="en-US" sz="4500" dirty="0" err="1">
                <a:solidFill>
                  <a:srgbClr val="000000"/>
                </a:solidFill>
                <a:ea typeface="Cabin"/>
                <a:cs typeface="Cabin"/>
                <a:sym typeface="Cabin"/>
              </a:rPr>
              <a:t>phạm</a:t>
            </a:r>
            <a:r>
              <a:rPr lang="en-US" sz="4500" dirty="0">
                <a:solidFill>
                  <a:srgbClr val="000000"/>
                </a:solidFill>
                <a:ea typeface="Cabin"/>
                <a:cs typeface="Cabin"/>
                <a:sym typeface="Cabin"/>
              </a:rPr>
              <a:t> vi ý </a:t>
            </a:r>
            <a:r>
              <a:rPr lang="en-US" sz="4500" dirty="0" err="1">
                <a:solidFill>
                  <a:srgbClr val="000000"/>
                </a:solidFill>
                <a:ea typeface="Cabin"/>
                <a:cs typeface="Cabin"/>
                <a:sym typeface="Cabin"/>
              </a:rPr>
              <a:t>nghĩa</a:t>
            </a:r>
            <a:r>
              <a:rPr lang="en-US" sz="4500" dirty="0">
                <a:solidFill>
                  <a:srgbClr val="000000"/>
                </a:solidFill>
                <a:ea typeface="Cabin"/>
                <a:cs typeface="Cabin"/>
                <a:sym typeface="Cabin"/>
              </a:rPr>
              <a:t>.</a:t>
            </a:r>
          </a:p>
          <a:p>
            <a:pPr marL="1079501" lvl="1" indent="-539750" algn="l">
              <a:lnSpc>
                <a:spcPts val="7000"/>
              </a:lnSpc>
              <a:spcBef>
                <a:spcPct val="0"/>
              </a:spcBef>
              <a:buFont typeface="Arial"/>
              <a:buChar char="•"/>
            </a:pPr>
            <a:r>
              <a:rPr lang="en-US" sz="4500" dirty="0">
                <a:solidFill>
                  <a:srgbClr val="000000"/>
                </a:solidFill>
                <a:ea typeface="Cabin"/>
                <a:cs typeface="Cabin"/>
                <a:sym typeface="Cabin"/>
              </a:rPr>
              <a:t>Thành </a:t>
            </a:r>
            <a:r>
              <a:rPr lang="en-US" sz="4500" dirty="0" err="1">
                <a:solidFill>
                  <a:srgbClr val="000000"/>
                </a:solidFill>
                <a:ea typeface="Cabin"/>
                <a:cs typeface="Cabin"/>
                <a:sym typeface="Cabin"/>
              </a:rPr>
              <a:t>phần</a:t>
            </a:r>
            <a:r>
              <a:rPr lang="en-US" sz="4500" dirty="0">
                <a:solidFill>
                  <a:srgbClr val="000000"/>
                </a:solidFill>
                <a:ea typeface="Cabin"/>
                <a:cs typeface="Cabin"/>
                <a:sym typeface="Cabin"/>
              </a:rPr>
              <a:t> </a:t>
            </a:r>
            <a:r>
              <a:rPr lang="en-US" sz="4500" dirty="0" err="1">
                <a:solidFill>
                  <a:srgbClr val="000000"/>
                </a:solidFill>
                <a:ea typeface="Cabin"/>
                <a:cs typeface="Cabin"/>
                <a:sym typeface="Cabin"/>
              </a:rPr>
              <a:t>âm</a:t>
            </a:r>
            <a:r>
              <a:rPr lang="en-US" sz="4500" dirty="0">
                <a:solidFill>
                  <a:srgbClr val="000000"/>
                </a:solidFill>
                <a:ea typeface="Cabin"/>
                <a:cs typeface="Cabin"/>
                <a:sym typeface="Cabin"/>
              </a:rPr>
              <a:t> </a:t>
            </a:r>
            <a:r>
              <a:rPr lang="en-US" sz="4500" dirty="0" err="1">
                <a:solidFill>
                  <a:srgbClr val="000000"/>
                </a:solidFill>
                <a:ea typeface="Cabin"/>
                <a:cs typeface="Cabin"/>
                <a:sym typeface="Cabin"/>
              </a:rPr>
              <a:t>thanh</a:t>
            </a:r>
            <a:r>
              <a:rPr lang="en-US" sz="4500" dirty="0">
                <a:solidFill>
                  <a:srgbClr val="000000"/>
                </a:solidFill>
                <a:ea typeface="Cabin"/>
                <a:cs typeface="Cabin"/>
                <a:sym typeface="Cabin"/>
              </a:rPr>
              <a:t> – </a:t>
            </a:r>
            <a:r>
              <a:rPr lang="en-US" sz="4500" dirty="0" err="1">
                <a:solidFill>
                  <a:srgbClr val="000000"/>
                </a:solidFill>
                <a:ea typeface="Cabin"/>
                <a:cs typeface="Cabin"/>
                <a:sym typeface="Cabin"/>
              </a:rPr>
              <a:t>gợi</a:t>
            </a:r>
            <a:r>
              <a:rPr lang="en-US" sz="4500" dirty="0">
                <a:solidFill>
                  <a:srgbClr val="000000"/>
                </a:solidFill>
                <a:ea typeface="Cabin"/>
                <a:cs typeface="Cabin"/>
                <a:sym typeface="Cabin"/>
              </a:rPr>
              <a:t> ý </a:t>
            </a:r>
            <a:r>
              <a:rPr lang="en-US" sz="4500" dirty="0" err="1">
                <a:solidFill>
                  <a:srgbClr val="000000"/>
                </a:solidFill>
                <a:ea typeface="Cabin"/>
                <a:cs typeface="Cabin"/>
                <a:sym typeface="Cabin"/>
              </a:rPr>
              <a:t>cách</a:t>
            </a:r>
            <a:r>
              <a:rPr lang="en-US" sz="4500" dirty="0">
                <a:solidFill>
                  <a:srgbClr val="000000"/>
                </a:solidFill>
                <a:ea typeface="Cabin"/>
                <a:cs typeface="Cabin"/>
                <a:sym typeface="Cabin"/>
              </a:rPr>
              <a:t> </a:t>
            </a:r>
            <a:r>
              <a:rPr lang="en-US" sz="4500" dirty="0" err="1">
                <a:solidFill>
                  <a:srgbClr val="000000"/>
                </a:solidFill>
                <a:ea typeface="Cabin"/>
                <a:cs typeface="Cabin"/>
                <a:sym typeface="Cabin"/>
              </a:rPr>
              <a:t>đọc</a:t>
            </a:r>
            <a:r>
              <a:rPr lang="en-US" sz="4500" dirty="0">
                <a:solidFill>
                  <a:srgbClr val="000000"/>
                </a:solidFill>
                <a:ea typeface="Cabin"/>
                <a:cs typeface="Cabin"/>
                <a:sym typeface="Cabin"/>
              </a:rPr>
              <a:t>.</a:t>
            </a:r>
          </a:p>
          <a:p>
            <a:pPr algn="l">
              <a:lnSpc>
                <a:spcPts val="7000"/>
              </a:lnSpc>
              <a:spcBef>
                <a:spcPct val="0"/>
              </a:spcBef>
            </a:pPr>
            <a:endParaRPr lang="en-US" sz="4500" dirty="0">
              <a:solidFill>
                <a:srgbClr val="000000"/>
              </a:solidFill>
              <a:ea typeface="Cabin"/>
              <a:cs typeface="Cabin"/>
              <a:sym typeface="Cabin"/>
            </a:endParaRPr>
          </a:p>
        </p:txBody>
      </p:sp>
      <p:pic>
        <p:nvPicPr>
          <p:cNvPr id="7" name="Hình ảnh 6" descr="Ảnh có chứa văn bản, Phông chữ, ảnh chụp màn hình, số&#10;&#10;Nội dung do AI tạo ra có thể không chính xác.">
            <a:extLst>
              <a:ext uri="{FF2B5EF4-FFF2-40B4-BE49-F238E27FC236}">
                <a16:creationId xmlns:a16="http://schemas.microsoft.com/office/drawing/2014/main" id="{375F69C5-3E66-7E0A-9979-EF0B6D260D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300" y="4345865"/>
            <a:ext cx="16535400" cy="486169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08048973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D4577F-7379-FE3E-3A9E-C83BDAA4A0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4D71B209-5068-A03F-6614-6972D7E588D0}"/>
              </a:ext>
            </a:extLst>
          </p:cNvPr>
          <p:cNvGrpSpPr/>
          <p:nvPr/>
        </p:nvGrpSpPr>
        <p:grpSpPr>
          <a:xfrm>
            <a:off x="256513" y="262070"/>
            <a:ext cx="17799702" cy="9762861"/>
            <a:chOff x="0" y="0"/>
            <a:chExt cx="4687987" cy="2571288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B144FAD1-8E1A-0F42-8ECF-97440C744D5D}"/>
                </a:ext>
              </a:extLst>
            </p:cNvPr>
            <p:cNvSpPr/>
            <p:nvPr/>
          </p:nvSpPr>
          <p:spPr>
            <a:xfrm>
              <a:off x="0" y="0"/>
              <a:ext cx="4687987" cy="2571288"/>
            </a:xfrm>
            <a:custGeom>
              <a:avLst/>
              <a:gdLst/>
              <a:ahLst/>
              <a:cxnLst/>
              <a:rect l="l" t="t" r="r" b="b"/>
              <a:pathLst>
                <a:path w="4687987" h="2571288">
                  <a:moveTo>
                    <a:pt x="22182" y="0"/>
                  </a:moveTo>
                  <a:lnTo>
                    <a:pt x="4665805" y="0"/>
                  </a:lnTo>
                  <a:cubicBezTo>
                    <a:pt x="4671688" y="0"/>
                    <a:pt x="4677330" y="2337"/>
                    <a:pt x="4681491" y="6497"/>
                  </a:cubicBezTo>
                  <a:cubicBezTo>
                    <a:pt x="4685650" y="10657"/>
                    <a:pt x="4687987" y="16299"/>
                    <a:pt x="4687987" y="22182"/>
                  </a:cubicBezTo>
                  <a:lnTo>
                    <a:pt x="4687987" y="2549106"/>
                  </a:lnTo>
                  <a:cubicBezTo>
                    <a:pt x="4687987" y="2554989"/>
                    <a:pt x="4685650" y="2560631"/>
                    <a:pt x="4681491" y="2564791"/>
                  </a:cubicBezTo>
                  <a:cubicBezTo>
                    <a:pt x="4677330" y="2568951"/>
                    <a:pt x="4671688" y="2571288"/>
                    <a:pt x="4665805" y="2571288"/>
                  </a:cubicBezTo>
                  <a:lnTo>
                    <a:pt x="22182" y="2571288"/>
                  </a:lnTo>
                  <a:cubicBezTo>
                    <a:pt x="16299" y="2571288"/>
                    <a:pt x="10657" y="2568951"/>
                    <a:pt x="6497" y="2564791"/>
                  </a:cubicBezTo>
                  <a:cubicBezTo>
                    <a:pt x="2337" y="2560631"/>
                    <a:pt x="0" y="2554989"/>
                    <a:pt x="0" y="2549106"/>
                  </a:cubicBezTo>
                  <a:lnTo>
                    <a:pt x="0" y="22182"/>
                  </a:lnTo>
                  <a:cubicBezTo>
                    <a:pt x="0" y="16299"/>
                    <a:pt x="2337" y="10657"/>
                    <a:pt x="6497" y="6497"/>
                  </a:cubicBezTo>
                  <a:cubicBezTo>
                    <a:pt x="10657" y="2337"/>
                    <a:pt x="16299" y="0"/>
                    <a:pt x="22182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vi-VN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396FC3A2-9CA7-4714-79C8-6BEE775017C0}"/>
                </a:ext>
              </a:extLst>
            </p:cNvPr>
            <p:cNvSpPr txBox="1"/>
            <p:nvPr/>
          </p:nvSpPr>
          <p:spPr>
            <a:xfrm>
              <a:off x="0" y="-38100"/>
              <a:ext cx="4687987" cy="26093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11596376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5FC419-217C-A7C8-944E-B70B9FD402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8A489132-3A84-A1C8-CE55-7CC514404290}"/>
              </a:ext>
            </a:extLst>
          </p:cNvPr>
          <p:cNvGrpSpPr/>
          <p:nvPr/>
        </p:nvGrpSpPr>
        <p:grpSpPr>
          <a:xfrm>
            <a:off x="256513" y="262070"/>
            <a:ext cx="17799702" cy="9762861"/>
            <a:chOff x="0" y="0"/>
            <a:chExt cx="4687987" cy="2571288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E1E037A5-BF39-9117-15DD-1BE4B048858E}"/>
                </a:ext>
              </a:extLst>
            </p:cNvPr>
            <p:cNvSpPr/>
            <p:nvPr/>
          </p:nvSpPr>
          <p:spPr>
            <a:xfrm>
              <a:off x="0" y="0"/>
              <a:ext cx="4687987" cy="2571288"/>
            </a:xfrm>
            <a:custGeom>
              <a:avLst/>
              <a:gdLst/>
              <a:ahLst/>
              <a:cxnLst/>
              <a:rect l="l" t="t" r="r" b="b"/>
              <a:pathLst>
                <a:path w="4687987" h="2571288">
                  <a:moveTo>
                    <a:pt x="22182" y="0"/>
                  </a:moveTo>
                  <a:lnTo>
                    <a:pt x="4665805" y="0"/>
                  </a:lnTo>
                  <a:cubicBezTo>
                    <a:pt x="4671688" y="0"/>
                    <a:pt x="4677330" y="2337"/>
                    <a:pt x="4681491" y="6497"/>
                  </a:cubicBezTo>
                  <a:cubicBezTo>
                    <a:pt x="4685650" y="10657"/>
                    <a:pt x="4687987" y="16299"/>
                    <a:pt x="4687987" y="22182"/>
                  </a:cubicBezTo>
                  <a:lnTo>
                    <a:pt x="4687987" y="2549106"/>
                  </a:lnTo>
                  <a:cubicBezTo>
                    <a:pt x="4687987" y="2554989"/>
                    <a:pt x="4685650" y="2560631"/>
                    <a:pt x="4681491" y="2564791"/>
                  </a:cubicBezTo>
                  <a:cubicBezTo>
                    <a:pt x="4677330" y="2568951"/>
                    <a:pt x="4671688" y="2571288"/>
                    <a:pt x="4665805" y="2571288"/>
                  </a:cubicBezTo>
                  <a:lnTo>
                    <a:pt x="22182" y="2571288"/>
                  </a:lnTo>
                  <a:cubicBezTo>
                    <a:pt x="16299" y="2571288"/>
                    <a:pt x="10657" y="2568951"/>
                    <a:pt x="6497" y="2564791"/>
                  </a:cubicBezTo>
                  <a:cubicBezTo>
                    <a:pt x="2337" y="2560631"/>
                    <a:pt x="0" y="2554989"/>
                    <a:pt x="0" y="2549106"/>
                  </a:cubicBezTo>
                  <a:lnTo>
                    <a:pt x="0" y="22182"/>
                  </a:lnTo>
                  <a:cubicBezTo>
                    <a:pt x="0" y="16299"/>
                    <a:pt x="2337" y="10657"/>
                    <a:pt x="6497" y="6497"/>
                  </a:cubicBezTo>
                  <a:cubicBezTo>
                    <a:pt x="10657" y="2337"/>
                    <a:pt x="16299" y="0"/>
                    <a:pt x="22182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vi-VN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FA26DC4C-D552-C66B-352E-410662AF2A37}"/>
                </a:ext>
              </a:extLst>
            </p:cNvPr>
            <p:cNvSpPr txBox="1"/>
            <p:nvPr/>
          </p:nvSpPr>
          <p:spPr>
            <a:xfrm>
              <a:off x="0" y="-38100"/>
              <a:ext cx="4687987" cy="26093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62622276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8F3AFA-BC74-0B9D-71B0-3B705A4A3A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B7935FED-700C-E0D1-48F2-BE92BC20F914}"/>
              </a:ext>
            </a:extLst>
          </p:cNvPr>
          <p:cNvGrpSpPr/>
          <p:nvPr/>
        </p:nvGrpSpPr>
        <p:grpSpPr>
          <a:xfrm>
            <a:off x="256513" y="262070"/>
            <a:ext cx="17799702" cy="9762861"/>
            <a:chOff x="0" y="0"/>
            <a:chExt cx="4687987" cy="2571288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4ABFD607-6AFC-DA9B-A17D-9C020CDC90FD}"/>
                </a:ext>
              </a:extLst>
            </p:cNvPr>
            <p:cNvSpPr/>
            <p:nvPr/>
          </p:nvSpPr>
          <p:spPr>
            <a:xfrm>
              <a:off x="0" y="0"/>
              <a:ext cx="4687987" cy="2571288"/>
            </a:xfrm>
            <a:custGeom>
              <a:avLst/>
              <a:gdLst/>
              <a:ahLst/>
              <a:cxnLst/>
              <a:rect l="l" t="t" r="r" b="b"/>
              <a:pathLst>
                <a:path w="4687987" h="2571288">
                  <a:moveTo>
                    <a:pt x="22182" y="0"/>
                  </a:moveTo>
                  <a:lnTo>
                    <a:pt x="4665805" y="0"/>
                  </a:lnTo>
                  <a:cubicBezTo>
                    <a:pt x="4671688" y="0"/>
                    <a:pt x="4677330" y="2337"/>
                    <a:pt x="4681491" y="6497"/>
                  </a:cubicBezTo>
                  <a:cubicBezTo>
                    <a:pt x="4685650" y="10657"/>
                    <a:pt x="4687987" y="16299"/>
                    <a:pt x="4687987" y="22182"/>
                  </a:cubicBezTo>
                  <a:lnTo>
                    <a:pt x="4687987" y="2549106"/>
                  </a:lnTo>
                  <a:cubicBezTo>
                    <a:pt x="4687987" y="2554989"/>
                    <a:pt x="4685650" y="2560631"/>
                    <a:pt x="4681491" y="2564791"/>
                  </a:cubicBezTo>
                  <a:cubicBezTo>
                    <a:pt x="4677330" y="2568951"/>
                    <a:pt x="4671688" y="2571288"/>
                    <a:pt x="4665805" y="2571288"/>
                  </a:cubicBezTo>
                  <a:lnTo>
                    <a:pt x="22182" y="2571288"/>
                  </a:lnTo>
                  <a:cubicBezTo>
                    <a:pt x="16299" y="2571288"/>
                    <a:pt x="10657" y="2568951"/>
                    <a:pt x="6497" y="2564791"/>
                  </a:cubicBezTo>
                  <a:cubicBezTo>
                    <a:pt x="2337" y="2560631"/>
                    <a:pt x="0" y="2554989"/>
                    <a:pt x="0" y="2549106"/>
                  </a:cubicBezTo>
                  <a:lnTo>
                    <a:pt x="0" y="22182"/>
                  </a:lnTo>
                  <a:cubicBezTo>
                    <a:pt x="0" y="16299"/>
                    <a:pt x="2337" y="10657"/>
                    <a:pt x="6497" y="6497"/>
                  </a:cubicBezTo>
                  <a:cubicBezTo>
                    <a:pt x="10657" y="2337"/>
                    <a:pt x="16299" y="0"/>
                    <a:pt x="22182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vi-VN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8A84F177-95E0-670E-D9E5-7BB166F0B7EB}"/>
                </a:ext>
              </a:extLst>
            </p:cNvPr>
            <p:cNvSpPr txBox="1"/>
            <p:nvPr/>
          </p:nvSpPr>
          <p:spPr>
            <a:xfrm>
              <a:off x="0" y="-38100"/>
              <a:ext cx="4687987" cy="26093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28487621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57233A-70B8-C174-1C73-E9CAFBF8BE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6C7E5FBE-7FF6-4F08-B872-0FBAABBE2A97}"/>
              </a:ext>
            </a:extLst>
          </p:cNvPr>
          <p:cNvGrpSpPr/>
          <p:nvPr/>
        </p:nvGrpSpPr>
        <p:grpSpPr>
          <a:xfrm>
            <a:off x="256513" y="262070"/>
            <a:ext cx="17799702" cy="9762861"/>
            <a:chOff x="0" y="0"/>
            <a:chExt cx="4687987" cy="2571288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1A469634-2A38-4DC9-5A6B-21C9DC772EC4}"/>
                </a:ext>
              </a:extLst>
            </p:cNvPr>
            <p:cNvSpPr/>
            <p:nvPr/>
          </p:nvSpPr>
          <p:spPr>
            <a:xfrm>
              <a:off x="0" y="0"/>
              <a:ext cx="4687987" cy="2571288"/>
            </a:xfrm>
            <a:custGeom>
              <a:avLst/>
              <a:gdLst/>
              <a:ahLst/>
              <a:cxnLst/>
              <a:rect l="l" t="t" r="r" b="b"/>
              <a:pathLst>
                <a:path w="4687987" h="2571288">
                  <a:moveTo>
                    <a:pt x="22182" y="0"/>
                  </a:moveTo>
                  <a:lnTo>
                    <a:pt x="4665805" y="0"/>
                  </a:lnTo>
                  <a:cubicBezTo>
                    <a:pt x="4671688" y="0"/>
                    <a:pt x="4677330" y="2337"/>
                    <a:pt x="4681491" y="6497"/>
                  </a:cubicBezTo>
                  <a:cubicBezTo>
                    <a:pt x="4685650" y="10657"/>
                    <a:pt x="4687987" y="16299"/>
                    <a:pt x="4687987" y="22182"/>
                  </a:cubicBezTo>
                  <a:lnTo>
                    <a:pt x="4687987" y="2549106"/>
                  </a:lnTo>
                  <a:cubicBezTo>
                    <a:pt x="4687987" y="2554989"/>
                    <a:pt x="4685650" y="2560631"/>
                    <a:pt x="4681491" y="2564791"/>
                  </a:cubicBezTo>
                  <a:cubicBezTo>
                    <a:pt x="4677330" y="2568951"/>
                    <a:pt x="4671688" y="2571288"/>
                    <a:pt x="4665805" y="2571288"/>
                  </a:cubicBezTo>
                  <a:lnTo>
                    <a:pt x="22182" y="2571288"/>
                  </a:lnTo>
                  <a:cubicBezTo>
                    <a:pt x="16299" y="2571288"/>
                    <a:pt x="10657" y="2568951"/>
                    <a:pt x="6497" y="2564791"/>
                  </a:cubicBezTo>
                  <a:cubicBezTo>
                    <a:pt x="2337" y="2560631"/>
                    <a:pt x="0" y="2554989"/>
                    <a:pt x="0" y="2549106"/>
                  </a:cubicBezTo>
                  <a:lnTo>
                    <a:pt x="0" y="22182"/>
                  </a:lnTo>
                  <a:cubicBezTo>
                    <a:pt x="0" y="16299"/>
                    <a:pt x="2337" y="10657"/>
                    <a:pt x="6497" y="6497"/>
                  </a:cubicBezTo>
                  <a:cubicBezTo>
                    <a:pt x="10657" y="2337"/>
                    <a:pt x="16299" y="0"/>
                    <a:pt x="22182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vi-VN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FFD9B4CA-F7C1-9A67-8FE8-D37A4CF67F4F}"/>
                </a:ext>
              </a:extLst>
            </p:cNvPr>
            <p:cNvSpPr txBox="1"/>
            <p:nvPr/>
          </p:nvSpPr>
          <p:spPr>
            <a:xfrm>
              <a:off x="0" y="-38100"/>
              <a:ext cx="4687987" cy="26093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54091420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ADE010-906E-61FF-C3A1-D7D2BDFFBF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6A3CA45A-2EF8-0655-C4B2-4577F1AA4442}"/>
              </a:ext>
            </a:extLst>
          </p:cNvPr>
          <p:cNvGrpSpPr/>
          <p:nvPr/>
        </p:nvGrpSpPr>
        <p:grpSpPr>
          <a:xfrm>
            <a:off x="256513" y="262070"/>
            <a:ext cx="17799702" cy="9762861"/>
            <a:chOff x="0" y="0"/>
            <a:chExt cx="4687987" cy="2571288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A2D65449-71A2-6088-1728-B5AE148FA8E1}"/>
                </a:ext>
              </a:extLst>
            </p:cNvPr>
            <p:cNvSpPr/>
            <p:nvPr/>
          </p:nvSpPr>
          <p:spPr>
            <a:xfrm>
              <a:off x="0" y="0"/>
              <a:ext cx="4687987" cy="2571288"/>
            </a:xfrm>
            <a:custGeom>
              <a:avLst/>
              <a:gdLst/>
              <a:ahLst/>
              <a:cxnLst/>
              <a:rect l="l" t="t" r="r" b="b"/>
              <a:pathLst>
                <a:path w="4687987" h="2571288">
                  <a:moveTo>
                    <a:pt x="22182" y="0"/>
                  </a:moveTo>
                  <a:lnTo>
                    <a:pt x="4665805" y="0"/>
                  </a:lnTo>
                  <a:cubicBezTo>
                    <a:pt x="4671688" y="0"/>
                    <a:pt x="4677330" y="2337"/>
                    <a:pt x="4681491" y="6497"/>
                  </a:cubicBezTo>
                  <a:cubicBezTo>
                    <a:pt x="4685650" y="10657"/>
                    <a:pt x="4687987" y="16299"/>
                    <a:pt x="4687987" y="22182"/>
                  </a:cubicBezTo>
                  <a:lnTo>
                    <a:pt x="4687987" y="2549106"/>
                  </a:lnTo>
                  <a:cubicBezTo>
                    <a:pt x="4687987" y="2554989"/>
                    <a:pt x="4685650" y="2560631"/>
                    <a:pt x="4681491" y="2564791"/>
                  </a:cubicBezTo>
                  <a:cubicBezTo>
                    <a:pt x="4677330" y="2568951"/>
                    <a:pt x="4671688" y="2571288"/>
                    <a:pt x="4665805" y="2571288"/>
                  </a:cubicBezTo>
                  <a:lnTo>
                    <a:pt x="22182" y="2571288"/>
                  </a:lnTo>
                  <a:cubicBezTo>
                    <a:pt x="16299" y="2571288"/>
                    <a:pt x="10657" y="2568951"/>
                    <a:pt x="6497" y="2564791"/>
                  </a:cubicBezTo>
                  <a:cubicBezTo>
                    <a:pt x="2337" y="2560631"/>
                    <a:pt x="0" y="2554989"/>
                    <a:pt x="0" y="2549106"/>
                  </a:cubicBezTo>
                  <a:lnTo>
                    <a:pt x="0" y="22182"/>
                  </a:lnTo>
                  <a:cubicBezTo>
                    <a:pt x="0" y="16299"/>
                    <a:pt x="2337" y="10657"/>
                    <a:pt x="6497" y="6497"/>
                  </a:cubicBezTo>
                  <a:cubicBezTo>
                    <a:pt x="10657" y="2337"/>
                    <a:pt x="16299" y="0"/>
                    <a:pt x="22182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vi-VN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FFEF28E2-22F7-77AC-3F07-DD74A1C3429A}"/>
                </a:ext>
              </a:extLst>
            </p:cNvPr>
            <p:cNvSpPr txBox="1"/>
            <p:nvPr/>
          </p:nvSpPr>
          <p:spPr>
            <a:xfrm>
              <a:off x="0" y="-38100"/>
              <a:ext cx="4687987" cy="26093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7737561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227</TotalTime>
  <Words>1105</Words>
  <Application>Microsoft Office PowerPoint</Application>
  <PresentationFormat>Tùy chỉnh</PresentationFormat>
  <Paragraphs>296</Paragraphs>
  <Slides>42</Slides>
  <Notes>0</Notes>
  <HiddenSlides>0</HiddenSlides>
  <MMClips>5</MMClips>
  <ScaleCrop>false</ScaleCrop>
  <HeadingPairs>
    <vt:vector size="6" baseType="variant">
      <vt:variant>
        <vt:lpstr>Phông được Dùng</vt:lpstr>
      </vt:variant>
      <vt:variant>
        <vt:i4>9</vt:i4>
      </vt:variant>
      <vt:variant>
        <vt:lpstr>Chủ đề</vt:lpstr>
      </vt:variant>
      <vt:variant>
        <vt:i4>1</vt:i4>
      </vt:variant>
      <vt:variant>
        <vt:lpstr>Tiêu đề Bản chiếu</vt:lpstr>
      </vt:variant>
      <vt:variant>
        <vt:i4>42</vt:i4>
      </vt:variant>
    </vt:vector>
  </HeadingPairs>
  <TitlesOfParts>
    <vt:vector size="52" baseType="lpstr">
      <vt:lpstr>Calibri</vt:lpstr>
      <vt:lpstr>Noto Sans Bold</vt:lpstr>
      <vt:lpstr>Arial</vt:lpstr>
      <vt:lpstr>Cabin</vt:lpstr>
      <vt:lpstr>DejaVu Serif Bold</vt:lpstr>
      <vt:lpstr>Paytone One</vt:lpstr>
      <vt:lpstr>Canva Sans</vt:lpstr>
      <vt:lpstr>Noto Sans</vt:lpstr>
      <vt:lpstr>DejaVu Serif</vt:lpstr>
      <vt:lpstr>Office Theme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Nhập môn tiếng Trung 2</dc:title>
  <cp:lastModifiedBy>Le Thi Hong  Thai</cp:lastModifiedBy>
  <cp:revision>7</cp:revision>
  <dcterms:created xsi:type="dcterms:W3CDTF">2006-08-16T00:00:00Z</dcterms:created>
  <dcterms:modified xsi:type="dcterms:W3CDTF">2025-08-24T18:45:43Z</dcterms:modified>
  <dc:identifier>DAGwIuCNPzQ</dc:identifier>
</cp:coreProperties>
</file>